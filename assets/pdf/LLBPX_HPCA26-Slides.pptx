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1436" r:id="rId4"/>
    <p:sldId id="1437" r:id="rId5"/>
    <p:sldId id="258" r:id="rId6"/>
    <p:sldId id="1442" r:id="rId7"/>
    <p:sldId id="1443" r:id="rId8"/>
    <p:sldId id="1447" r:id="rId9"/>
    <p:sldId id="1445" r:id="rId10"/>
    <p:sldId id="1448" r:id="rId11"/>
    <p:sldId id="1449" r:id="rId12"/>
    <p:sldId id="1438" r:id="rId13"/>
    <p:sldId id="1450" r:id="rId14"/>
    <p:sldId id="1451" r:id="rId15"/>
    <p:sldId id="1452" r:id="rId16"/>
    <p:sldId id="1453" r:id="rId17"/>
    <p:sldId id="1454" r:id="rId18"/>
    <p:sldId id="1455" r:id="rId19"/>
    <p:sldId id="1456" r:id="rId20"/>
  </p:sldIdLst>
  <p:sldSz cx="9144000" cy="5143500" type="screen16x9"/>
  <p:notesSz cx="6858000" cy="9144000"/>
  <p:embeddedFontLst>
    <p:embeddedFont>
      <p:font typeface="Candara" panose="020E0502030303020204" pitchFamily="34" charset="0"/>
      <p:regular r:id="rId22"/>
      <p:bold r:id="rId23"/>
      <p:italic r:id="rId24"/>
      <p:boldItalic r:id="rId25"/>
    </p:embeddedFon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Gill Sans MT" panose="020B0502020104020203" pitchFamily="34" charset="0"/>
      <p:regular r:id="rId30"/>
      <p:bold r:id="rId31"/>
      <p:italic r:id="rId32"/>
      <p:boldItalic r:id="rId33"/>
    </p:embeddedFont>
    <p:embeddedFont>
      <p:font typeface="Times" panose="02020603050405020304" pitchFamily="18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pos="226" userDrawn="1">
          <p15:clr>
            <a:srgbClr val="A4A3A4"/>
          </p15:clr>
        </p15:guide>
        <p15:guide id="4" orient="horz" pos="53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9095AC-2AF0-46EE-8621-0AB42DB963B1}" name="David Schall" initials="DS" userId="S::s2033074@ed.ac.uk::b2c311fc-73ee-406e-b0ae-3522d2f1a5b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F70BA9-BA5F-451A-B568-291C92F3AB9F}">
  <a:tblStyle styleId="{EAF70BA9-BA5F-451A-B568-291C92F3AB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61" autoAdjust="0"/>
    <p:restoredTop sz="69239" autoAdjust="0"/>
  </p:normalViewPr>
  <p:slideViewPr>
    <p:cSldViewPr snapToGrid="0">
      <p:cViewPr varScale="1">
        <p:scale>
          <a:sx n="99" d="100"/>
          <a:sy n="99" d="100"/>
        </p:scale>
        <p:origin x="1590" y="306"/>
      </p:cViewPr>
      <p:guideLst>
        <p:guide orient="horz" pos="1960"/>
        <p:guide pos="2880"/>
        <p:guide pos="226"/>
        <p:guide orient="horz" pos="5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Schall" userId="d2a1edae-0150-4497-ad47-39fcf27d9f2b" providerId="ADAL" clId="{0C047B64-B264-467D-B927-6359D45F832C}"/>
    <pc:docChg chg="modSld">
      <pc:chgData name="David Schall" userId="d2a1edae-0150-4497-ad47-39fcf27d9f2b" providerId="ADAL" clId="{0C047B64-B264-467D-B927-6359D45F832C}" dt="2026-02-02T04:11:17.975" v="17" actId="6549"/>
      <pc:docMkLst>
        <pc:docMk/>
      </pc:docMkLst>
      <pc:sldChg chg="modNotesTx">
        <pc:chgData name="David Schall" userId="d2a1edae-0150-4497-ad47-39fcf27d9f2b" providerId="ADAL" clId="{0C047B64-B264-467D-B927-6359D45F832C}" dt="2026-02-02T04:09:43.961" v="0" actId="20577"/>
        <pc:sldMkLst>
          <pc:docMk/>
          <pc:sldMk cId="0" sldId="256"/>
        </pc:sldMkLst>
      </pc:sldChg>
      <pc:sldChg chg="modNotesTx">
        <pc:chgData name="David Schall" userId="d2a1edae-0150-4497-ad47-39fcf27d9f2b" providerId="ADAL" clId="{0C047B64-B264-467D-B927-6359D45F832C}" dt="2026-02-02T04:09:48.928" v="1" actId="6549"/>
        <pc:sldMkLst>
          <pc:docMk/>
          <pc:sldMk cId="0" sldId="257"/>
        </pc:sldMkLst>
      </pc:sldChg>
      <pc:sldChg chg="modNotesTx">
        <pc:chgData name="David Schall" userId="d2a1edae-0150-4497-ad47-39fcf27d9f2b" providerId="ADAL" clId="{0C047B64-B264-467D-B927-6359D45F832C}" dt="2026-02-02T04:10:02.908" v="4" actId="6549"/>
        <pc:sldMkLst>
          <pc:docMk/>
          <pc:sldMk cId="0" sldId="258"/>
        </pc:sldMkLst>
      </pc:sldChg>
      <pc:sldChg chg="modNotesTx">
        <pc:chgData name="David Schall" userId="d2a1edae-0150-4497-ad47-39fcf27d9f2b" providerId="ADAL" clId="{0C047B64-B264-467D-B927-6359D45F832C}" dt="2026-02-02T04:09:54.141" v="2" actId="6549"/>
        <pc:sldMkLst>
          <pc:docMk/>
          <pc:sldMk cId="3133559170" sldId="1436"/>
        </pc:sldMkLst>
      </pc:sldChg>
      <pc:sldChg chg="modNotesTx">
        <pc:chgData name="David Schall" userId="d2a1edae-0150-4497-ad47-39fcf27d9f2b" providerId="ADAL" clId="{0C047B64-B264-467D-B927-6359D45F832C}" dt="2026-02-02T04:09:58.037" v="3" actId="6549"/>
        <pc:sldMkLst>
          <pc:docMk/>
          <pc:sldMk cId="919725460" sldId="1437"/>
        </pc:sldMkLst>
      </pc:sldChg>
      <pc:sldChg chg="modNotesTx">
        <pc:chgData name="David Schall" userId="d2a1edae-0150-4497-ad47-39fcf27d9f2b" providerId="ADAL" clId="{0C047B64-B264-467D-B927-6359D45F832C}" dt="2026-02-02T04:10:43.777" v="11" actId="6549"/>
        <pc:sldMkLst>
          <pc:docMk/>
          <pc:sldMk cId="1558192147" sldId="1438"/>
        </pc:sldMkLst>
      </pc:sldChg>
      <pc:sldChg chg="modNotesTx">
        <pc:chgData name="David Schall" userId="d2a1edae-0150-4497-ad47-39fcf27d9f2b" providerId="ADAL" clId="{0C047B64-B264-467D-B927-6359D45F832C}" dt="2026-02-02T04:10:06.639" v="5" actId="6549"/>
        <pc:sldMkLst>
          <pc:docMk/>
          <pc:sldMk cId="4246995170" sldId="1442"/>
        </pc:sldMkLst>
      </pc:sldChg>
      <pc:sldChg chg="modNotesTx">
        <pc:chgData name="David Schall" userId="d2a1edae-0150-4497-ad47-39fcf27d9f2b" providerId="ADAL" clId="{0C047B64-B264-467D-B927-6359D45F832C}" dt="2026-02-02T04:10:10.761" v="6" actId="6549"/>
        <pc:sldMkLst>
          <pc:docMk/>
          <pc:sldMk cId="4097019262" sldId="1443"/>
        </pc:sldMkLst>
      </pc:sldChg>
      <pc:sldChg chg="modNotesTx">
        <pc:chgData name="David Schall" userId="d2a1edae-0150-4497-ad47-39fcf27d9f2b" providerId="ADAL" clId="{0C047B64-B264-467D-B927-6359D45F832C}" dt="2026-02-02T04:10:17.645" v="8" actId="6549"/>
        <pc:sldMkLst>
          <pc:docMk/>
          <pc:sldMk cId="2584996203" sldId="1445"/>
        </pc:sldMkLst>
      </pc:sldChg>
      <pc:sldChg chg="modNotesTx">
        <pc:chgData name="David Schall" userId="d2a1edae-0150-4497-ad47-39fcf27d9f2b" providerId="ADAL" clId="{0C047B64-B264-467D-B927-6359D45F832C}" dt="2026-02-02T04:10:14.241" v="7" actId="6549"/>
        <pc:sldMkLst>
          <pc:docMk/>
          <pc:sldMk cId="1843582092" sldId="1447"/>
        </pc:sldMkLst>
      </pc:sldChg>
      <pc:sldChg chg="modNotesTx">
        <pc:chgData name="David Schall" userId="d2a1edae-0150-4497-ad47-39fcf27d9f2b" providerId="ADAL" clId="{0C047B64-B264-467D-B927-6359D45F832C}" dt="2026-02-02T04:10:20.996" v="9" actId="6549"/>
        <pc:sldMkLst>
          <pc:docMk/>
          <pc:sldMk cId="179092291" sldId="1448"/>
        </pc:sldMkLst>
      </pc:sldChg>
      <pc:sldChg chg="modNotesTx">
        <pc:chgData name="David Schall" userId="d2a1edae-0150-4497-ad47-39fcf27d9f2b" providerId="ADAL" clId="{0C047B64-B264-467D-B927-6359D45F832C}" dt="2026-02-02T04:10:40.504" v="10" actId="6549"/>
        <pc:sldMkLst>
          <pc:docMk/>
          <pc:sldMk cId="1486898378" sldId="1449"/>
        </pc:sldMkLst>
      </pc:sldChg>
      <pc:sldChg chg="modNotesTx">
        <pc:chgData name="David Schall" userId="d2a1edae-0150-4497-ad47-39fcf27d9f2b" providerId="ADAL" clId="{0C047B64-B264-467D-B927-6359D45F832C}" dt="2026-02-02T04:10:47.250" v="12" actId="6549"/>
        <pc:sldMkLst>
          <pc:docMk/>
          <pc:sldMk cId="952026144" sldId="1450"/>
        </pc:sldMkLst>
      </pc:sldChg>
      <pc:sldChg chg="modNotesTx">
        <pc:chgData name="David Schall" userId="d2a1edae-0150-4497-ad47-39fcf27d9f2b" providerId="ADAL" clId="{0C047B64-B264-467D-B927-6359D45F832C}" dt="2026-02-02T04:10:57.621" v="13" actId="6549"/>
        <pc:sldMkLst>
          <pc:docMk/>
          <pc:sldMk cId="3836662544" sldId="1451"/>
        </pc:sldMkLst>
      </pc:sldChg>
      <pc:sldChg chg="modNotesTx">
        <pc:chgData name="David Schall" userId="d2a1edae-0150-4497-ad47-39fcf27d9f2b" providerId="ADAL" clId="{0C047B64-B264-467D-B927-6359D45F832C}" dt="2026-02-02T04:11:03.222" v="14" actId="6549"/>
        <pc:sldMkLst>
          <pc:docMk/>
          <pc:sldMk cId="2692532398" sldId="1452"/>
        </pc:sldMkLst>
      </pc:sldChg>
      <pc:sldChg chg="modNotesTx">
        <pc:chgData name="David Schall" userId="d2a1edae-0150-4497-ad47-39fcf27d9f2b" providerId="ADAL" clId="{0C047B64-B264-467D-B927-6359D45F832C}" dt="2026-02-02T04:11:07.738" v="15" actId="6549"/>
        <pc:sldMkLst>
          <pc:docMk/>
          <pc:sldMk cId="2539992751" sldId="1453"/>
        </pc:sldMkLst>
      </pc:sldChg>
      <pc:sldChg chg="modNotesTx">
        <pc:chgData name="David Schall" userId="d2a1edae-0150-4497-ad47-39fcf27d9f2b" providerId="ADAL" clId="{0C047B64-B264-467D-B927-6359D45F832C}" dt="2026-02-02T04:11:14.153" v="16" actId="6549"/>
        <pc:sldMkLst>
          <pc:docMk/>
          <pc:sldMk cId="3772006435" sldId="1454"/>
        </pc:sldMkLst>
      </pc:sldChg>
      <pc:sldChg chg="modNotesTx">
        <pc:chgData name="David Schall" userId="d2a1edae-0150-4497-ad47-39fcf27d9f2b" providerId="ADAL" clId="{0C047B64-B264-467D-B927-6359D45F832C}" dt="2026-02-02T04:11:17.975" v="17" actId="6549"/>
        <pc:sldMkLst>
          <pc:docMk/>
          <pc:sldMk cId="1163117255" sldId="14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22d826061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22d826061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5115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2749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22d826061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22d826061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3054821F-CDFE-01E3-B72F-0CAE9E08E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22d8260617_0_13:notes">
            <a:extLst>
              <a:ext uri="{FF2B5EF4-FFF2-40B4-BE49-F238E27FC236}">
                <a16:creationId xmlns:a16="http://schemas.microsoft.com/office/drawing/2014/main" id="{60BC8222-4659-3B56-7093-8640045C02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22d8260617_0_13:notes">
            <a:extLst>
              <a:ext uri="{FF2B5EF4-FFF2-40B4-BE49-F238E27FC236}">
                <a16:creationId xmlns:a16="http://schemas.microsoft.com/office/drawing/2014/main" id="{21687DF5-3561-1B15-797A-50CF21FDB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0460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AD517687-458E-C4BC-B0AD-631F9C0B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22d8260617_0_13:notes">
            <a:extLst>
              <a:ext uri="{FF2B5EF4-FFF2-40B4-BE49-F238E27FC236}">
                <a16:creationId xmlns:a16="http://schemas.microsoft.com/office/drawing/2014/main" id="{7FDAB4DB-24AF-EAE8-AEF7-8E22F66D6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22d8260617_0_13:notes">
            <a:extLst>
              <a:ext uri="{FF2B5EF4-FFF2-40B4-BE49-F238E27FC236}">
                <a16:creationId xmlns:a16="http://schemas.microsoft.com/office/drawing/2014/main" id="{F73E1AB4-FC04-CF83-4CE2-233CCC36A9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4660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26A23906-6212-EE6F-F570-C4F67DCD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22d8260617_0_13:notes">
            <a:extLst>
              <a:ext uri="{FF2B5EF4-FFF2-40B4-BE49-F238E27FC236}">
                <a16:creationId xmlns:a16="http://schemas.microsoft.com/office/drawing/2014/main" id="{156871D3-2CC0-F89B-1E5F-382534F2D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22d8260617_0_13:notes">
            <a:extLst>
              <a:ext uri="{FF2B5EF4-FFF2-40B4-BE49-F238E27FC236}">
                <a16:creationId xmlns:a16="http://schemas.microsoft.com/office/drawing/2014/main" id="{F62D4D6C-D721-37D0-F6C2-A7313403BB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3399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EE68A7C1-A401-8006-90BE-FCE6A4C45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22d8260617_0_13:notes">
            <a:extLst>
              <a:ext uri="{FF2B5EF4-FFF2-40B4-BE49-F238E27FC236}">
                <a16:creationId xmlns:a16="http://schemas.microsoft.com/office/drawing/2014/main" id="{BFF1270F-01B2-3460-FD1D-9638FDCF4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22d8260617_0_13:notes">
            <a:extLst>
              <a:ext uri="{FF2B5EF4-FFF2-40B4-BE49-F238E27FC236}">
                <a16:creationId xmlns:a16="http://schemas.microsoft.com/office/drawing/2014/main" id="{3E8E85AC-05ED-A066-7B41-6708A45FAF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2734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7029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4338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5645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D580D-4939-7C4F-3BB2-F0162142A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BC823-0E67-457A-D72C-9D040B185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4A20C-B53E-9451-1FA7-DE5D36478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7434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0943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7898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954CE002-3C4B-A0F7-BBBD-DDFE5C510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22d8260617_0_13:notes">
            <a:extLst>
              <a:ext uri="{FF2B5EF4-FFF2-40B4-BE49-F238E27FC236}">
                <a16:creationId xmlns:a16="http://schemas.microsoft.com/office/drawing/2014/main" id="{8A92D3BA-BBA0-8A81-B11C-4971E1183E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22d8260617_0_13:notes">
            <a:extLst>
              <a:ext uri="{FF2B5EF4-FFF2-40B4-BE49-F238E27FC236}">
                <a16:creationId xmlns:a16="http://schemas.microsoft.com/office/drawing/2014/main" id="{79EA9F4A-2E8D-3035-414B-BA25F1AF9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55914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8217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38426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909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1460" y="140225"/>
            <a:ext cx="7770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800"/>
              <a:buNone/>
              <a:defRPr>
                <a:solidFill>
                  <a:srgbClr val="1155C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1460" y="802475"/>
            <a:ext cx="8641080" cy="3464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9875" lvl="0" indent="-2698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○"/>
              <a:defRPr sz="1600">
                <a:solidFill>
                  <a:srgbClr val="434343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343840" y="4726675"/>
            <a:ext cx="548700" cy="3301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16257" y="229775"/>
            <a:ext cx="73433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logo on a black background&#10;&#10;Description automatically generated">
            <a:extLst>
              <a:ext uri="{FF2B5EF4-FFF2-40B4-BE49-F238E27FC236}">
                <a16:creationId xmlns:a16="http://schemas.microsoft.com/office/drawing/2014/main" id="{31D81F31-8409-A085-116B-066A6C7CB9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2" t="36085" r="70063" b="35911"/>
          <a:stretch/>
        </p:blipFill>
        <p:spPr>
          <a:xfrm>
            <a:off x="8492123" y="202128"/>
            <a:ext cx="509369" cy="448894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117AD52-7193-1FE2-B6EA-C8AD491185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1774" y="5964988"/>
            <a:ext cx="11579702" cy="746872"/>
          </a:xfrm>
        </p:spPr>
        <p:txBody>
          <a:bodyPr/>
          <a:lstStyle>
            <a:lvl1pPr marL="0" indent="0" algn="ctr">
              <a:buFontTx/>
              <a:buNone/>
              <a:defRPr lang="en-US" sz="2400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rgbClr val="C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49EF9-68AD-8E91-DB73-76B658AEE8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1460" y="4341025"/>
            <a:ext cx="8641080" cy="572701"/>
          </a:xfrm>
        </p:spPr>
        <p:txBody>
          <a:bodyPr/>
          <a:lstStyle>
            <a:lvl1pPr algn="ctr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8542D69-D4C8-05A9-5B90-47E217CA0C0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51460" y="4826442"/>
            <a:ext cx="4487516" cy="247866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HPCA'26: The Last-Level Branch Predictor Revisited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ndara"/>
              <a:buNone/>
              <a:defRPr sz="2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ndara"/>
              <a:buChar char="●"/>
              <a:defRPr sz="18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ithub.com/dhschall/LLBP-X/" TargetMode="Externa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-50" y="1430214"/>
            <a:ext cx="9144000" cy="853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noProof="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ea typeface="Candara"/>
                <a:cs typeface="Candara"/>
                <a:sym typeface="Candara"/>
              </a:rPr>
              <a:t>The Last-Level Branch Predictor Revisited</a:t>
            </a:r>
            <a:endParaRPr lang="en-GB" sz="2400" noProof="0" dirty="0">
              <a:solidFill>
                <a:schemeClr val="accent1">
                  <a:lumMod val="50000"/>
                </a:schemeClr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-50" y="2297879"/>
            <a:ext cx="9144000" cy="853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u="sng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David Schall</a:t>
            </a:r>
            <a:r>
              <a:rPr lang="en-GB" sz="2400" b="1" baseline="300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1</a:t>
            </a:r>
            <a:r>
              <a:rPr lang="en-GB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, Mária Ďuračková</a:t>
            </a:r>
            <a:r>
              <a:rPr lang="en-GB" sz="2400" b="1" baseline="300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2</a:t>
            </a:r>
            <a:r>
              <a:rPr lang="en-GB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, Boris Grot</a:t>
            </a:r>
            <a:r>
              <a:rPr lang="en-GB" sz="2400" b="1" baseline="300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2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Technical University of Munich</a:t>
            </a:r>
            <a:r>
              <a:rPr lang="en-GB" sz="1600" b="1" baseline="300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1</a:t>
            </a:r>
            <a:r>
              <a:rPr lang="en-GB" sz="16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, University of Edinburgh</a:t>
            </a:r>
            <a:r>
              <a:rPr lang="en-GB" sz="1600" b="1" baseline="300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noProof="0" dirty="0">
              <a:solidFill>
                <a:srgbClr val="0000FF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325" y="3465280"/>
            <a:ext cx="1381069" cy="137996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FDAFF1CA-1C38-4652-3256-31194B7D1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703" y="4776787"/>
            <a:ext cx="242562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anchor="t"/>
          <a:lstStyle/>
          <a:p>
            <a:pPr defTabSz="456492"/>
            <a:r>
              <a:rPr lang="en-GB" sz="1200" b="1" noProof="0" dirty="0">
                <a:solidFill>
                  <a:srgbClr val="002244"/>
                </a:solidFill>
              </a:rPr>
              <a:t>Feb. 3, 2026</a:t>
            </a:r>
          </a:p>
        </p:txBody>
      </p:sp>
      <p:pic>
        <p:nvPicPr>
          <p:cNvPr id="4" name="Picture 3" descr="A logo on a black background&#10;&#10;Description automatically generated">
            <a:extLst>
              <a:ext uri="{FF2B5EF4-FFF2-40B4-BE49-F238E27FC236}">
                <a16:creationId xmlns:a16="http://schemas.microsoft.com/office/drawing/2014/main" id="{0E35D92C-DF67-B4C0-B068-27E6CD6FC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2" t="36085" r="70063" b="35911"/>
          <a:stretch/>
        </p:blipFill>
        <p:spPr>
          <a:xfrm>
            <a:off x="4992608" y="3725608"/>
            <a:ext cx="950992" cy="838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Branch Prediction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251460" y="842963"/>
            <a:ext cx="5562971" cy="34242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noProof="0" dirty="0">
                <a:latin typeface="Candara" panose="020E0502030303020204" pitchFamily="34" charset="0"/>
              </a:rPr>
              <a:t>Essential for modern CPUs</a:t>
            </a:r>
          </a:p>
          <a:p>
            <a:pPr marL="26670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Mispredictions waste</a:t>
            </a:r>
          </a:p>
          <a:p>
            <a:pPr marL="450850" lvl="1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/>
              <a:t>tens of cycles and hundreds of instructions</a:t>
            </a:r>
          </a:p>
          <a:p>
            <a:pPr marL="450850" lvl="1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/>
              <a:t>15.4% of executing cycles in Google’s data centres </a:t>
            </a:r>
            <a:r>
              <a:rPr lang="en-GB" sz="1100" noProof="0" dirty="0"/>
              <a:t>[Google’19]</a:t>
            </a:r>
          </a:p>
          <a:p>
            <a:pPr marL="539750" lvl="1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endParaRPr lang="en-GB" sz="1400" noProof="0" dirty="0"/>
          </a:p>
          <a:p>
            <a:pPr marL="0" lvl="0" indent="0">
              <a:buNone/>
            </a:pPr>
            <a:r>
              <a:rPr lang="en-GB" noProof="0" dirty="0">
                <a:latin typeface="Candara" panose="020E0502030303020204" pitchFamily="34" charset="0"/>
              </a:rPr>
              <a:t>Unlocks aggressive processor designs</a:t>
            </a:r>
            <a:endParaRPr lang="en-GB" sz="1200" noProof="0" dirty="0"/>
          </a:p>
          <a:p>
            <a:pPr marL="266700" lvl="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Aggressive pipelines shift bottleneck to the branch predictor </a:t>
            </a:r>
            <a:r>
              <a:rPr lang="en-GB" sz="1100" noProof="0" dirty="0"/>
              <a:t>[Intel’19]</a:t>
            </a:r>
          </a:p>
          <a:p>
            <a:pPr marL="26670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Skylake (2015) </a:t>
            </a:r>
            <a:r>
              <a:rPr lang="en-GB" sz="1600" dirty="0">
                <a:sym typeface="Wingdings" panose="05000000000000000000" pitchFamily="2" charset="2"/>
              </a:rPr>
              <a:t></a:t>
            </a:r>
            <a:r>
              <a:rPr lang="en-GB" sz="1600" noProof="0" dirty="0"/>
              <a:t> Sapphire Rapids (2025)</a:t>
            </a:r>
          </a:p>
          <a:p>
            <a:pPr marL="538163" lvl="1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/>
              <a:t>Massive pipeline upscale: Width: 5</a:t>
            </a:r>
            <a:r>
              <a:rPr lang="en-GB" sz="1050" dirty="0">
                <a:sym typeface="Wingdings" panose="05000000000000000000" pitchFamily="2" charset="2"/>
              </a:rPr>
              <a:t></a:t>
            </a:r>
            <a:r>
              <a:rPr lang="en-GB" sz="1400" noProof="0" dirty="0"/>
              <a:t>8 (1.6x), ROB 224</a:t>
            </a:r>
            <a:r>
              <a:rPr lang="en-GB" sz="1050" noProof="0" dirty="0">
                <a:sym typeface="Wingdings" panose="05000000000000000000" pitchFamily="2" charset="2"/>
              </a:rPr>
              <a:t></a:t>
            </a:r>
            <a:r>
              <a:rPr lang="en-GB" sz="1400" noProof="0" dirty="0"/>
              <a:t>512 (2.3x)</a:t>
            </a:r>
          </a:p>
          <a:p>
            <a:pPr marL="539750" lvl="1" indent="-176213" defTabSz="539750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>
                <a:sym typeface="Wingdings" panose="05000000000000000000" pitchFamily="2" charset="2"/>
              </a:rPr>
              <a:t>Significant reduction in mispredictions  </a:t>
            </a:r>
            <a:r>
              <a:rPr lang="en-GB" sz="1400" dirty="0">
                <a:sym typeface="Wingdings" panose="05000000000000000000" pitchFamily="2" charset="2"/>
              </a:rPr>
              <a:t>~35</a:t>
            </a:r>
            <a:r>
              <a:rPr lang="en-GB" sz="1400" noProof="0" dirty="0">
                <a:sym typeface="Wingdings" panose="05000000000000000000" pitchFamily="2" charset="2"/>
              </a:rPr>
              <a:t>%</a:t>
            </a:r>
          </a:p>
          <a:p>
            <a:pPr marL="539750" lvl="1" indent="-176213" defTabSz="539750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>
                <a:sym typeface="Wingdings" panose="05000000000000000000" pitchFamily="2" charset="2"/>
              </a:rPr>
              <a:t>But fraction of branch-related stalls increased  </a:t>
            </a:r>
            <a:r>
              <a:rPr lang="en-GB" sz="1400" dirty="0">
                <a:sym typeface="Wingdings" panose="05000000000000000000" pitchFamily="2" charset="2"/>
              </a:rPr>
              <a:t>~5%</a:t>
            </a:r>
            <a:endParaRPr lang="en-GB" sz="1400" noProof="0" dirty="0"/>
          </a:p>
          <a:p>
            <a:pPr marL="0" indent="0">
              <a:buClr>
                <a:schemeClr val="accent1">
                  <a:lumMod val="50000"/>
                </a:schemeClr>
              </a:buClr>
              <a:buSzPct val="90000"/>
              <a:buNone/>
            </a:pPr>
            <a:endParaRPr lang="en-GB" sz="1600" noProof="0" dirty="0"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2</a:t>
            </a:fld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9E072-5D0A-535D-5990-39E049299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029C47-00E0-7055-1A28-5BAE865B75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1460" y="4419600"/>
            <a:ext cx="8641080" cy="494126"/>
          </a:xfrm>
        </p:spPr>
        <p:txBody>
          <a:bodyPr>
            <a:normAutofit fontScale="92500" lnSpcReduction="10000"/>
          </a:bodyPr>
          <a:lstStyle/>
          <a:p>
            <a:r>
              <a:rPr lang="en-GB" sz="2000" noProof="0" dirty="0"/>
              <a:t>Branch mispredictions are a key performance killer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6F20C5-1405-1630-DCFC-2C5A50CE88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9" b="1255"/>
          <a:stretch>
            <a:fillRect/>
          </a:stretch>
        </p:blipFill>
        <p:spPr>
          <a:xfrm>
            <a:off x="6399206" y="2857497"/>
            <a:ext cx="2276358" cy="11440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114C4E-2220-7DD0-B56B-CB3F4EF75A95}"/>
              </a:ext>
            </a:extLst>
          </p:cNvPr>
          <p:cNvSpPr txBox="1"/>
          <p:nvPr/>
        </p:nvSpPr>
        <p:spPr>
          <a:xfrm rot="16200000">
            <a:off x="5480039" y="3122040"/>
            <a:ext cx="125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>
                <a:latin typeface="Times" panose="02020603050405020304" pitchFamily="18" charset="0"/>
                <a:cs typeface="Times" panose="02020603050405020304" pitchFamily="18" charset="0"/>
              </a:rPr>
              <a:t>Wasted cycles [%]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7D586A-5F00-2573-35B6-BDF6238AA5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 dirty="0"/>
              <a:t>HPCA'26: The Last-Level Branch Predictor Revisited</a:t>
            </a:r>
          </a:p>
        </p:txBody>
      </p:sp>
      <p:pic>
        <p:nvPicPr>
          <p:cNvPr id="9" name="Picture 8" descr="A graph of a number of different types of bars&#10;&#10;AI-generated content may be incorrect.">
            <a:extLst>
              <a:ext uri="{FF2B5EF4-FFF2-40B4-BE49-F238E27FC236}">
                <a16:creationId xmlns:a16="http://schemas.microsoft.com/office/drawing/2014/main" id="{F069A6F2-826A-8F93-22DC-14743B1EB5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34"/>
          <a:stretch>
            <a:fillRect/>
          </a:stretch>
        </p:blipFill>
        <p:spPr>
          <a:xfrm>
            <a:off x="6478581" y="1368471"/>
            <a:ext cx="2218690" cy="13794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81AA46-29B8-C3FF-731C-A5F0119BE0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506" t="9881" r="23290" b="72827"/>
          <a:stretch>
            <a:fillRect/>
          </a:stretch>
        </p:blipFill>
        <p:spPr>
          <a:xfrm>
            <a:off x="6474367" y="1328786"/>
            <a:ext cx="2432862" cy="2385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A624E2-5212-43FA-9B8E-CE962F1B6302}"/>
              </a:ext>
            </a:extLst>
          </p:cNvPr>
          <p:cNvSpPr txBox="1"/>
          <p:nvPr/>
        </p:nvSpPr>
        <p:spPr>
          <a:xfrm rot="16200000">
            <a:off x="5555199" y="1868479"/>
            <a:ext cx="125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>
                <a:latin typeface="Times" panose="02020603050405020304" pitchFamily="18" charset="0"/>
                <a:cs typeface="Times" panose="02020603050405020304" pitchFamily="18" charset="0"/>
              </a:rPr>
              <a:t>Branch MPKI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1C2C9E-BBC7-A991-3FB9-B60EBFD38496}"/>
              </a:ext>
            </a:extLst>
          </p:cNvPr>
          <p:cNvCxnSpPr>
            <a:cxnSpLocks/>
          </p:cNvCxnSpPr>
          <p:nvPr/>
        </p:nvCxnSpPr>
        <p:spPr>
          <a:xfrm>
            <a:off x="8274050" y="1985412"/>
            <a:ext cx="222190" cy="31160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F6AA62-AF45-D8CF-B297-BA00BDC9B4AD}"/>
              </a:ext>
            </a:extLst>
          </p:cNvPr>
          <p:cNvCxnSpPr>
            <a:cxnSpLocks/>
          </p:cNvCxnSpPr>
          <p:nvPr/>
        </p:nvCxnSpPr>
        <p:spPr>
          <a:xfrm flipV="1">
            <a:off x="8153400" y="3301431"/>
            <a:ext cx="190440" cy="16935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2C6A89-2B74-D9E5-840C-CF792B61C984}"/>
              </a:ext>
            </a:extLst>
          </p:cNvPr>
          <p:cNvCxnSpPr>
            <a:cxnSpLocks/>
          </p:cNvCxnSpPr>
          <p:nvPr/>
        </p:nvCxnSpPr>
        <p:spPr bwMode="auto">
          <a:xfrm flipV="1">
            <a:off x="8675564" y="1608138"/>
            <a:ext cx="0" cy="831850"/>
          </a:xfrm>
          <a:prstGeom prst="straightConnector1">
            <a:avLst/>
          </a:prstGeom>
          <a:ln w="2857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2777C4B-51D5-963E-F364-EC8530F2571C}"/>
              </a:ext>
            </a:extLst>
          </p:cNvPr>
          <p:cNvSpPr txBox="1"/>
          <p:nvPr/>
        </p:nvSpPr>
        <p:spPr>
          <a:xfrm rot="16200000">
            <a:off x="8238688" y="1893258"/>
            <a:ext cx="1127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noProof="0" dirty="0"/>
              <a:t>Lower is better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/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BE87-30C7-13E5-0EAC-66EE9B2F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" y="140225"/>
            <a:ext cx="7148743" cy="572700"/>
          </a:xfrm>
        </p:spPr>
        <p:txBody>
          <a:bodyPr>
            <a:noAutofit/>
          </a:bodyPr>
          <a:lstStyle/>
          <a:p>
            <a:r>
              <a:rPr lang="en-GB" noProof="0"/>
              <a:t>The TAGE Branch Predictor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56A06-E5A5-BE28-E98E-9DA52FD2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47675"/>
            <a:ext cx="4760145" cy="3699900"/>
          </a:xfrm>
        </p:spPr>
        <p:txBody>
          <a:bodyPr>
            <a:noAutofit/>
          </a:bodyPr>
          <a:lstStyle/>
          <a:p>
            <a:pPr marL="265113" indent="-265113">
              <a:buNone/>
            </a:pPr>
            <a:r>
              <a:rPr lang="en-GB" noProof="0" dirty="0"/>
              <a:t>TAGE (</a:t>
            </a:r>
            <a:r>
              <a:rPr lang="en-GB" noProof="0" dirty="0" err="1"/>
              <a:t>TAgged</a:t>
            </a:r>
            <a:r>
              <a:rPr lang="en-GB" noProof="0" dirty="0"/>
              <a:t> </a:t>
            </a:r>
            <a:r>
              <a:rPr lang="en-GB" noProof="0" dirty="0" err="1"/>
              <a:t>GEometric</a:t>
            </a:r>
            <a:r>
              <a:rPr lang="en-GB" noProof="0" dirty="0"/>
              <a:t> history length)</a:t>
            </a:r>
          </a:p>
          <a:p>
            <a:pPr marL="26670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Partial </a:t>
            </a:r>
            <a:r>
              <a:rPr lang="en-GB" sz="1600" b="1" dirty="0"/>
              <a:t>pattern-matching </a:t>
            </a:r>
            <a:r>
              <a:rPr lang="en-GB" sz="1600" dirty="0"/>
              <a:t>with global history</a:t>
            </a:r>
          </a:p>
          <a:p>
            <a:pPr marL="26670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Stores </a:t>
            </a:r>
            <a:r>
              <a:rPr lang="en-GB" sz="1600" b="1" dirty="0">
                <a:solidFill>
                  <a:srgbClr val="C00000"/>
                </a:solidFill>
              </a:rPr>
              <a:t>patterns</a:t>
            </a:r>
            <a:r>
              <a:rPr lang="en-GB" sz="1600" dirty="0"/>
              <a:t> (Hash of PC + history) in matching tables</a:t>
            </a:r>
          </a:p>
          <a:p>
            <a:pPr marL="26670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b="1" dirty="0"/>
              <a:t>Multiple tables </a:t>
            </a:r>
            <a:r>
              <a:rPr lang="en-GB" sz="1600" dirty="0"/>
              <a:t>for different lengths of histories</a:t>
            </a:r>
          </a:p>
          <a:p>
            <a:pPr marL="26670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Upon misprediction, allocates a pattern with a longer history </a:t>
            </a:r>
            <a:endParaRPr lang="en-GB" sz="1600" noProof="0" dirty="0"/>
          </a:p>
          <a:p>
            <a:pPr marL="0" indent="0">
              <a:spcBef>
                <a:spcPts val="1200"/>
              </a:spcBef>
              <a:buNone/>
            </a:pPr>
            <a:r>
              <a:rPr lang="en-GB" sz="1800" noProof="0" dirty="0"/>
              <a:t>TAGE-SC-L state-of-the-art since &gt;10 years</a:t>
            </a:r>
          </a:p>
          <a:p>
            <a:pPr marL="26670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TAGE + perceptron + loop predictor</a:t>
            </a:r>
            <a:endParaRPr lang="en-GB" sz="1800" noProof="0" dirty="0"/>
          </a:p>
          <a:p>
            <a:pPr marL="114300" indent="-114300">
              <a:spcBef>
                <a:spcPts val="1200"/>
              </a:spcBef>
              <a:buNone/>
            </a:pPr>
            <a:r>
              <a:rPr lang="en-GB" noProof="0" dirty="0"/>
              <a:t>Implemented in many commercial CPU’s</a:t>
            </a:r>
          </a:p>
          <a:p>
            <a:pPr marL="26670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Arm, IBM, Qualcomm,…</a:t>
            </a:r>
          </a:p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684BD-B72D-F248-9CCF-15F00315D3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3</a:t>
            </a:fld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63E1E1-7CDC-4DEC-AA7E-BF6C1889A653}"/>
              </a:ext>
            </a:extLst>
          </p:cNvPr>
          <p:cNvSpPr/>
          <p:nvPr/>
        </p:nvSpPr>
        <p:spPr bwMode="auto">
          <a:xfrm>
            <a:off x="6933440" y="3658988"/>
            <a:ext cx="142875" cy="48222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8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BD5227-E58A-1017-A29D-52758C1EBD0D}"/>
              </a:ext>
            </a:extLst>
          </p:cNvPr>
          <p:cNvSpPr/>
          <p:nvPr/>
        </p:nvSpPr>
        <p:spPr bwMode="auto">
          <a:xfrm>
            <a:off x="7968926" y="3967985"/>
            <a:ext cx="142875" cy="48222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8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C42642-1388-BDEA-A7E4-8D28832ADF0F}"/>
              </a:ext>
            </a:extLst>
          </p:cNvPr>
          <p:cNvSpPr/>
          <p:nvPr/>
        </p:nvSpPr>
        <p:spPr bwMode="auto">
          <a:xfrm>
            <a:off x="6174761" y="2238298"/>
            <a:ext cx="663913" cy="1181357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8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86C8B4-93AB-B5B9-1CCE-6D54539CB97D}"/>
              </a:ext>
            </a:extLst>
          </p:cNvPr>
          <p:cNvSpPr/>
          <p:nvPr/>
        </p:nvSpPr>
        <p:spPr bwMode="auto">
          <a:xfrm>
            <a:off x="6952974" y="2238298"/>
            <a:ext cx="663913" cy="1181357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8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1FF85D-8529-CD31-5834-6EBA5EC5BB3B}"/>
              </a:ext>
            </a:extLst>
          </p:cNvPr>
          <p:cNvSpPr/>
          <p:nvPr/>
        </p:nvSpPr>
        <p:spPr bwMode="auto">
          <a:xfrm>
            <a:off x="7938435" y="2238298"/>
            <a:ext cx="663913" cy="1181357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8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410308-DD8F-86AE-3CBF-2BF03F813DCC}"/>
              </a:ext>
            </a:extLst>
          </p:cNvPr>
          <p:cNvSpPr/>
          <p:nvPr/>
        </p:nvSpPr>
        <p:spPr bwMode="auto">
          <a:xfrm>
            <a:off x="6169904" y="2962352"/>
            <a:ext cx="663913" cy="1485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200" noProof="0">
              <a:solidFill>
                <a:schemeClr val="tx1"/>
              </a:solidFill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BDFF65-C881-9643-C98F-C8AF29CA0159}"/>
              </a:ext>
            </a:extLst>
          </p:cNvPr>
          <p:cNvSpPr/>
          <p:nvPr/>
        </p:nvSpPr>
        <p:spPr bwMode="auto">
          <a:xfrm>
            <a:off x="6952974" y="2556721"/>
            <a:ext cx="663913" cy="1485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8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F461FF-B1E9-0287-196F-FA9534554EBC}"/>
              </a:ext>
            </a:extLst>
          </p:cNvPr>
          <p:cNvGrpSpPr/>
          <p:nvPr/>
        </p:nvGrpSpPr>
        <p:grpSpPr>
          <a:xfrm>
            <a:off x="6501860" y="2705311"/>
            <a:ext cx="888452" cy="1066514"/>
            <a:chOff x="8669146" y="3521356"/>
            <a:chExt cx="1184603" cy="1422019"/>
          </a:xfrm>
        </p:grpSpPr>
        <p:sp>
          <p:nvSpPr>
            <p:cNvPr id="13" name="Flowchart: Manual Operation 12">
              <a:extLst>
                <a:ext uri="{FF2B5EF4-FFF2-40B4-BE49-F238E27FC236}">
                  <a16:creationId xmlns:a16="http://schemas.microsoft.com/office/drawing/2014/main" id="{F24B83EB-BF19-B5F6-78D0-7C1A47062EC9}"/>
                </a:ext>
              </a:extLst>
            </p:cNvPr>
            <p:cNvSpPr/>
            <p:nvPr/>
          </p:nvSpPr>
          <p:spPr bwMode="auto">
            <a:xfrm>
              <a:off x="9210264" y="4796049"/>
              <a:ext cx="643485" cy="147326"/>
            </a:xfrm>
            <a:prstGeom prst="flowChartManualOperation">
              <a:avLst/>
            </a:prstGeom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 noProof="0">
                <a:solidFill>
                  <a:schemeClr val="tx1"/>
                </a:solidFill>
                <a:latin typeface="Times" charset="0"/>
                <a:ea typeface="ＭＳ Ｐゴシック" charset="0"/>
              </a:endParaRPr>
            </a:p>
          </p:txBody>
        </p:sp>
        <p:cxnSp>
          <p:nvCxnSpPr>
            <p:cNvPr id="14" name="Straight Arrow Connector 21">
              <a:extLst>
                <a:ext uri="{FF2B5EF4-FFF2-40B4-BE49-F238E27FC236}">
                  <a16:creationId xmlns:a16="http://schemas.microsoft.com/office/drawing/2014/main" id="{E6CFA8A3-4207-3D20-FB85-3813E3377636}"/>
                </a:ext>
              </a:extLst>
            </p:cNvPr>
            <p:cNvCxnSpPr>
              <a:cxnSpLocks/>
              <a:stCxn id="10" idx="2"/>
              <a:endCxn id="5" idx="0"/>
            </p:cNvCxnSpPr>
            <p:nvPr/>
          </p:nvCxnSpPr>
          <p:spPr bwMode="auto">
            <a:xfrm rot="16200000" flipH="1">
              <a:off x="8639127" y="4092217"/>
              <a:ext cx="730728" cy="670689"/>
            </a:xfrm>
            <a:prstGeom prst="bentConnector3">
              <a:avLst>
                <a:gd name="adj1" fmla="val 70856"/>
              </a:avLst>
            </a:prstGeom>
            <a:ln w="12700">
              <a:headEnd type="none" w="med" len="med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21">
              <a:extLst>
                <a:ext uri="{FF2B5EF4-FFF2-40B4-BE49-F238E27FC236}">
                  <a16:creationId xmlns:a16="http://schemas.microsoft.com/office/drawing/2014/main" id="{F94C1385-4576-9CEB-A2D2-7AF9CFA36281}"/>
                </a:ext>
              </a:extLst>
            </p:cNvPr>
            <p:cNvCxnSpPr>
              <a:cxnSpLocks/>
              <a:stCxn id="11" idx="2"/>
            </p:cNvCxnSpPr>
            <p:nvPr/>
          </p:nvCxnSpPr>
          <p:spPr bwMode="auto">
            <a:xfrm rot="16200000" flipH="1">
              <a:off x="9077455" y="4157140"/>
              <a:ext cx="1271570" cy="1"/>
            </a:xfrm>
            <a:prstGeom prst="bentConnector3">
              <a:avLst>
                <a:gd name="adj1" fmla="val 50000"/>
              </a:avLst>
            </a:prstGeom>
            <a:ln w="12700">
              <a:headEnd type="none" w="med" len="med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CE007BF-7455-6D0F-32E8-F4A3D77D2764}"/>
              </a:ext>
            </a:extLst>
          </p:cNvPr>
          <p:cNvGrpSpPr/>
          <p:nvPr/>
        </p:nvGrpSpPr>
        <p:grpSpPr>
          <a:xfrm>
            <a:off x="7939818" y="1701368"/>
            <a:ext cx="599561" cy="529786"/>
            <a:chOff x="10355318" y="1397547"/>
            <a:chExt cx="799414" cy="692631"/>
          </a:xfrm>
        </p:grpSpPr>
        <p:sp>
          <p:nvSpPr>
            <p:cNvPr id="17" name="Flowchart: Summing Junction 16">
              <a:extLst>
                <a:ext uri="{FF2B5EF4-FFF2-40B4-BE49-F238E27FC236}">
                  <a16:creationId xmlns:a16="http://schemas.microsoft.com/office/drawing/2014/main" id="{B8EF14E9-8059-68D0-7ED2-C105173F828E}"/>
                </a:ext>
              </a:extLst>
            </p:cNvPr>
            <p:cNvSpPr/>
            <p:nvPr/>
          </p:nvSpPr>
          <p:spPr bwMode="auto">
            <a:xfrm>
              <a:off x="10680060" y="1685229"/>
              <a:ext cx="236220" cy="236220"/>
            </a:xfrm>
            <a:prstGeom prst="flowChartSummingJunction">
              <a:avLst/>
            </a:prstGeom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 noProof="0">
                <a:solidFill>
                  <a:schemeClr val="tx1"/>
                </a:solidFill>
                <a:latin typeface="Times" charset="0"/>
                <a:ea typeface="ＭＳ Ｐゴシック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B52E60D-D41D-284A-04CC-4BDAFCCB645C}"/>
                </a:ext>
              </a:extLst>
            </p:cNvPr>
            <p:cNvSpPr txBox="1"/>
            <p:nvPr/>
          </p:nvSpPr>
          <p:spPr>
            <a:xfrm>
              <a:off x="10355318" y="1397547"/>
              <a:ext cx="250069" cy="2112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050" noProof="0"/>
                <a:t>PC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1BD59E2-04A5-C9C6-9B40-8A07C5E6F5C4}"/>
                </a:ext>
              </a:extLst>
            </p:cNvPr>
            <p:cNvSpPr txBox="1"/>
            <p:nvPr/>
          </p:nvSpPr>
          <p:spPr>
            <a:xfrm>
              <a:off x="10923900" y="1399432"/>
              <a:ext cx="230832" cy="2112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050" noProof="0" err="1"/>
                <a:t>Hn</a:t>
              </a:r>
              <a:endParaRPr lang="en-GB" sz="1050" noProof="0"/>
            </a:p>
          </p:txBody>
        </p:sp>
        <p:cxnSp>
          <p:nvCxnSpPr>
            <p:cNvPr id="20" name="Straight Arrow Connector 21">
              <a:extLst>
                <a:ext uri="{FF2B5EF4-FFF2-40B4-BE49-F238E27FC236}">
                  <a16:creationId xmlns:a16="http://schemas.microsoft.com/office/drawing/2014/main" id="{419A2087-FB9C-1EE2-4A64-5C161187EC87}"/>
                </a:ext>
              </a:extLst>
            </p:cNvPr>
            <p:cNvCxnSpPr>
              <a:stCxn id="18" idx="2"/>
              <a:endCxn id="17" idx="2"/>
            </p:cNvCxnSpPr>
            <p:nvPr/>
          </p:nvCxnSpPr>
          <p:spPr bwMode="auto">
            <a:xfrm rot="16200000" flipH="1">
              <a:off x="10482936" y="1606213"/>
              <a:ext cx="194542" cy="199708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1" name="Straight Arrow Connector 23">
              <a:extLst>
                <a:ext uri="{FF2B5EF4-FFF2-40B4-BE49-F238E27FC236}">
                  <a16:creationId xmlns:a16="http://schemas.microsoft.com/office/drawing/2014/main" id="{85D204B1-873B-F7FF-182A-8B301A751BC4}"/>
                </a:ext>
              </a:extLst>
            </p:cNvPr>
            <p:cNvCxnSpPr>
              <a:cxnSpLocks/>
              <a:stCxn id="19" idx="2"/>
              <a:endCxn id="17" idx="6"/>
            </p:cNvCxnSpPr>
            <p:nvPr/>
          </p:nvCxnSpPr>
          <p:spPr bwMode="auto">
            <a:xfrm rot="5400000">
              <a:off x="10881471" y="1645493"/>
              <a:ext cx="192657" cy="123036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519671A-A94A-4A20-C798-D669E582E14A}"/>
                </a:ext>
              </a:extLst>
            </p:cNvPr>
            <p:cNvCxnSpPr>
              <a:cxnSpLocks/>
              <a:stCxn id="17" idx="4"/>
              <a:endCxn id="9" idx="0"/>
            </p:cNvCxnSpPr>
            <p:nvPr/>
          </p:nvCxnSpPr>
          <p:spPr bwMode="auto">
            <a:xfrm rot="5400000">
              <a:off x="10712762" y="2004769"/>
              <a:ext cx="168729" cy="2089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9476B74-1E5E-22D6-D875-07FD3CAE7AF7}"/>
              </a:ext>
            </a:extLst>
          </p:cNvPr>
          <p:cNvSpPr/>
          <p:nvPr/>
        </p:nvSpPr>
        <p:spPr bwMode="auto">
          <a:xfrm>
            <a:off x="7941854" y="2757423"/>
            <a:ext cx="663913" cy="1485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8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974275D-0E8A-E792-32A8-60A577167DBA}"/>
              </a:ext>
            </a:extLst>
          </p:cNvPr>
          <p:cNvGrpSpPr/>
          <p:nvPr/>
        </p:nvGrpSpPr>
        <p:grpSpPr>
          <a:xfrm>
            <a:off x="7149003" y="2928787"/>
            <a:ext cx="1237460" cy="1320406"/>
            <a:chOff x="9583930" y="3827058"/>
            <a:chExt cx="1649947" cy="1760543"/>
          </a:xfrm>
        </p:grpSpPr>
        <p:sp>
          <p:nvSpPr>
            <p:cNvPr id="25" name="Flowchart: Manual Operation 24">
              <a:extLst>
                <a:ext uri="{FF2B5EF4-FFF2-40B4-BE49-F238E27FC236}">
                  <a16:creationId xmlns:a16="http://schemas.microsoft.com/office/drawing/2014/main" id="{AB17F045-4757-D8E7-0A0C-440CC034E4E0}"/>
                </a:ext>
              </a:extLst>
            </p:cNvPr>
            <p:cNvSpPr/>
            <p:nvPr/>
          </p:nvSpPr>
          <p:spPr bwMode="auto">
            <a:xfrm>
              <a:off x="10590392" y="5231591"/>
              <a:ext cx="643485" cy="151447"/>
            </a:xfrm>
            <a:prstGeom prst="flowChartManualOperation">
              <a:avLst/>
            </a:prstGeom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 noProof="0">
                <a:solidFill>
                  <a:schemeClr val="tx1"/>
                </a:solidFill>
                <a:latin typeface="Times" charset="0"/>
                <a:ea typeface="ＭＳ Ｐゴシック" charset="0"/>
              </a:endParaRPr>
            </a:p>
          </p:txBody>
        </p:sp>
        <p:cxnSp>
          <p:nvCxnSpPr>
            <p:cNvPr id="26" name="Straight Arrow Connector 21">
              <a:extLst>
                <a:ext uri="{FF2B5EF4-FFF2-40B4-BE49-F238E27FC236}">
                  <a16:creationId xmlns:a16="http://schemas.microsoft.com/office/drawing/2014/main" id="{01B3E458-25F7-DF99-2247-C9DF446C0304}"/>
                </a:ext>
              </a:extLst>
            </p:cNvPr>
            <p:cNvCxnSpPr>
              <a:cxnSpLocks/>
              <a:stCxn id="23" idx="2"/>
            </p:cNvCxnSpPr>
            <p:nvPr/>
          </p:nvCxnSpPr>
          <p:spPr bwMode="auto">
            <a:xfrm rot="5400000">
              <a:off x="10392704" y="4514790"/>
              <a:ext cx="1377023" cy="1560"/>
            </a:xfrm>
            <a:prstGeom prst="bentConnector3">
              <a:avLst>
                <a:gd name="adj1" fmla="val 50000"/>
              </a:avLst>
            </a:prstGeom>
            <a:ln w="12700">
              <a:headEnd type="none" w="med" len="med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1">
              <a:extLst>
                <a:ext uri="{FF2B5EF4-FFF2-40B4-BE49-F238E27FC236}">
                  <a16:creationId xmlns:a16="http://schemas.microsoft.com/office/drawing/2014/main" id="{84F06A53-97D5-53BA-774E-09930A132BEC}"/>
                </a:ext>
              </a:extLst>
            </p:cNvPr>
            <p:cNvCxnSpPr>
              <a:cxnSpLocks/>
              <a:stCxn id="13" idx="2"/>
              <a:endCxn id="6" idx="0"/>
            </p:cNvCxnSpPr>
            <p:nvPr/>
          </p:nvCxnSpPr>
          <p:spPr bwMode="auto">
            <a:xfrm rot="16200000" flipH="1">
              <a:off x="10047395" y="4487638"/>
              <a:ext cx="261547" cy="1188478"/>
            </a:xfrm>
            <a:prstGeom prst="bentConnector3">
              <a:avLst>
                <a:gd name="adj1" fmla="val 50000"/>
              </a:avLst>
            </a:prstGeom>
            <a:ln w="12700">
              <a:headEnd type="none" w="med" len="med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1">
              <a:extLst>
                <a:ext uri="{FF2B5EF4-FFF2-40B4-BE49-F238E27FC236}">
                  <a16:creationId xmlns:a16="http://schemas.microsoft.com/office/drawing/2014/main" id="{3A8832E0-FAD7-6AD4-E13C-3412FD579992}"/>
                </a:ext>
              </a:extLst>
            </p:cNvPr>
            <p:cNvCxnSpPr>
              <a:cxnSpLocks/>
              <a:stCxn id="25" idx="2"/>
              <a:endCxn id="29" idx="0"/>
            </p:cNvCxnSpPr>
            <p:nvPr/>
          </p:nvCxnSpPr>
          <p:spPr bwMode="auto">
            <a:xfrm rot="16200000" flipH="1">
              <a:off x="10810130" y="5485041"/>
              <a:ext cx="204564" cy="556"/>
            </a:xfrm>
            <a:prstGeom prst="bentConnector3">
              <a:avLst>
                <a:gd name="adj1" fmla="val 50000"/>
              </a:avLst>
            </a:prstGeom>
            <a:ln w="12700">
              <a:headEnd type="none" w="med" len="med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7D911FE-E343-2854-ADC6-5D8F3FD417C8}"/>
              </a:ext>
            </a:extLst>
          </p:cNvPr>
          <p:cNvSpPr txBox="1"/>
          <p:nvPr/>
        </p:nvSpPr>
        <p:spPr>
          <a:xfrm>
            <a:off x="7852223" y="4249194"/>
            <a:ext cx="58669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1050" noProof="0" dirty="0"/>
              <a:t>prediction</a:t>
            </a:r>
          </a:p>
        </p:txBody>
      </p:sp>
      <p:cxnSp>
        <p:nvCxnSpPr>
          <p:cNvPr id="30" name="Straight Arrow Connector 21">
            <a:extLst>
              <a:ext uri="{FF2B5EF4-FFF2-40B4-BE49-F238E27FC236}">
                <a16:creationId xmlns:a16="http://schemas.microsoft.com/office/drawing/2014/main" id="{F58CB2AA-148D-8006-248A-81AC22C9D6FB}"/>
              </a:ext>
            </a:extLst>
          </p:cNvPr>
          <p:cNvCxnSpPr>
            <a:cxnSpLocks/>
            <a:stCxn id="10" idx="2"/>
            <a:endCxn id="31" idx="0"/>
          </p:cNvCxnSpPr>
          <p:nvPr/>
        </p:nvCxnSpPr>
        <p:spPr bwMode="auto">
          <a:xfrm rot="5400000">
            <a:off x="6173348" y="3437615"/>
            <a:ext cx="655186" cy="1840"/>
          </a:xfrm>
          <a:prstGeom prst="bentConnector3">
            <a:avLst>
              <a:gd name="adj1" fmla="val 50000"/>
            </a:avLst>
          </a:prstGeom>
          <a:ln w="12700">
            <a:headEnd type="none" w="med" len="med"/>
            <a:tailEnd type="triangle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C837EBC-D465-EDFF-C0E6-AA456A173A13}"/>
              </a:ext>
            </a:extLst>
          </p:cNvPr>
          <p:cNvSpPr txBox="1"/>
          <p:nvPr/>
        </p:nvSpPr>
        <p:spPr>
          <a:xfrm>
            <a:off x="6206671" y="3766128"/>
            <a:ext cx="58669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1050" noProof="0" dirty="0"/>
              <a:t>prediction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243451C-26F7-6089-182E-0907D791B855}"/>
              </a:ext>
            </a:extLst>
          </p:cNvPr>
          <p:cNvGrpSpPr/>
          <p:nvPr/>
        </p:nvGrpSpPr>
        <p:grpSpPr>
          <a:xfrm>
            <a:off x="6963874" y="1696002"/>
            <a:ext cx="599561" cy="550276"/>
            <a:chOff x="10355318" y="1397547"/>
            <a:chExt cx="799414" cy="804830"/>
          </a:xfrm>
        </p:grpSpPr>
        <p:sp>
          <p:nvSpPr>
            <p:cNvPr id="33" name="Flowchart: Summing Junction 32">
              <a:extLst>
                <a:ext uri="{FF2B5EF4-FFF2-40B4-BE49-F238E27FC236}">
                  <a16:creationId xmlns:a16="http://schemas.microsoft.com/office/drawing/2014/main" id="{B5874526-6B72-F8BB-B9D0-C99B4484DC62}"/>
                </a:ext>
              </a:extLst>
            </p:cNvPr>
            <p:cNvSpPr/>
            <p:nvPr/>
          </p:nvSpPr>
          <p:spPr bwMode="auto">
            <a:xfrm>
              <a:off x="10669427" y="1734679"/>
              <a:ext cx="236220" cy="236220"/>
            </a:xfrm>
            <a:prstGeom prst="flowChartSummingJunction">
              <a:avLst/>
            </a:prstGeom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 noProof="0">
                <a:solidFill>
                  <a:schemeClr val="tx1"/>
                </a:solidFill>
                <a:latin typeface="Times" charset="0"/>
                <a:ea typeface="ＭＳ Ｐゴシック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5B1F1D8-1EA1-CE4E-7EBB-4F7675933C5E}"/>
                </a:ext>
              </a:extLst>
            </p:cNvPr>
            <p:cNvSpPr txBox="1"/>
            <p:nvPr/>
          </p:nvSpPr>
          <p:spPr>
            <a:xfrm>
              <a:off x="10355318" y="1397547"/>
              <a:ext cx="250069" cy="2363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050" noProof="0"/>
                <a:t>PC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E0805F3-7D3D-1DB9-29E1-8AFE3DE54140}"/>
                </a:ext>
              </a:extLst>
            </p:cNvPr>
            <p:cNvSpPr txBox="1"/>
            <p:nvPr/>
          </p:nvSpPr>
          <p:spPr>
            <a:xfrm>
              <a:off x="10923900" y="1399432"/>
              <a:ext cx="230832" cy="2363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050" noProof="0"/>
                <a:t>H2</a:t>
              </a:r>
            </a:p>
          </p:txBody>
        </p:sp>
        <p:cxnSp>
          <p:nvCxnSpPr>
            <p:cNvPr id="36" name="Straight Arrow Connector 21">
              <a:extLst>
                <a:ext uri="{FF2B5EF4-FFF2-40B4-BE49-F238E27FC236}">
                  <a16:creationId xmlns:a16="http://schemas.microsoft.com/office/drawing/2014/main" id="{5281FC0F-A03F-6611-4B4B-F6DA89F5A8E9}"/>
                </a:ext>
              </a:extLst>
            </p:cNvPr>
            <p:cNvCxnSpPr>
              <a:stCxn id="34" idx="2"/>
              <a:endCxn id="33" idx="2"/>
            </p:cNvCxnSpPr>
            <p:nvPr/>
          </p:nvCxnSpPr>
          <p:spPr bwMode="auto">
            <a:xfrm rot="16200000" flipH="1">
              <a:off x="10465434" y="1648796"/>
              <a:ext cx="218912" cy="189074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7" name="Straight Arrow Connector 23">
              <a:extLst>
                <a:ext uri="{FF2B5EF4-FFF2-40B4-BE49-F238E27FC236}">
                  <a16:creationId xmlns:a16="http://schemas.microsoft.com/office/drawing/2014/main" id="{165F3839-84EB-D6C9-6360-3B7852AE1358}"/>
                </a:ext>
              </a:extLst>
            </p:cNvPr>
            <p:cNvCxnSpPr>
              <a:cxnSpLocks/>
              <a:stCxn id="35" idx="2"/>
              <a:endCxn id="33" idx="6"/>
            </p:cNvCxnSpPr>
            <p:nvPr/>
          </p:nvCxnSpPr>
          <p:spPr bwMode="auto">
            <a:xfrm rot="5400000">
              <a:off x="10863969" y="1677441"/>
              <a:ext cx="217027" cy="133669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8" name="Straight Arrow Connector 21">
              <a:extLst>
                <a:ext uri="{FF2B5EF4-FFF2-40B4-BE49-F238E27FC236}">
                  <a16:creationId xmlns:a16="http://schemas.microsoft.com/office/drawing/2014/main" id="{3DF18917-7D7F-16EF-F4D4-658044BA35EB}"/>
                </a:ext>
              </a:extLst>
            </p:cNvPr>
            <p:cNvCxnSpPr>
              <a:cxnSpLocks/>
              <a:stCxn id="33" idx="4"/>
            </p:cNvCxnSpPr>
            <p:nvPr/>
          </p:nvCxnSpPr>
          <p:spPr bwMode="auto">
            <a:xfrm rot="5400000">
              <a:off x="10670758" y="2085597"/>
              <a:ext cx="231470" cy="2089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E1F6169-8AFC-1C4C-C4BD-7BC390B65529}"/>
              </a:ext>
            </a:extLst>
          </p:cNvPr>
          <p:cNvGrpSpPr/>
          <p:nvPr/>
        </p:nvGrpSpPr>
        <p:grpSpPr>
          <a:xfrm>
            <a:off x="6187098" y="1732590"/>
            <a:ext cx="599561" cy="498563"/>
            <a:chOff x="10355318" y="1450712"/>
            <a:chExt cx="799414" cy="664751"/>
          </a:xfrm>
        </p:grpSpPr>
        <p:sp>
          <p:nvSpPr>
            <p:cNvPr id="40" name="Flowchart: Summing Junction 39">
              <a:extLst>
                <a:ext uri="{FF2B5EF4-FFF2-40B4-BE49-F238E27FC236}">
                  <a16:creationId xmlns:a16="http://schemas.microsoft.com/office/drawing/2014/main" id="{60FD36EB-FE95-C304-AE8B-1F5B8A3E9242}"/>
                </a:ext>
              </a:extLst>
            </p:cNvPr>
            <p:cNvSpPr/>
            <p:nvPr/>
          </p:nvSpPr>
          <p:spPr bwMode="auto">
            <a:xfrm>
              <a:off x="10667360" y="1716507"/>
              <a:ext cx="236220" cy="236220"/>
            </a:xfrm>
            <a:prstGeom prst="flowChartSummingJunction">
              <a:avLst/>
            </a:prstGeom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 noProof="0">
                <a:solidFill>
                  <a:schemeClr val="tx1"/>
                </a:solidFill>
                <a:latin typeface="Times" charset="0"/>
                <a:ea typeface="ＭＳ Ｐゴシック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73E1D2C-407A-2A60-53B1-E4071D46D453}"/>
                </a:ext>
              </a:extLst>
            </p:cNvPr>
            <p:cNvSpPr txBox="1"/>
            <p:nvPr/>
          </p:nvSpPr>
          <p:spPr>
            <a:xfrm>
              <a:off x="10355318" y="1450712"/>
              <a:ext cx="25006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050" noProof="0"/>
                <a:t>PC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47D293-0750-A127-0193-E72923E49EA8}"/>
                </a:ext>
              </a:extLst>
            </p:cNvPr>
            <p:cNvSpPr txBox="1"/>
            <p:nvPr/>
          </p:nvSpPr>
          <p:spPr>
            <a:xfrm>
              <a:off x="10923900" y="1456581"/>
              <a:ext cx="23083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1050" noProof="0"/>
                <a:t>H1</a:t>
              </a:r>
            </a:p>
          </p:txBody>
        </p:sp>
        <p:cxnSp>
          <p:nvCxnSpPr>
            <p:cNvPr id="43" name="Straight Arrow Connector 21">
              <a:extLst>
                <a:ext uri="{FF2B5EF4-FFF2-40B4-BE49-F238E27FC236}">
                  <a16:creationId xmlns:a16="http://schemas.microsoft.com/office/drawing/2014/main" id="{E5D9EEB5-D242-623D-515C-4AD1575D6E52}"/>
                </a:ext>
              </a:extLst>
            </p:cNvPr>
            <p:cNvCxnSpPr>
              <a:stCxn id="41" idx="2"/>
              <a:endCxn id="40" idx="2"/>
            </p:cNvCxnSpPr>
            <p:nvPr/>
          </p:nvCxnSpPr>
          <p:spPr bwMode="auto">
            <a:xfrm rot="16200000" flipH="1">
              <a:off x="10489626" y="1656883"/>
              <a:ext cx="168461" cy="187008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4" name="Straight Arrow Connector 23">
              <a:extLst>
                <a:ext uri="{FF2B5EF4-FFF2-40B4-BE49-F238E27FC236}">
                  <a16:creationId xmlns:a16="http://schemas.microsoft.com/office/drawing/2014/main" id="{13B4C02C-B522-87EF-8F4D-AC75953DD1ED}"/>
                </a:ext>
              </a:extLst>
            </p:cNvPr>
            <p:cNvCxnSpPr>
              <a:cxnSpLocks/>
              <a:stCxn id="42" idx="2"/>
              <a:endCxn id="40" idx="6"/>
            </p:cNvCxnSpPr>
            <p:nvPr/>
          </p:nvCxnSpPr>
          <p:spPr bwMode="auto">
            <a:xfrm rot="5400000">
              <a:off x="10890152" y="1685454"/>
              <a:ext cx="162592" cy="135736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5" name="Straight Arrow Connector 21">
              <a:extLst>
                <a:ext uri="{FF2B5EF4-FFF2-40B4-BE49-F238E27FC236}">
                  <a16:creationId xmlns:a16="http://schemas.microsoft.com/office/drawing/2014/main" id="{756151B5-DDA1-C1B8-5D67-BBD22D752982}"/>
                </a:ext>
              </a:extLst>
            </p:cNvPr>
            <p:cNvCxnSpPr>
              <a:cxnSpLocks/>
              <a:stCxn id="40" idx="4"/>
              <a:endCxn id="7" idx="0"/>
            </p:cNvCxnSpPr>
            <p:nvPr/>
          </p:nvCxnSpPr>
          <p:spPr bwMode="auto">
            <a:xfrm rot="5400000">
              <a:off x="10702105" y="2032098"/>
              <a:ext cx="162737" cy="3994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38C938AA-5925-2513-A04C-A20E35CF47AB}"/>
              </a:ext>
            </a:extLst>
          </p:cNvPr>
          <p:cNvSpPr/>
          <p:nvPr/>
        </p:nvSpPr>
        <p:spPr bwMode="auto">
          <a:xfrm>
            <a:off x="5764488" y="1463434"/>
            <a:ext cx="755791" cy="199024"/>
          </a:xfrm>
          <a:prstGeom prst="wedgeRectCallout">
            <a:avLst>
              <a:gd name="adj1" fmla="val 66786"/>
              <a:gd name="adj2" fmla="val 125191"/>
            </a:avLst>
          </a:prstGeom>
          <a:ln w="9525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050" noProof="0">
                <a:solidFill>
                  <a:schemeClr val="tx1"/>
                </a:solidFill>
                <a:latin typeface="Times" charset="0"/>
                <a:ea typeface="ＭＳ Ｐゴシック" charset="0"/>
              </a:rPr>
              <a:t>Short History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0B44BC-AC6B-CB29-E682-0485D5143A7F}"/>
              </a:ext>
            </a:extLst>
          </p:cNvPr>
          <p:cNvSpPr txBox="1"/>
          <p:nvPr/>
        </p:nvSpPr>
        <p:spPr>
          <a:xfrm>
            <a:off x="7597860" y="25049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noProof="0"/>
              <a:t>…</a:t>
            </a:r>
          </a:p>
        </p:txBody>
      </p:sp>
      <p:sp>
        <p:nvSpPr>
          <p:cNvPr id="48" name="Speech Bubble: Rectangle 47">
            <a:extLst>
              <a:ext uri="{FF2B5EF4-FFF2-40B4-BE49-F238E27FC236}">
                <a16:creationId xmlns:a16="http://schemas.microsoft.com/office/drawing/2014/main" id="{1A6B7D7B-DEC2-1707-2641-B54D4B454F22}"/>
              </a:ext>
            </a:extLst>
          </p:cNvPr>
          <p:cNvSpPr/>
          <p:nvPr/>
        </p:nvSpPr>
        <p:spPr bwMode="auto">
          <a:xfrm>
            <a:off x="8392992" y="1425712"/>
            <a:ext cx="751009" cy="189752"/>
          </a:xfrm>
          <a:prstGeom prst="wedgeRectCallout">
            <a:avLst>
              <a:gd name="adj1" fmla="val -36584"/>
              <a:gd name="adj2" fmla="val 121995"/>
            </a:avLst>
          </a:prstGeom>
          <a:ln w="9525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050" noProof="0">
                <a:solidFill>
                  <a:schemeClr val="tx1"/>
                </a:solidFill>
                <a:latin typeface="Times" charset="0"/>
                <a:ea typeface="ＭＳ Ｐゴシック" charset="0"/>
              </a:rPr>
              <a:t>Long History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6F3D13D-607A-0087-69DA-63B81D451B90}"/>
              </a:ext>
            </a:extLst>
          </p:cNvPr>
          <p:cNvSpPr/>
          <p:nvPr/>
        </p:nvSpPr>
        <p:spPr bwMode="auto">
          <a:xfrm>
            <a:off x="5506805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F434CD8-F52B-3735-4066-6A1494EB6E9D}"/>
              </a:ext>
            </a:extLst>
          </p:cNvPr>
          <p:cNvSpPr/>
          <p:nvPr/>
        </p:nvSpPr>
        <p:spPr bwMode="auto">
          <a:xfrm>
            <a:off x="5633032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A0EE53-AD85-0B94-2DD6-935D0912A772}"/>
              </a:ext>
            </a:extLst>
          </p:cNvPr>
          <p:cNvSpPr/>
          <p:nvPr/>
        </p:nvSpPr>
        <p:spPr bwMode="auto">
          <a:xfrm>
            <a:off x="5759258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0E6C895-8C7D-0D04-66C0-01A16C826C7E}"/>
              </a:ext>
            </a:extLst>
          </p:cNvPr>
          <p:cNvSpPr/>
          <p:nvPr/>
        </p:nvSpPr>
        <p:spPr bwMode="auto">
          <a:xfrm>
            <a:off x="5885485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2EF4EC6-28AB-5B54-0132-C2D66885A27D}"/>
              </a:ext>
            </a:extLst>
          </p:cNvPr>
          <p:cNvSpPr/>
          <p:nvPr/>
        </p:nvSpPr>
        <p:spPr bwMode="auto">
          <a:xfrm>
            <a:off x="6011711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35C6EBD-AFC4-A9E3-5E80-B24EF14C1F9E}"/>
              </a:ext>
            </a:extLst>
          </p:cNvPr>
          <p:cNvSpPr/>
          <p:nvPr/>
        </p:nvSpPr>
        <p:spPr bwMode="auto">
          <a:xfrm>
            <a:off x="6137938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5FD8D7-22C0-8C52-2CFA-6714EE03FD5F}"/>
              </a:ext>
            </a:extLst>
          </p:cNvPr>
          <p:cNvSpPr/>
          <p:nvPr/>
        </p:nvSpPr>
        <p:spPr bwMode="auto">
          <a:xfrm>
            <a:off x="6516617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5A01E4A-7379-A1C5-D146-3FF074A60BD1}"/>
              </a:ext>
            </a:extLst>
          </p:cNvPr>
          <p:cNvSpPr/>
          <p:nvPr/>
        </p:nvSpPr>
        <p:spPr bwMode="auto">
          <a:xfrm>
            <a:off x="6390391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B5ADCA0-9B07-56D8-64FF-7C04CE5B7968}"/>
              </a:ext>
            </a:extLst>
          </p:cNvPr>
          <p:cNvSpPr/>
          <p:nvPr/>
        </p:nvSpPr>
        <p:spPr bwMode="auto">
          <a:xfrm>
            <a:off x="6642844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25D0BDC-3DFA-6A91-E02B-BF71E2C85D92}"/>
              </a:ext>
            </a:extLst>
          </p:cNvPr>
          <p:cNvSpPr/>
          <p:nvPr/>
        </p:nvSpPr>
        <p:spPr bwMode="auto">
          <a:xfrm>
            <a:off x="6264164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05BF569-DCBD-4267-3E2C-CBAFE7F1364D}"/>
              </a:ext>
            </a:extLst>
          </p:cNvPr>
          <p:cNvSpPr/>
          <p:nvPr/>
        </p:nvSpPr>
        <p:spPr bwMode="auto">
          <a:xfrm>
            <a:off x="6769070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8D4C72-49F8-1E14-0683-07E9929A2B24}"/>
              </a:ext>
            </a:extLst>
          </p:cNvPr>
          <p:cNvSpPr/>
          <p:nvPr/>
        </p:nvSpPr>
        <p:spPr bwMode="auto">
          <a:xfrm>
            <a:off x="6895297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D0FCF4-F941-166A-8BB5-727A6507D52F}"/>
              </a:ext>
            </a:extLst>
          </p:cNvPr>
          <p:cNvSpPr/>
          <p:nvPr/>
        </p:nvSpPr>
        <p:spPr bwMode="auto">
          <a:xfrm>
            <a:off x="7021523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A510354-FA30-575F-1B59-52E4A8D3F3FD}"/>
              </a:ext>
            </a:extLst>
          </p:cNvPr>
          <p:cNvSpPr/>
          <p:nvPr/>
        </p:nvSpPr>
        <p:spPr bwMode="auto">
          <a:xfrm>
            <a:off x="7147750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BB2DD00-4D93-8A9C-B25E-04129972B20D}"/>
              </a:ext>
            </a:extLst>
          </p:cNvPr>
          <p:cNvSpPr/>
          <p:nvPr/>
        </p:nvSpPr>
        <p:spPr bwMode="auto">
          <a:xfrm>
            <a:off x="7273978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8D15828-A081-AE38-53A1-ED21E6F2031F}"/>
              </a:ext>
            </a:extLst>
          </p:cNvPr>
          <p:cNvSpPr/>
          <p:nvPr/>
        </p:nvSpPr>
        <p:spPr bwMode="auto">
          <a:xfrm>
            <a:off x="7652656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BDA293E-9FA7-3575-8DFF-324448BFA69C}"/>
              </a:ext>
            </a:extLst>
          </p:cNvPr>
          <p:cNvSpPr/>
          <p:nvPr/>
        </p:nvSpPr>
        <p:spPr bwMode="auto">
          <a:xfrm>
            <a:off x="7526429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A64CC1B-BAD1-4C41-A7E0-5A5F6D28BCDD}"/>
              </a:ext>
            </a:extLst>
          </p:cNvPr>
          <p:cNvSpPr/>
          <p:nvPr/>
        </p:nvSpPr>
        <p:spPr bwMode="auto">
          <a:xfrm>
            <a:off x="7778882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DB6CA81-D8CA-CEB6-A319-27728BC0E9D8}"/>
              </a:ext>
            </a:extLst>
          </p:cNvPr>
          <p:cNvSpPr/>
          <p:nvPr/>
        </p:nvSpPr>
        <p:spPr bwMode="auto">
          <a:xfrm>
            <a:off x="7400203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9A42520-4761-B39E-5ACD-F40EEF185871}"/>
              </a:ext>
            </a:extLst>
          </p:cNvPr>
          <p:cNvSpPr/>
          <p:nvPr/>
        </p:nvSpPr>
        <p:spPr bwMode="auto">
          <a:xfrm>
            <a:off x="7905109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7A45D6D-1EAA-0DDA-623A-D083A244CF38}"/>
              </a:ext>
            </a:extLst>
          </p:cNvPr>
          <p:cNvSpPr/>
          <p:nvPr/>
        </p:nvSpPr>
        <p:spPr bwMode="auto">
          <a:xfrm>
            <a:off x="8031335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256C2F1-6B06-0AB2-ED1B-9DF047061822}"/>
              </a:ext>
            </a:extLst>
          </p:cNvPr>
          <p:cNvSpPr/>
          <p:nvPr/>
        </p:nvSpPr>
        <p:spPr bwMode="auto">
          <a:xfrm>
            <a:off x="8157562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18AFB3A-9A46-8AB6-A68F-0C731ABC2618}"/>
              </a:ext>
            </a:extLst>
          </p:cNvPr>
          <p:cNvSpPr/>
          <p:nvPr/>
        </p:nvSpPr>
        <p:spPr bwMode="auto">
          <a:xfrm>
            <a:off x="8283788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02C84C8-5F91-078F-CC75-152F70DE581D}"/>
              </a:ext>
            </a:extLst>
          </p:cNvPr>
          <p:cNvSpPr/>
          <p:nvPr/>
        </p:nvSpPr>
        <p:spPr bwMode="auto">
          <a:xfrm>
            <a:off x="8410016" y="1172335"/>
            <a:ext cx="127635" cy="199023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29DE08E-7403-0CE6-C23A-6B6C25937223}"/>
              </a:ext>
            </a:extLst>
          </p:cNvPr>
          <p:cNvSpPr/>
          <p:nvPr/>
        </p:nvSpPr>
        <p:spPr bwMode="auto">
          <a:xfrm>
            <a:off x="6049633" y="683750"/>
            <a:ext cx="1999196" cy="273843"/>
          </a:xfrm>
          <a:prstGeom prst="rect">
            <a:avLst/>
          </a:prstGeom>
          <a:ln w="19050">
            <a:noFill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050" noProof="0">
                <a:solidFill>
                  <a:schemeClr val="tx1"/>
                </a:solidFill>
                <a:latin typeface="Times" charset="0"/>
                <a:ea typeface="ＭＳ Ｐゴシック" charset="0"/>
              </a:rPr>
              <a:t>Global Branch History</a:t>
            </a:r>
            <a:endParaRPr lang="en-GB" sz="15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75" name="Left Brace 74">
            <a:extLst>
              <a:ext uri="{FF2B5EF4-FFF2-40B4-BE49-F238E27FC236}">
                <a16:creationId xmlns:a16="http://schemas.microsoft.com/office/drawing/2014/main" id="{9A65ABB6-2EA2-6AAA-25E8-F5BFA2B9DC47}"/>
              </a:ext>
            </a:extLst>
          </p:cNvPr>
          <p:cNvSpPr/>
          <p:nvPr/>
        </p:nvSpPr>
        <p:spPr bwMode="auto">
          <a:xfrm rot="5400000">
            <a:off x="6805473" y="-566354"/>
            <a:ext cx="199024" cy="3244363"/>
          </a:xfrm>
          <a:prstGeom prst="leftBrace">
            <a:avLst>
              <a:gd name="adj1" fmla="val 8333"/>
              <a:gd name="adj2" fmla="val 48839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8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B3391A2-8B55-30A9-2D85-121AEC71AC0D}"/>
              </a:ext>
            </a:extLst>
          </p:cNvPr>
          <p:cNvGrpSpPr/>
          <p:nvPr/>
        </p:nvGrpSpPr>
        <p:grpSpPr>
          <a:xfrm>
            <a:off x="8132272" y="1151563"/>
            <a:ext cx="421481" cy="228323"/>
            <a:chOff x="11001375" y="1656750"/>
            <a:chExt cx="561975" cy="30443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3A7F2FD-CF15-C2C0-A26A-0D13FDD3F525}"/>
                </a:ext>
              </a:extLst>
            </p:cNvPr>
            <p:cNvSpPr/>
            <p:nvPr/>
          </p:nvSpPr>
          <p:spPr bwMode="auto">
            <a:xfrm>
              <a:off x="11001375" y="1656750"/>
              <a:ext cx="561975" cy="30443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 noProof="0">
                <a:solidFill>
                  <a:schemeClr val="tx1"/>
                </a:solidFill>
                <a:latin typeface="Times" charset="0"/>
                <a:ea typeface="ＭＳ Ｐゴシック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B471B26-BC55-DF3C-B317-8FCB4BCEFAF2}"/>
                </a:ext>
              </a:extLst>
            </p:cNvPr>
            <p:cNvSpPr/>
            <p:nvPr/>
          </p:nvSpPr>
          <p:spPr bwMode="auto">
            <a:xfrm>
              <a:off x="11029149" y="1677413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FF7B376-E0F2-3B4A-9A82-52141BF3B437}"/>
                </a:ext>
              </a:extLst>
            </p:cNvPr>
            <p:cNvSpPr/>
            <p:nvPr/>
          </p:nvSpPr>
          <p:spPr bwMode="auto">
            <a:xfrm>
              <a:off x="11197451" y="1677413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592E91B-57AA-88B9-FC9A-8D2E31A896BE}"/>
                </a:ext>
              </a:extLst>
            </p:cNvPr>
            <p:cNvSpPr/>
            <p:nvPr/>
          </p:nvSpPr>
          <p:spPr bwMode="auto">
            <a:xfrm>
              <a:off x="11365755" y="1677413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A5A67F9-947E-C9E2-085C-A23A2EFBE7A0}"/>
              </a:ext>
            </a:extLst>
          </p:cNvPr>
          <p:cNvGrpSpPr/>
          <p:nvPr/>
        </p:nvGrpSpPr>
        <p:grpSpPr>
          <a:xfrm>
            <a:off x="7626316" y="1150530"/>
            <a:ext cx="928149" cy="228323"/>
            <a:chOff x="10563226" y="2045064"/>
            <a:chExt cx="1237532" cy="30443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4CC415F-70DC-B7B5-9995-27D102FEEAD8}"/>
                </a:ext>
              </a:extLst>
            </p:cNvPr>
            <p:cNvSpPr/>
            <p:nvPr/>
          </p:nvSpPr>
          <p:spPr bwMode="auto">
            <a:xfrm>
              <a:off x="10563226" y="2045064"/>
              <a:ext cx="1237532" cy="30443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 noProof="0">
                <a:solidFill>
                  <a:schemeClr val="tx1"/>
                </a:solidFill>
                <a:latin typeface="Times" charset="0"/>
                <a:ea typeface="ＭＳ Ｐゴシック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9A85FE4-25BC-4D37-2ED3-EEC6B32A4867}"/>
                </a:ext>
              </a:extLst>
            </p:cNvPr>
            <p:cNvSpPr/>
            <p:nvPr/>
          </p:nvSpPr>
          <p:spPr bwMode="auto">
            <a:xfrm>
              <a:off x="10591892" y="2064468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EB68AC4-D8AA-91DE-B4E1-9197B8962F69}"/>
                </a:ext>
              </a:extLst>
            </p:cNvPr>
            <p:cNvSpPr/>
            <p:nvPr/>
          </p:nvSpPr>
          <p:spPr bwMode="auto">
            <a:xfrm>
              <a:off x="10760194" y="2064468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3BDAA59-FC71-AF41-4BCE-49C0B2706AC8}"/>
                </a:ext>
              </a:extLst>
            </p:cNvPr>
            <p:cNvSpPr/>
            <p:nvPr/>
          </p:nvSpPr>
          <p:spPr bwMode="auto">
            <a:xfrm>
              <a:off x="10928496" y="2064468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2C84CA6-1939-A75F-AAE3-0B471F01CE88}"/>
                </a:ext>
              </a:extLst>
            </p:cNvPr>
            <p:cNvSpPr/>
            <p:nvPr/>
          </p:nvSpPr>
          <p:spPr bwMode="auto">
            <a:xfrm>
              <a:off x="11096798" y="2064468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EC9153B-AB58-4CAF-E229-ED903AC0013C}"/>
                </a:ext>
              </a:extLst>
            </p:cNvPr>
            <p:cNvSpPr/>
            <p:nvPr/>
          </p:nvSpPr>
          <p:spPr bwMode="auto">
            <a:xfrm>
              <a:off x="11265100" y="2064468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15B8D1A-3BD9-2AEF-7262-484A02740E79}"/>
                </a:ext>
              </a:extLst>
            </p:cNvPr>
            <p:cNvSpPr/>
            <p:nvPr/>
          </p:nvSpPr>
          <p:spPr bwMode="auto">
            <a:xfrm>
              <a:off x="11433402" y="2064468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1DDE8FD-17F0-2F55-8CE6-EE58E32AA47B}"/>
                </a:ext>
              </a:extLst>
            </p:cNvPr>
            <p:cNvSpPr/>
            <p:nvPr/>
          </p:nvSpPr>
          <p:spPr bwMode="auto">
            <a:xfrm>
              <a:off x="11601706" y="2064468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C5E1B49-DD98-CE13-5D92-169FA096CC2D}"/>
              </a:ext>
            </a:extLst>
          </p:cNvPr>
          <p:cNvGrpSpPr/>
          <p:nvPr/>
        </p:nvGrpSpPr>
        <p:grpSpPr>
          <a:xfrm>
            <a:off x="6244569" y="1157741"/>
            <a:ext cx="2311268" cy="228323"/>
            <a:chOff x="9001125" y="2808084"/>
            <a:chExt cx="3081691" cy="304430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075A2B1-D86A-6C77-327E-454583246841}"/>
                </a:ext>
              </a:extLst>
            </p:cNvPr>
            <p:cNvSpPr/>
            <p:nvPr/>
          </p:nvSpPr>
          <p:spPr bwMode="auto">
            <a:xfrm>
              <a:off x="9001125" y="2808084"/>
              <a:ext cx="3081691" cy="30443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 noProof="0">
                <a:solidFill>
                  <a:schemeClr val="tx1"/>
                </a:solidFill>
                <a:latin typeface="Times" charset="0"/>
                <a:ea typeface="ＭＳ Ｐゴシック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C7D5902-973C-CB2E-5C73-AE638BE742E0}"/>
                </a:ext>
              </a:extLst>
            </p:cNvPr>
            <p:cNvSpPr/>
            <p:nvPr/>
          </p:nvSpPr>
          <p:spPr bwMode="auto">
            <a:xfrm>
              <a:off x="9362031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E1DB5E0-C89B-6A18-022B-81881E293C0A}"/>
                </a:ext>
              </a:extLst>
            </p:cNvPr>
            <p:cNvSpPr/>
            <p:nvPr/>
          </p:nvSpPr>
          <p:spPr bwMode="auto">
            <a:xfrm>
              <a:off x="9193729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E0316D6-7F8C-9D1D-655F-D21C02D728A6}"/>
                </a:ext>
              </a:extLst>
            </p:cNvPr>
            <p:cNvSpPr/>
            <p:nvPr/>
          </p:nvSpPr>
          <p:spPr bwMode="auto">
            <a:xfrm>
              <a:off x="9530333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86A377F-90DC-0C72-BB61-1575E5B0B67F}"/>
                </a:ext>
              </a:extLst>
            </p:cNvPr>
            <p:cNvSpPr/>
            <p:nvPr/>
          </p:nvSpPr>
          <p:spPr bwMode="auto">
            <a:xfrm>
              <a:off x="9025427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0478304-E834-03E3-0E1A-887D51E7B727}"/>
                </a:ext>
              </a:extLst>
            </p:cNvPr>
            <p:cNvSpPr/>
            <p:nvPr/>
          </p:nvSpPr>
          <p:spPr bwMode="auto">
            <a:xfrm>
              <a:off x="9698635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75E67CE-8EDB-0FF5-7E17-1480E94B7D6B}"/>
                </a:ext>
              </a:extLst>
            </p:cNvPr>
            <p:cNvSpPr/>
            <p:nvPr/>
          </p:nvSpPr>
          <p:spPr bwMode="auto">
            <a:xfrm>
              <a:off x="9866937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46D9C71-6220-7055-D2DA-45744FAF59D3}"/>
                </a:ext>
              </a:extLst>
            </p:cNvPr>
            <p:cNvSpPr/>
            <p:nvPr/>
          </p:nvSpPr>
          <p:spPr bwMode="auto">
            <a:xfrm>
              <a:off x="10035239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7F69168-FF83-0B36-DA0C-4076891713C6}"/>
                </a:ext>
              </a:extLst>
            </p:cNvPr>
            <p:cNvSpPr/>
            <p:nvPr/>
          </p:nvSpPr>
          <p:spPr bwMode="auto">
            <a:xfrm>
              <a:off x="10203541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924F177-72C2-DC3E-47B3-0A01251D7F24}"/>
                </a:ext>
              </a:extLst>
            </p:cNvPr>
            <p:cNvSpPr/>
            <p:nvPr/>
          </p:nvSpPr>
          <p:spPr bwMode="auto">
            <a:xfrm>
              <a:off x="10371845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3E3260C-06CC-0B1B-F2FE-C6DC60A3A68F}"/>
                </a:ext>
              </a:extLst>
            </p:cNvPr>
            <p:cNvSpPr/>
            <p:nvPr/>
          </p:nvSpPr>
          <p:spPr bwMode="auto">
            <a:xfrm>
              <a:off x="10876749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298EE4A-8F8B-11D0-73AC-9C29EF2ECCC4}"/>
                </a:ext>
              </a:extLst>
            </p:cNvPr>
            <p:cNvSpPr/>
            <p:nvPr/>
          </p:nvSpPr>
          <p:spPr bwMode="auto">
            <a:xfrm>
              <a:off x="10708447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669C56D-FEAA-7293-86D9-BF94118608D2}"/>
                </a:ext>
              </a:extLst>
            </p:cNvPr>
            <p:cNvSpPr/>
            <p:nvPr/>
          </p:nvSpPr>
          <p:spPr bwMode="auto">
            <a:xfrm>
              <a:off x="11045051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23737C1-B39E-D199-1D12-7A041A1D2BDF}"/>
                </a:ext>
              </a:extLst>
            </p:cNvPr>
            <p:cNvSpPr/>
            <p:nvPr/>
          </p:nvSpPr>
          <p:spPr bwMode="auto">
            <a:xfrm>
              <a:off x="10540145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95D8719-FDC3-889D-C3C7-85782C66E530}"/>
                </a:ext>
              </a:extLst>
            </p:cNvPr>
            <p:cNvSpPr/>
            <p:nvPr/>
          </p:nvSpPr>
          <p:spPr bwMode="auto">
            <a:xfrm>
              <a:off x="11213353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5F0CFDB-FC84-0DE7-98FD-FC4A6E8495F7}"/>
                </a:ext>
              </a:extLst>
            </p:cNvPr>
            <p:cNvSpPr/>
            <p:nvPr/>
          </p:nvSpPr>
          <p:spPr bwMode="auto">
            <a:xfrm>
              <a:off x="11381655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06F0454-42F9-0083-4A81-D2EDFBF7CC99}"/>
                </a:ext>
              </a:extLst>
            </p:cNvPr>
            <p:cNvSpPr/>
            <p:nvPr/>
          </p:nvSpPr>
          <p:spPr bwMode="auto">
            <a:xfrm>
              <a:off x="11549957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E054BDF-A0C7-9D7B-2AD9-516B0C761259}"/>
                </a:ext>
              </a:extLst>
            </p:cNvPr>
            <p:cNvSpPr/>
            <p:nvPr/>
          </p:nvSpPr>
          <p:spPr bwMode="auto">
            <a:xfrm>
              <a:off x="11718259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F949763-DFA4-475D-2CAE-F9E3BD2FB392}"/>
                </a:ext>
              </a:extLst>
            </p:cNvPr>
            <p:cNvSpPr/>
            <p:nvPr/>
          </p:nvSpPr>
          <p:spPr bwMode="auto">
            <a:xfrm>
              <a:off x="11886563" y="2827469"/>
              <a:ext cx="170180" cy="265364"/>
            </a:xfrm>
            <a:prstGeom prst="rect">
              <a:avLst/>
            </a:prstGeom>
            <a:noFill/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500" noProof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0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2FA2B633-BF6B-83A1-966E-E0DC0BBB8127}"/>
              </a:ext>
            </a:extLst>
          </p:cNvPr>
          <p:cNvSpPr txBox="1"/>
          <p:nvPr/>
        </p:nvSpPr>
        <p:spPr>
          <a:xfrm>
            <a:off x="5186145" y="10673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noProof="0"/>
              <a:t>…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614E885-09CB-2543-8880-00B979C34D7D}"/>
              </a:ext>
            </a:extLst>
          </p:cNvPr>
          <p:cNvSpPr/>
          <p:nvPr/>
        </p:nvSpPr>
        <p:spPr bwMode="auto">
          <a:xfrm>
            <a:off x="8551214" y="1165712"/>
            <a:ext cx="127635" cy="199023"/>
          </a:xfrm>
          <a:prstGeom prst="rect">
            <a:avLst/>
          </a:prstGeom>
          <a:solidFill>
            <a:srgbClr val="C0000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5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?</a:t>
            </a:r>
          </a:p>
        </p:txBody>
      </p:sp>
      <p:sp>
        <p:nvSpPr>
          <p:cNvPr id="112" name="Speech Bubble: Rectangle 111">
            <a:extLst>
              <a:ext uri="{FF2B5EF4-FFF2-40B4-BE49-F238E27FC236}">
                <a16:creationId xmlns:a16="http://schemas.microsoft.com/office/drawing/2014/main" id="{CB978B96-194B-7CDC-3F9F-79C6DE35154B}"/>
              </a:ext>
            </a:extLst>
          </p:cNvPr>
          <p:cNvSpPr/>
          <p:nvPr/>
        </p:nvSpPr>
        <p:spPr bwMode="auto">
          <a:xfrm>
            <a:off x="8511381" y="542878"/>
            <a:ext cx="582328" cy="362378"/>
          </a:xfrm>
          <a:prstGeom prst="wedgeRectCallout">
            <a:avLst>
              <a:gd name="adj1" fmla="val -33410"/>
              <a:gd name="adj2" fmla="val 115732"/>
            </a:avLst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050" b="1" noProof="0">
                <a:solidFill>
                  <a:schemeClr val="tx1"/>
                </a:solidFill>
                <a:latin typeface="Times" charset="0"/>
                <a:ea typeface="ＭＳ Ｐゴシック" charset="0"/>
              </a:rPr>
              <a:t>Next branch </a:t>
            </a:r>
          </a:p>
        </p:txBody>
      </p:sp>
      <p:sp>
        <p:nvSpPr>
          <p:cNvPr id="113" name="Footer Placeholder 112">
            <a:extLst>
              <a:ext uri="{FF2B5EF4-FFF2-40B4-BE49-F238E27FC236}">
                <a16:creationId xmlns:a16="http://schemas.microsoft.com/office/drawing/2014/main" id="{183E8AF0-E40B-B409-A5AC-F107E75B7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/>
              <a:t>HPCA'26: The Last-Level Branch Predictor Revisited</a:t>
            </a:r>
          </a:p>
        </p:txBody>
      </p:sp>
      <p:sp>
        <p:nvSpPr>
          <p:cNvPr id="118" name="Text Placeholder 5">
            <a:extLst>
              <a:ext uri="{FF2B5EF4-FFF2-40B4-BE49-F238E27FC236}">
                <a16:creationId xmlns:a16="http://schemas.microsoft.com/office/drawing/2014/main" id="{4C8B4E72-50B1-C4D0-48DF-C9FF75AC4FDA}"/>
              </a:ext>
            </a:extLst>
          </p:cNvPr>
          <p:cNvSpPr txBox="1">
            <a:spLocks/>
          </p:cNvSpPr>
          <p:nvPr/>
        </p:nvSpPr>
        <p:spPr>
          <a:xfrm>
            <a:off x="251460" y="4419600"/>
            <a:ext cx="8641080" cy="49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ndara"/>
              <a:buNone/>
              <a:defRPr sz="1800" b="0" i="0" u="none" strike="noStrike" cap="none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r>
              <a:rPr lang="en-GB" sz="2000" noProof="0"/>
              <a:t>What are the challenges with TAGE?</a:t>
            </a:r>
          </a:p>
        </p:txBody>
      </p:sp>
      <p:sp>
        <p:nvSpPr>
          <p:cNvPr id="122" name="Speech Bubble: Rectangle 121">
            <a:extLst>
              <a:ext uri="{FF2B5EF4-FFF2-40B4-BE49-F238E27FC236}">
                <a16:creationId xmlns:a16="http://schemas.microsoft.com/office/drawing/2014/main" id="{086DD3AD-C2BF-4D8F-B654-8E9891A85E23}"/>
              </a:ext>
            </a:extLst>
          </p:cNvPr>
          <p:cNvSpPr/>
          <p:nvPr/>
        </p:nvSpPr>
        <p:spPr bwMode="auto">
          <a:xfrm>
            <a:off x="4692527" y="3868032"/>
            <a:ext cx="1104941" cy="147877"/>
          </a:xfrm>
          <a:prstGeom prst="wedgeRectCallout">
            <a:avLst>
              <a:gd name="adj1" fmla="val 38546"/>
              <a:gd name="adj2" fmla="val -284970"/>
            </a:avLst>
          </a:prstGeom>
          <a:ln w="9525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050" noProof="0" dirty="0">
                <a:solidFill>
                  <a:schemeClr val="tx1"/>
                </a:solidFill>
                <a:latin typeface="+mj-lt"/>
                <a:ea typeface="ＭＳ Ｐゴシック" charset="0"/>
              </a:rPr>
              <a:t>Prediction counter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18675A8-E9E5-D9A2-A697-51141066E06A}"/>
              </a:ext>
            </a:extLst>
          </p:cNvPr>
          <p:cNvCxnSpPr>
            <a:cxnSpLocks/>
          </p:cNvCxnSpPr>
          <p:nvPr/>
        </p:nvCxnSpPr>
        <p:spPr>
          <a:xfrm flipV="1">
            <a:off x="4889500" y="2986088"/>
            <a:ext cx="1273175" cy="309562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B15023D9-5ACD-121F-D227-DF921DAFA2AA}"/>
              </a:ext>
            </a:extLst>
          </p:cNvPr>
          <p:cNvCxnSpPr>
            <a:cxnSpLocks/>
          </p:cNvCxnSpPr>
          <p:nvPr/>
        </p:nvCxnSpPr>
        <p:spPr>
          <a:xfrm flipV="1">
            <a:off x="6013450" y="2971116"/>
            <a:ext cx="819437" cy="334059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Speech Bubble: Rectangle 129">
            <a:extLst>
              <a:ext uri="{FF2B5EF4-FFF2-40B4-BE49-F238E27FC236}">
                <a16:creationId xmlns:a16="http://schemas.microsoft.com/office/drawing/2014/main" id="{0D884286-05C3-6C7A-1EBE-15E92F2A4D8D}"/>
              </a:ext>
            </a:extLst>
          </p:cNvPr>
          <p:cNvSpPr/>
          <p:nvPr/>
        </p:nvSpPr>
        <p:spPr bwMode="auto">
          <a:xfrm>
            <a:off x="5713835" y="4099717"/>
            <a:ext cx="614146" cy="147877"/>
          </a:xfrm>
          <a:prstGeom prst="wedgeRectCallout">
            <a:avLst>
              <a:gd name="adj1" fmla="val -16225"/>
              <a:gd name="adj2" fmla="val -452976"/>
            </a:avLst>
          </a:prstGeom>
          <a:ln w="9525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050" noProof="0" dirty="0">
                <a:solidFill>
                  <a:schemeClr val="tx1"/>
                </a:solidFill>
                <a:latin typeface="+mj-lt"/>
                <a:ea typeface="ＭＳ Ｐゴシック" charset="0"/>
              </a:rPr>
              <a:t>Useful bit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E96137D-A920-53EA-6369-3D238F0CBA6F}"/>
              </a:ext>
            </a:extLst>
          </p:cNvPr>
          <p:cNvGrpSpPr/>
          <p:nvPr/>
        </p:nvGrpSpPr>
        <p:grpSpPr>
          <a:xfrm>
            <a:off x="4874144" y="3131583"/>
            <a:ext cx="1141559" cy="373390"/>
            <a:chOff x="4874144" y="3131583"/>
            <a:chExt cx="1141559" cy="37339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9F317AA-025A-0AEA-A8E9-E174B5036A64}"/>
                </a:ext>
              </a:extLst>
            </p:cNvPr>
            <p:cNvSpPr/>
            <p:nvPr/>
          </p:nvSpPr>
          <p:spPr bwMode="auto">
            <a:xfrm>
              <a:off x="5506805" y="3303256"/>
              <a:ext cx="329011" cy="20171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200" noProof="0" dirty="0" err="1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ctr</a:t>
              </a:r>
              <a:endParaRPr lang="en-GB" sz="12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559940A5-75D6-DFA4-7D47-0023F3FDFC51}"/>
                </a:ext>
              </a:extLst>
            </p:cNvPr>
            <p:cNvSpPr/>
            <p:nvPr/>
          </p:nvSpPr>
          <p:spPr bwMode="auto">
            <a:xfrm>
              <a:off x="5835816" y="3303255"/>
              <a:ext cx="179887" cy="20171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200" noProof="0" dirty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u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52FDAA8-156D-3DDB-26DE-BAF92249D4A0}"/>
                </a:ext>
              </a:extLst>
            </p:cNvPr>
            <p:cNvSpPr/>
            <p:nvPr/>
          </p:nvSpPr>
          <p:spPr bwMode="auto">
            <a:xfrm>
              <a:off x="4874144" y="3303256"/>
              <a:ext cx="632661" cy="20171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GB" sz="1200" noProof="0" dirty="0">
                  <a:solidFill>
                    <a:schemeClr val="tx1"/>
                  </a:solidFill>
                  <a:latin typeface="Consolas" panose="020B0609020204030204" pitchFamily="49" charset="0"/>
                  <a:ea typeface="ＭＳ Ｐゴシック" charset="0"/>
                </a:rPr>
                <a:t>tag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9FE7792-12E6-B737-8EF6-169968717395}"/>
                </a:ext>
              </a:extLst>
            </p:cNvPr>
            <p:cNvSpPr txBox="1"/>
            <p:nvPr/>
          </p:nvSpPr>
          <p:spPr>
            <a:xfrm>
              <a:off x="4877414" y="3131583"/>
              <a:ext cx="1134427" cy="1538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000" dirty="0"/>
                <a:t>Prediction pattern</a:t>
              </a:r>
            </a:p>
          </p:txBody>
        </p:sp>
      </p:grpSp>
      <p:sp>
        <p:nvSpPr>
          <p:cNvPr id="133" name="Speech Bubble: Rectangle 132">
            <a:extLst>
              <a:ext uri="{FF2B5EF4-FFF2-40B4-BE49-F238E27FC236}">
                <a16:creationId xmlns:a16="http://schemas.microsoft.com/office/drawing/2014/main" id="{D11B8856-BBBE-914F-57D2-696EACFA70A3}"/>
              </a:ext>
            </a:extLst>
          </p:cNvPr>
          <p:cNvSpPr/>
          <p:nvPr/>
        </p:nvSpPr>
        <p:spPr bwMode="auto">
          <a:xfrm>
            <a:off x="4344886" y="3654660"/>
            <a:ext cx="985837" cy="147877"/>
          </a:xfrm>
          <a:prstGeom prst="wedgeRectCallout">
            <a:avLst>
              <a:gd name="adj1" fmla="val 35408"/>
              <a:gd name="adj2" fmla="val -147022"/>
            </a:avLst>
          </a:prstGeom>
          <a:ln w="9525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050" noProof="0" dirty="0">
                <a:solidFill>
                  <a:schemeClr val="tx1"/>
                </a:solidFill>
                <a:latin typeface="+mj-lt"/>
                <a:ea typeface="ＭＳ Ｐゴシック" charset="0"/>
              </a:rPr>
              <a:t>Hash(PC, GHR)</a:t>
            </a:r>
          </a:p>
        </p:txBody>
      </p:sp>
    </p:spTree>
    <p:extLst>
      <p:ext uri="{BB962C8B-B14F-4D97-AF65-F5344CB8AC3E}">
        <p14:creationId xmlns:p14="http://schemas.microsoft.com/office/powerpoint/2010/main" val="313355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024 C -0.00599 0.01621 -0.00482 0.03727 -0.01849 0.04908 C -0.02773 0.06019 -0.1151 0.06922 -0.16784 0.08357 C -0.17773 0.09051 -0.18307 0.08936 -0.1862 0.10278 C -0.19727 0.1176 -0.19193 0.13195 -0.19661 0.13913 C -0.19844 0.19977 -0.19987 0.26065 -0.20143 0.3213 L -0.20143 0.322 " pathEditMode="relative" rAng="0" ptsTypes="AAAAAAA">
                                      <p:cBhvr>
                                        <p:cTn id="45" dur="1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04" y="16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3.33333E-6 L -0.00573 0.05209 L -0.08178 0.13496 L -0.08933 0.24422 " pathEditMode="relative" rAng="0" ptsTypes="AAAA">
                                      <p:cBhvr>
                                        <p:cTn id="115" dur="1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66" y="12199"/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7" dur="1100" fill="hold"/>
                                        <p:tgtEl>
                                          <p:spTgt spid="81"/>
                                        </p:tgtEl>
                                      </p:cBhvr>
                                      <p:by x="7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3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8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300"/>
                            </p:stCondLst>
                            <p:childTnLst>
                              <p:par>
                                <p:cTn id="1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2.22222E-6 L 0.01433 0.05116 L 0.09558 0.11528 L 0.09193 0.28125 " pathEditMode="relative" rAng="0" ptsTypes="AAAA">
                                      <p:cBhvr>
                                        <p:cTn id="131" dur="12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9" y="14051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3" dur="1100" fill="hold"/>
                                        <p:tgtEl>
                                          <p:spTgt spid="90"/>
                                        </p:tgtEl>
                                      </p:cBhvr>
                                      <p:by x="3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5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23" grpId="0" animBg="1"/>
      <p:bldP spid="29" grpId="0"/>
      <p:bldP spid="31" grpId="0"/>
      <p:bldP spid="31" grpId="1"/>
      <p:bldP spid="46" grpId="0" animBg="1"/>
      <p:bldP spid="47" grpId="0"/>
      <p:bldP spid="48" grpId="0" animBg="1"/>
      <p:bldP spid="118" grpId="0"/>
      <p:bldP spid="122" grpId="0" animBg="1"/>
      <p:bldP spid="130" grpId="0" animBg="1"/>
      <p:bldP spid="1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01339-2893-F1FB-9541-107E30AB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3BC70E-EA59-F8E3-6257-6CB02A31E23A}"/>
              </a:ext>
            </a:extLst>
          </p:cNvPr>
          <p:cNvSpPr txBox="1">
            <a:spLocks/>
          </p:cNvSpPr>
          <p:nvPr/>
        </p:nvSpPr>
        <p:spPr>
          <a:xfrm>
            <a:off x="374773" y="842963"/>
            <a:ext cx="7770540" cy="7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69875" marR="0" lvl="0" indent="-2698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ndara"/>
              <a:buChar char="●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andara"/>
              <a:buChar char="○"/>
              <a:defRPr sz="1600" b="0" i="0" u="none" strike="noStrike" cap="none">
                <a:solidFill>
                  <a:srgbClr val="434343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265113" indent="-265113">
              <a:buFont typeface="Candara"/>
              <a:buNone/>
            </a:pPr>
            <a:r>
              <a:rPr lang="en-GB" dirty="0"/>
              <a:t>Branch predictor is in the </a:t>
            </a:r>
            <a:r>
              <a:rPr lang="en-GB" b="1" dirty="0"/>
              <a:t>critical fetch path </a:t>
            </a:r>
            <a:r>
              <a:rPr lang="en-GB" sz="1400" b="1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must be </a:t>
            </a:r>
            <a:r>
              <a:rPr lang="en-GB" b="1" dirty="0">
                <a:sym typeface="Wingdings" panose="05000000000000000000" pitchFamily="2" charset="2"/>
              </a:rPr>
              <a:t>accurate &amp; fast</a:t>
            </a:r>
            <a:endParaRPr lang="en-GB" sz="2000" b="1" dirty="0"/>
          </a:p>
          <a:p>
            <a:endParaRPr lang="en-GB" sz="1600" dirty="0"/>
          </a:p>
        </p:txBody>
      </p:sp>
      <p:pic>
        <p:nvPicPr>
          <p:cNvPr id="6" name="Picture 5" descr="A graph with different numbers&#10;&#10;AI-generated content may be incorrect.">
            <a:extLst>
              <a:ext uri="{FF2B5EF4-FFF2-40B4-BE49-F238E27FC236}">
                <a16:creationId xmlns:a16="http://schemas.microsoft.com/office/drawing/2014/main" id="{ED45DADC-F907-D2EA-AB5B-1461CF95E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3" y="1420345"/>
            <a:ext cx="5975346" cy="13207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039ED7-96D2-6772-E64B-45D76D877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noProof="0" dirty="0"/>
              <a:t>The Capacity-Latency Trade-off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DB2E0-7E41-7664-E213-932DAB99F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2858814"/>
            <a:ext cx="4260301" cy="1685534"/>
          </a:xfrm>
        </p:spPr>
        <p:txBody>
          <a:bodyPr>
            <a:noAutofit/>
          </a:bodyPr>
          <a:lstStyle/>
          <a:p>
            <a:pPr marL="265113" indent="-265113">
              <a:buNone/>
            </a:pPr>
            <a:r>
              <a:rPr lang="en-GB" noProof="0" dirty="0"/>
              <a:t>Larger predictors improve accuracy</a:t>
            </a:r>
            <a:endParaRPr lang="en-GB" sz="1600" noProof="0" dirty="0"/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/>
              <a:t>More capacity allows storing more patterns</a:t>
            </a:r>
          </a:p>
          <a:p>
            <a:pPr marL="90487" indent="0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None/>
            </a:pPr>
            <a:r>
              <a:rPr lang="en-GB" sz="1400" noProof="0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   </a:t>
            </a:r>
            <a:r>
              <a:rPr lang="en-GB" sz="1400" noProof="0" dirty="0">
                <a:sym typeface="Wingdings" panose="05000000000000000000" pitchFamily="2" charset="2"/>
              </a:rPr>
              <a:t> Captures more correlations</a:t>
            </a:r>
            <a:endParaRPr lang="en-GB" sz="1400" noProof="0" dirty="0"/>
          </a:p>
          <a:p>
            <a:pPr marL="266700" indent="-176213">
              <a:lnSpc>
                <a:spcPct val="10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/>
              <a:t>64K TAGE-SC-L </a:t>
            </a:r>
            <a:r>
              <a:rPr lang="en-GB" sz="1400" noProof="0" dirty="0">
                <a:sym typeface="Wingdings" panose="05000000000000000000" pitchFamily="2" charset="2"/>
              </a:rPr>
              <a:t> </a:t>
            </a:r>
            <a:r>
              <a:rPr lang="en-GB" sz="1400" noProof="0" dirty="0"/>
              <a:t>512K TSL (8x capacity)</a:t>
            </a:r>
          </a:p>
          <a:p>
            <a:pPr marL="90487" indent="0">
              <a:buClr>
                <a:schemeClr val="accent1">
                  <a:lumMod val="50000"/>
                </a:schemeClr>
              </a:buClr>
              <a:buSzPct val="90000"/>
              <a:buNone/>
            </a:pPr>
            <a:r>
              <a:rPr lang="en-GB" sz="1400" b="1" noProof="0" dirty="0">
                <a:sym typeface="Wingdings" panose="05000000000000000000" pitchFamily="2" charset="2"/>
              </a:rPr>
              <a:t>   </a:t>
            </a:r>
            <a:r>
              <a:rPr lang="en-GB" sz="1400" b="1" noProof="0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GB" sz="1400" b="1" noProof="0" dirty="0">
                <a:sym typeface="Wingdings" panose="05000000000000000000" pitchFamily="2" charset="2"/>
              </a:rPr>
              <a:t>R</a:t>
            </a:r>
            <a:r>
              <a:rPr lang="en-GB" sz="1400" b="1" noProof="0" dirty="0"/>
              <a:t>educes mispredictions by 27% </a:t>
            </a:r>
            <a:r>
              <a:rPr lang="en-GB" sz="2000" dirty="0"/>
              <a:t>🙂</a:t>
            </a:r>
          </a:p>
          <a:p>
            <a:endParaRPr lang="en-GB" sz="16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E01ED-F6FF-EFB3-E0D5-97666B3EE5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4</a:t>
            </a:fld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FA466D-DE1C-6ABF-E6FA-A684297C54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81150" y="1421191"/>
            <a:ext cx="5981696" cy="13207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0FCD86-D8D8-08A0-4D01-9FB8F394D531}"/>
              </a:ext>
            </a:extLst>
          </p:cNvPr>
          <p:cNvSpPr txBox="1"/>
          <p:nvPr/>
        </p:nvSpPr>
        <p:spPr>
          <a:xfrm rot="16200000">
            <a:off x="7265063" y="1759746"/>
            <a:ext cx="1127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noProof="0" dirty="0"/>
              <a:t>Lower is better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DF2AB8-2B51-195F-A736-E3830C3A59E9}"/>
              </a:ext>
            </a:extLst>
          </p:cNvPr>
          <p:cNvCxnSpPr>
            <a:cxnSpLocks/>
          </p:cNvCxnSpPr>
          <p:nvPr/>
        </p:nvCxnSpPr>
        <p:spPr bwMode="auto">
          <a:xfrm flipV="1">
            <a:off x="7669063" y="1498600"/>
            <a:ext cx="0" cy="831850"/>
          </a:xfrm>
          <a:prstGeom prst="straightConnector1">
            <a:avLst/>
          </a:prstGeom>
          <a:ln w="2857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93FBF85-644B-F7D5-EF18-433338C2D880}"/>
              </a:ext>
            </a:extLst>
          </p:cNvPr>
          <p:cNvSpPr txBox="1">
            <a:spLocks/>
          </p:cNvSpPr>
          <p:nvPr/>
        </p:nvSpPr>
        <p:spPr>
          <a:xfrm>
            <a:off x="251460" y="4419600"/>
            <a:ext cx="8641080" cy="49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ndara"/>
              <a:buNone/>
              <a:defRPr sz="1800" b="0" i="0" u="none" strike="noStrike" cap="none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r>
              <a:rPr lang="en-GB" sz="2000" noProof="0"/>
              <a:t>How to increase predictor capacity without additional latency?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02E9238-C978-6DD4-0BE7-5AF280E1BEC6}"/>
              </a:ext>
            </a:extLst>
          </p:cNvPr>
          <p:cNvSpPr txBox="1">
            <a:spLocks/>
          </p:cNvSpPr>
          <p:nvPr/>
        </p:nvSpPr>
        <p:spPr>
          <a:xfrm>
            <a:off x="4711699" y="2859334"/>
            <a:ext cx="4070351" cy="154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69875" marR="0" lvl="0" indent="-2698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ndara"/>
              <a:buChar char="●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andara"/>
              <a:buChar char="○"/>
              <a:defRPr sz="1600" b="0" i="0" u="none" strike="noStrike" cap="none">
                <a:solidFill>
                  <a:srgbClr val="434343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indent="0">
              <a:buFont typeface="Candara"/>
              <a:buNone/>
            </a:pPr>
            <a:r>
              <a:rPr lang="en-GB" noProof="0" dirty="0"/>
              <a:t>Larger predictors hit physical limits</a:t>
            </a:r>
          </a:p>
          <a:p>
            <a:pPr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dirty="0"/>
              <a:t>High prediction </a:t>
            </a:r>
            <a:r>
              <a:rPr lang="en-GB" sz="1400" b="1" dirty="0"/>
              <a:t>latency</a:t>
            </a:r>
            <a:endParaRPr lang="en-GB" sz="1400" b="1" noProof="0" dirty="0"/>
          </a:p>
          <a:p>
            <a:pPr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/>
              <a:t>High </a:t>
            </a:r>
            <a:r>
              <a:rPr lang="en-GB" sz="1400" b="1" noProof="0" dirty="0"/>
              <a:t>energy</a:t>
            </a:r>
            <a:r>
              <a:rPr lang="en-GB" sz="1400" noProof="0" dirty="0"/>
              <a:t> consumption</a:t>
            </a:r>
          </a:p>
          <a:p>
            <a:pPr marL="0" indent="0">
              <a:buClr>
                <a:schemeClr val="accent1">
                  <a:lumMod val="50000"/>
                </a:schemeClr>
              </a:buClr>
              <a:buSzPct val="90000"/>
              <a:buNone/>
            </a:pPr>
            <a:r>
              <a:rPr lang="en-GB" sz="1400" noProof="0" dirty="0"/>
              <a:t>     </a:t>
            </a:r>
            <a:r>
              <a:rPr lang="en-GB" sz="1400" noProof="0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GB" sz="1400" noProof="0" dirty="0">
                <a:sym typeface="Wingdings" panose="05000000000000000000" pitchFamily="2" charset="2"/>
              </a:rPr>
              <a:t> </a:t>
            </a:r>
            <a:r>
              <a:rPr lang="en-GB" sz="1400" b="1" noProof="0" dirty="0">
                <a:sym typeface="Wingdings" panose="05000000000000000000" pitchFamily="2" charset="2"/>
              </a:rPr>
              <a:t>Offsets accuracy gains!</a:t>
            </a:r>
            <a:endParaRPr lang="en-GB" sz="1400" noProof="0" dirty="0"/>
          </a:p>
          <a:p>
            <a:pPr marL="0" indent="0" algn="ctr">
              <a:buNone/>
            </a:pPr>
            <a:r>
              <a:rPr lang="en-GB" sz="2000" noProof="0" dirty="0"/>
              <a:t>☹️</a:t>
            </a:r>
          </a:p>
          <a:p>
            <a:endParaRPr lang="en-GB" sz="1600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B1067-65E7-36DF-A42D-7B5E6D00F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/>
              <a:t>HPCA'26: The Last-Level Branch Predictor Revisited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CFB28659-8A45-94CC-8411-C98BEBAAFA0E}"/>
              </a:ext>
            </a:extLst>
          </p:cNvPr>
          <p:cNvSpPr/>
          <p:nvPr/>
        </p:nvSpPr>
        <p:spPr bwMode="auto">
          <a:xfrm>
            <a:off x="7696198" y="2657998"/>
            <a:ext cx="1143001" cy="265364"/>
          </a:xfrm>
          <a:prstGeom prst="wedgeRectCallout">
            <a:avLst>
              <a:gd name="adj1" fmla="val -75196"/>
              <a:gd name="adj2" fmla="val -211907"/>
            </a:avLst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1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 impractical </a:t>
            </a:r>
          </a:p>
        </p:txBody>
      </p:sp>
    </p:spTree>
    <p:extLst>
      <p:ext uri="{BB962C8B-B14F-4D97-AF65-F5344CB8AC3E}">
        <p14:creationId xmlns:p14="http://schemas.microsoft.com/office/powerpoint/2010/main" val="91972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7971240" cy="6456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The Last-Level Branch Predictor (LLBP) </a:t>
            </a:r>
            <a:r>
              <a:rPr lang="en-GB" sz="2000" noProof="0" dirty="0"/>
              <a:t>[MICRO ‘24]</a:t>
            </a:r>
            <a:endParaRPr lang="en-GB" noProof="0"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57521" y="1375259"/>
            <a:ext cx="4258287" cy="31723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 b="1" i="1" noProof="0"/>
              <a:t>Approach: </a:t>
            </a:r>
            <a:r>
              <a:rPr lang="en-GB" sz="1600" noProof="0"/>
              <a:t>Hierarchical branch predictor</a:t>
            </a:r>
          </a:p>
          <a:p>
            <a:pPr marL="266700" lvl="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b="1" i="1" noProof="0"/>
              <a:t>Pattern Store: </a:t>
            </a:r>
            <a:r>
              <a:rPr lang="en-GB" sz="1400" noProof="0"/>
              <a:t>large but slow capacity structure to </a:t>
            </a:r>
            <a:r>
              <a:rPr lang="en-GB" sz="1400" i="1" u="sng" noProof="0"/>
              <a:t>store patterns</a:t>
            </a:r>
          </a:p>
          <a:p>
            <a:pPr marL="266700" lvl="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b="1" i="1" noProof="0"/>
              <a:t>Pattern Buffer: </a:t>
            </a:r>
            <a:r>
              <a:rPr lang="en-GB" sz="1400" noProof="0"/>
              <a:t>small and fast structure to </a:t>
            </a:r>
            <a:r>
              <a:rPr lang="en-GB" sz="1400" i="1" u="sng" noProof="0"/>
              <a:t>make predictions</a:t>
            </a:r>
          </a:p>
          <a:p>
            <a:pPr marL="266700" lvl="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b="1" i="1" noProof="0"/>
              <a:t>Prefetch</a:t>
            </a:r>
            <a:r>
              <a:rPr lang="en-GB" sz="1400" noProof="0"/>
              <a:t> required patterns into pattern buffer for </a:t>
            </a:r>
            <a:r>
              <a:rPr lang="en-GB" sz="1400" i="1" u="sng" noProof="0"/>
              <a:t>upcoming predictions</a:t>
            </a:r>
            <a:endParaRPr lang="en-GB" sz="1400" noProof="0"/>
          </a:p>
          <a:p>
            <a:pPr marL="266700" lvl="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endParaRPr lang="en-GB" sz="1400" noProof="0"/>
          </a:p>
          <a:p>
            <a:pPr marL="266700" lvl="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endParaRPr lang="en-GB" sz="1400" noProof="0"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5</a:t>
            </a:fld>
            <a:endParaRPr lang="en-GB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D45415-245E-7281-8C0C-2BCF0DFDE155}"/>
              </a:ext>
            </a:extLst>
          </p:cNvPr>
          <p:cNvSpPr txBox="1"/>
          <p:nvPr/>
        </p:nvSpPr>
        <p:spPr>
          <a:xfrm>
            <a:off x="357521" y="890769"/>
            <a:ext cx="10562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buClr>
                <a:srgbClr val="C00000"/>
              </a:buClr>
              <a:buSzPts val="1882"/>
            </a:pPr>
            <a:r>
              <a:rPr lang="en-GB" sz="1800" b="1" noProof="0">
                <a:solidFill>
                  <a:schemeClr val="dk1"/>
                </a:solidFill>
                <a:latin typeface="Candara"/>
                <a:sym typeface="Candara"/>
              </a:rPr>
              <a:t>Context-sensitive</a:t>
            </a:r>
            <a:r>
              <a:rPr lang="en-GB" sz="1800" noProof="0">
                <a:solidFill>
                  <a:schemeClr val="dk1"/>
                </a:solidFill>
                <a:latin typeface="Candara"/>
                <a:sym typeface="Candara"/>
              </a:rPr>
              <a:t> branch predictor storage augmenting 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492CAA-B7A3-D7A3-72DD-BBA523E9A9D5}"/>
              </a:ext>
            </a:extLst>
          </p:cNvPr>
          <p:cNvSpPr/>
          <p:nvPr/>
        </p:nvSpPr>
        <p:spPr bwMode="auto">
          <a:xfrm>
            <a:off x="4855362" y="1583004"/>
            <a:ext cx="3931116" cy="1540209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>
            <a:solidFill>
              <a:schemeClr val="accent1">
                <a:alpha val="46000"/>
              </a:schemeClr>
            </a:solidFill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noProof="0">
                <a:solidFill>
                  <a:schemeClr val="accent5">
                    <a:lumMod val="50000"/>
                  </a:schemeClr>
                </a:solidFill>
                <a:latin typeface="Times" charset="0"/>
                <a:ea typeface="ＭＳ Ｐゴシック" charset="0"/>
              </a:rPr>
              <a:t>Core Front-end</a:t>
            </a:r>
            <a:endParaRPr kumimoji="0" lang="en-GB" b="0" i="0" u="none" strike="noStrike" cap="none" normalizeH="0" baseline="0" noProof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CAA308-FE29-3818-D281-294D8219617E}"/>
              </a:ext>
            </a:extLst>
          </p:cNvPr>
          <p:cNvSpPr/>
          <p:nvPr/>
        </p:nvSpPr>
        <p:spPr bwMode="auto">
          <a:xfrm>
            <a:off x="6267863" y="2320304"/>
            <a:ext cx="1115792" cy="179306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E5926-2F22-6371-61E8-D475E24B5D03}"/>
              </a:ext>
            </a:extLst>
          </p:cNvPr>
          <p:cNvSpPr txBox="1"/>
          <p:nvPr/>
        </p:nvSpPr>
        <p:spPr>
          <a:xfrm>
            <a:off x="6206478" y="2002213"/>
            <a:ext cx="1460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Pattern Buffer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039637E5-FECB-61F0-AF87-5056D06671E0}"/>
              </a:ext>
            </a:extLst>
          </p:cNvPr>
          <p:cNvCxnSpPr>
            <a:cxnSpLocks/>
            <a:stCxn id="4" idx="2"/>
            <a:endCxn id="11" idx="1"/>
          </p:cNvCxnSpPr>
          <p:nvPr/>
        </p:nvCxnSpPr>
        <p:spPr bwMode="auto">
          <a:xfrm rot="16200000" flipH="1">
            <a:off x="6971963" y="2353405"/>
            <a:ext cx="289812" cy="58222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9E59EC-CDD1-4CD4-CA9E-A44F9F445B1E}"/>
              </a:ext>
            </a:extLst>
          </p:cNvPr>
          <p:cNvSpPr txBox="1"/>
          <p:nvPr/>
        </p:nvSpPr>
        <p:spPr>
          <a:xfrm>
            <a:off x="7105611" y="3113719"/>
            <a:ext cx="940196" cy="182360"/>
          </a:xfrm>
          <a:prstGeom prst="rect">
            <a:avLst/>
          </a:prstGeom>
          <a:noFill/>
        </p:spPr>
        <p:txBody>
          <a:bodyPr wrap="none" tIns="0" rtlCol="0">
            <a:noAutofit/>
          </a:bodyPr>
          <a:lstStyle/>
          <a:p>
            <a:r>
              <a:rPr lang="en-GB" sz="16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FDC7519-B120-55BE-A45D-887214EB601E}"/>
              </a:ext>
            </a:extLst>
          </p:cNvPr>
          <p:cNvCxnSpPr>
            <a:cxnSpLocks/>
            <a:stCxn id="15" idx="2"/>
            <a:endCxn id="11" idx="3"/>
          </p:cNvCxnSpPr>
          <p:nvPr/>
        </p:nvCxnSpPr>
        <p:spPr bwMode="auto">
          <a:xfrm rot="5400000">
            <a:off x="7751045" y="2422850"/>
            <a:ext cx="352616" cy="38052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Flowchart: Manual Operation 10">
            <a:extLst>
              <a:ext uri="{FF2B5EF4-FFF2-40B4-BE49-F238E27FC236}">
                <a16:creationId xmlns:a16="http://schemas.microsoft.com/office/drawing/2014/main" id="{5DCB891E-5DF2-7B45-83EF-E5C07E75B1DD}"/>
              </a:ext>
            </a:extLst>
          </p:cNvPr>
          <p:cNvSpPr/>
          <p:nvPr/>
        </p:nvSpPr>
        <p:spPr bwMode="auto">
          <a:xfrm>
            <a:off x="7366842" y="2725021"/>
            <a:ext cx="411384" cy="128802"/>
          </a:xfrm>
          <a:prstGeom prst="flowChartManualOperation">
            <a:avLst/>
          </a:prstGeom>
          <a:ln w="127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BE0D882-B25D-2337-DED1-B69289CD9F68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 bwMode="auto">
          <a:xfrm rot="16200000" flipH="1">
            <a:off x="7444173" y="2982183"/>
            <a:ext cx="259896" cy="317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" name="Google Shape;202;p24">
            <a:extLst>
              <a:ext uri="{FF2B5EF4-FFF2-40B4-BE49-F238E27FC236}">
                <a16:creationId xmlns:a16="http://schemas.microsoft.com/office/drawing/2014/main" id="{1262F94E-231A-C935-78FA-A94E5CF00DF5}"/>
              </a:ext>
            </a:extLst>
          </p:cNvPr>
          <p:cNvSpPr/>
          <p:nvPr/>
        </p:nvSpPr>
        <p:spPr>
          <a:xfrm>
            <a:off x="4855361" y="3503736"/>
            <a:ext cx="3931117" cy="61181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0" tIns="0" rIns="324000" bIns="0" anchor="ctr" anchorCtr="0">
            <a:noAutofit/>
          </a:bodyPr>
          <a:lstStyle/>
          <a:p>
            <a:pPr algn="r"/>
            <a:r>
              <a:rPr lang="en-GB" noProof="0">
                <a:latin typeface="Times" panose="02020603050405020304" pitchFamily="18" charset="0"/>
                <a:cs typeface="Times" panose="02020603050405020304" pitchFamily="18" charset="0"/>
              </a:rPr>
              <a:t>LLBP     </a:t>
            </a:r>
            <a:r>
              <a:rPr lang="en-GB" sz="900" noProof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r>
              <a:rPr lang="en-GB" noProof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algn="r"/>
            <a:r>
              <a:rPr lang="en-GB" noProof="0">
                <a:latin typeface="Times" panose="02020603050405020304" pitchFamily="18" charset="0"/>
                <a:cs typeface="Times" panose="02020603050405020304" pitchFamily="18" charset="0"/>
              </a:rPr>
              <a:t>(Pattern Store)</a:t>
            </a:r>
          </a:p>
        </p:txBody>
      </p:sp>
      <p:sp>
        <p:nvSpPr>
          <p:cNvPr id="15" name="Google Shape;202;p24">
            <a:extLst>
              <a:ext uri="{FF2B5EF4-FFF2-40B4-BE49-F238E27FC236}">
                <a16:creationId xmlns:a16="http://schemas.microsoft.com/office/drawing/2014/main" id="{6AB2F86E-0E2C-DFBF-D1A0-1E9E855F2BC2}"/>
              </a:ext>
            </a:extLst>
          </p:cNvPr>
          <p:cNvSpPr/>
          <p:nvPr/>
        </p:nvSpPr>
        <p:spPr>
          <a:xfrm>
            <a:off x="7559721" y="1984176"/>
            <a:ext cx="1115792" cy="452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1600" noProof="0">
                <a:latin typeface="Times" panose="02020603050405020304" pitchFamily="18" charset="0"/>
                <a:cs typeface="Times" panose="02020603050405020304" pitchFamily="18" charset="0"/>
              </a:rPr>
              <a:t>TAGE</a:t>
            </a:r>
          </a:p>
        </p:txBody>
      </p:sp>
      <p:sp>
        <p:nvSpPr>
          <p:cNvPr id="17" name="Google Shape;206;p24">
            <a:extLst>
              <a:ext uri="{FF2B5EF4-FFF2-40B4-BE49-F238E27FC236}">
                <a16:creationId xmlns:a16="http://schemas.microsoft.com/office/drawing/2014/main" id="{99899D92-B490-50F5-2689-999B0A89EE75}"/>
              </a:ext>
            </a:extLst>
          </p:cNvPr>
          <p:cNvSpPr/>
          <p:nvPr/>
        </p:nvSpPr>
        <p:spPr>
          <a:xfrm rot="16200000">
            <a:off x="6160387" y="2905120"/>
            <a:ext cx="864724" cy="245747"/>
          </a:xfrm>
          <a:prstGeom prst="leftRightArrow">
            <a:avLst>
              <a:gd name="adj1" fmla="val 29941"/>
              <a:gd name="adj2" fmla="val 43478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918489-1B32-E1EF-16C1-4EB7DA8DE43A}"/>
              </a:ext>
            </a:extLst>
          </p:cNvPr>
          <p:cNvGrpSpPr/>
          <p:nvPr/>
        </p:nvGrpSpPr>
        <p:grpSpPr>
          <a:xfrm>
            <a:off x="4981963" y="3655715"/>
            <a:ext cx="1869100" cy="375331"/>
            <a:chOff x="5801179" y="2598621"/>
            <a:chExt cx="2027414" cy="53569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EEA014-F07A-3EF2-2FA1-8CC75B9E7D7E}"/>
                </a:ext>
              </a:extLst>
            </p:cNvPr>
            <p:cNvSpPr/>
            <p:nvPr/>
          </p:nvSpPr>
          <p:spPr bwMode="auto">
            <a:xfrm>
              <a:off x="5801179" y="2598621"/>
              <a:ext cx="357982" cy="159545"/>
            </a:xfrm>
            <a:prstGeom prst="rect">
              <a:avLst/>
            </a:prstGeom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756000" numCol="1" rtlCol="0" anchor="t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CCCA258-FAC9-6FD4-4512-8F171F3DBDB1}"/>
                </a:ext>
              </a:extLst>
            </p:cNvPr>
            <p:cNvSpPr/>
            <p:nvPr/>
          </p:nvSpPr>
          <p:spPr bwMode="auto">
            <a:xfrm>
              <a:off x="6067971" y="2974775"/>
              <a:ext cx="357982" cy="159545"/>
            </a:xfrm>
            <a:prstGeom prst="rect">
              <a:avLst/>
            </a:prstGeom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756000" numCol="1" rtlCol="0" anchor="t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BFDC0BB-B628-661B-E99E-0BBD77CB0351}"/>
                </a:ext>
              </a:extLst>
            </p:cNvPr>
            <p:cNvSpPr/>
            <p:nvPr/>
          </p:nvSpPr>
          <p:spPr bwMode="auto">
            <a:xfrm>
              <a:off x="7470611" y="2798841"/>
              <a:ext cx="357982" cy="159545"/>
            </a:xfrm>
            <a:prstGeom prst="rect">
              <a:avLst/>
            </a:prstGeom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756000" numCol="1" rtlCol="0" anchor="t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109264-5E9E-5D00-6438-793CAF5948CD}"/>
                </a:ext>
              </a:extLst>
            </p:cNvPr>
            <p:cNvSpPr txBox="1"/>
            <p:nvPr/>
          </p:nvSpPr>
          <p:spPr>
            <a:xfrm>
              <a:off x="6617201" y="273844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noProof="0"/>
                <a:t>…</a:t>
              </a:r>
            </a:p>
          </p:txBody>
        </p:sp>
      </p:grp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7B75C203-C4BA-D410-0DC8-2EA3A1FCFCA7}"/>
              </a:ext>
            </a:extLst>
          </p:cNvPr>
          <p:cNvSpPr txBox="1">
            <a:spLocks/>
          </p:cNvSpPr>
          <p:nvPr/>
        </p:nvSpPr>
        <p:spPr>
          <a:xfrm>
            <a:off x="251460" y="4419600"/>
            <a:ext cx="8641080" cy="49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ndara"/>
              <a:buNone/>
              <a:defRPr sz="1800" b="0" i="0" u="none" strike="noStrike" cap="none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r>
              <a:rPr lang="en-GB" sz="2000" noProof="0"/>
              <a:t>How to know </a:t>
            </a:r>
            <a:r>
              <a:rPr lang="en-GB" sz="2000" u="sng" noProof="0"/>
              <a:t>which</a:t>
            </a:r>
            <a:r>
              <a:rPr lang="en-GB" sz="2000" noProof="0"/>
              <a:t> patterns are needed </a:t>
            </a:r>
            <a:r>
              <a:rPr lang="en-GB" sz="2000" u="sng" noProof="0"/>
              <a:t>ahead of time</a:t>
            </a:r>
            <a:r>
              <a:rPr lang="en-GB" sz="2000" noProof="0"/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E82A5C-C428-3311-8D4B-34E5BA118C56}"/>
              </a:ext>
            </a:extLst>
          </p:cNvPr>
          <p:cNvSpPr txBox="1"/>
          <p:nvPr/>
        </p:nvSpPr>
        <p:spPr>
          <a:xfrm>
            <a:off x="5474296" y="3599795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/>
              <a:t>???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45452-0142-2672-14BC-8AF6AAFB268F}"/>
              </a:ext>
            </a:extLst>
          </p:cNvPr>
          <p:cNvSpPr/>
          <p:nvPr/>
        </p:nvSpPr>
        <p:spPr bwMode="auto">
          <a:xfrm>
            <a:off x="5039911" y="2369176"/>
            <a:ext cx="855236" cy="555733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Context Directory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F5847-2AB1-02BF-D71B-D8CFBDD7AC10}"/>
              </a:ext>
            </a:extLst>
          </p:cNvPr>
          <p:cNvSpPr txBox="1"/>
          <p:nvPr/>
        </p:nvSpPr>
        <p:spPr>
          <a:xfrm>
            <a:off x="5081219" y="1661903"/>
            <a:ext cx="76202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6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Context </a:t>
            </a:r>
          </a:p>
          <a:p>
            <a:pPr algn="ctr"/>
            <a:r>
              <a:rPr lang="en-GB" sz="16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</p:txBody>
      </p:sp>
      <p:cxnSp>
        <p:nvCxnSpPr>
          <p:cNvPr id="13" name="Connector: Elbow 29">
            <a:extLst>
              <a:ext uri="{FF2B5EF4-FFF2-40B4-BE49-F238E27FC236}">
                <a16:creationId xmlns:a16="http://schemas.microsoft.com/office/drawing/2014/main" id="{F634C826-F5B5-E1F5-7BD8-CF87DE056EAB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 bwMode="auto">
          <a:xfrm>
            <a:off x="5462229" y="2154346"/>
            <a:ext cx="5300" cy="2148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2" name="Connector: Elbow 29">
            <a:extLst>
              <a:ext uri="{FF2B5EF4-FFF2-40B4-BE49-F238E27FC236}">
                <a16:creationId xmlns:a16="http://schemas.microsoft.com/office/drawing/2014/main" id="{89F22149-3E60-772F-C663-D98BB623850E}"/>
              </a:ext>
            </a:extLst>
          </p:cNvPr>
          <p:cNvCxnSpPr>
            <a:cxnSpLocks/>
            <a:stCxn id="8" idx="2"/>
          </p:cNvCxnSpPr>
          <p:nvPr/>
        </p:nvCxnSpPr>
        <p:spPr bwMode="auto">
          <a:xfrm>
            <a:off x="5467529" y="2924909"/>
            <a:ext cx="0" cy="57882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3588FA43-6F79-673E-B019-4456F027221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/>
              <a:t>HPCA'26: The Last-Level Branch Predictor Revisited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11" grpId="0" animBg="1"/>
      <p:bldP spid="14" grpId="0" animBg="1"/>
      <p:bldP spid="17" grpId="0" animBg="1"/>
      <p:bldP spid="28" grpId="0"/>
      <p:bldP spid="30" grpId="0"/>
      <p:bldP spid="8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B3559238-A264-070F-C4C1-F487FCEFF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113B8938-1A21-2314-5772-B71425859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02475"/>
            <a:ext cx="6743150" cy="1701057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Observations: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Branches</a:t>
            </a:r>
            <a:r>
              <a:rPr lang="en-GB" sz="1600" b="1" noProof="0" dirty="0"/>
              <a:t> </a:t>
            </a:r>
            <a:r>
              <a:rPr lang="en-GB" sz="1600" noProof="0" dirty="0"/>
              <a:t>can have many patterns </a:t>
            </a:r>
            <a:r>
              <a:rPr lang="en-GB" sz="1600" b="1" noProof="0" dirty="0"/>
              <a:t>with long history </a:t>
            </a:r>
            <a:r>
              <a:rPr lang="en-GB" sz="1300" noProof="0" dirty="0"/>
              <a:t>(hundreds of branches)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Span </a:t>
            </a:r>
            <a:r>
              <a:rPr lang="en-GB" sz="1600" b="1" noProof="0" dirty="0"/>
              <a:t>multiple code regions </a:t>
            </a:r>
            <a:r>
              <a:rPr lang="en-GB" sz="1600" noProof="0" dirty="0"/>
              <a:t>(e.g. </a:t>
            </a:r>
            <a:r>
              <a:rPr lang="en-GB" sz="1600" b="1" noProof="0" dirty="0">
                <a:solidFill>
                  <a:srgbClr val="7030A0"/>
                </a:solidFill>
              </a:rPr>
              <a:t>function calls</a:t>
            </a:r>
            <a:r>
              <a:rPr lang="en-GB" sz="1600" noProof="0" dirty="0"/>
              <a:t>)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Sequence of unconditional branches identifies global program state </a:t>
            </a:r>
          </a:p>
          <a:p>
            <a:pPr marL="90487" indent="0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None/>
              <a:tabLst>
                <a:tab pos="266700" algn="l"/>
              </a:tabLst>
            </a:pPr>
            <a:r>
              <a:rPr lang="en-GB" sz="1600" noProof="0" dirty="0">
                <a:sym typeface="Wingdings" panose="05000000000000000000" pitchFamily="2" charset="2"/>
              </a:rPr>
              <a:t>	 </a:t>
            </a:r>
            <a:r>
              <a:rPr lang="en-GB" sz="1600" b="1" noProof="0" dirty="0"/>
              <a:t>program context </a:t>
            </a:r>
            <a:r>
              <a:rPr lang="en-GB" sz="1600" noProof="0" dirty="0"/>
              <a:t>(aka. call chain)</a:t>
            </a:r>
          </a:p>
          <a:p>
            <a:pPr marL="0" indent="0">
              <a:buNone/>
            </a:pPr>
            <a:endParaRPr lang="en-GB" noProof="0" dirty="0"/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FB850731-CB10-E66A-3CCD-C22D5BA4DC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Enabling Hierarchical Branch Predictors via Contexts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62F49076-50A0-7930-4341-CFF8DA3315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6</a:t>
            </a:fld>
            <a:endParaRPr lang="en-GB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D307D5-1676-C8D7-1EEA-9A0BB67BB8DC}"/>
              </a:ext>
            </a:extLst>
          </p:cNvPr>
          <p:cNvSpPr/>
          <p:nvPr/>
        </p:nvSpPr>
        <p:spPr bwMode="auto">
          <a:xfrm>
            <a:off x="5019288" y="2598121"/>
            <a:ext cx="1473271" cy="499819"/>
          </a:xfrm>
          <a:prstGeom prst="rect">
            <a:avLst/>
          </a:prstGeom>
          <a:solidFill>
            <a:schemeClr val="accent4">
              <a:lumMod val="75000"/>
              <a:alpha val="7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fnC</a:t>
            </a:r>
            <a:endParaRPr kumimoji="0" lang="en-GB" sz="1600" b="0" i="0" u="none" strike="noStrike" cap="none" normalizeH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E20467-A0AE-4A3C-ABC9-AC6AB46EC390}"/>
              </a:ext>
            </a:extLst>
          </p:cNvPr>
          <p:cNvSpPr/>
          <p:nvPr/>
        </p:nvSpPr>
        <p:spPr bwMode="auto">
          <a:xfrm>
            <a:off x="3185822" y="2598121"/>
            <a:ext cx="1833465" cy="499819"/>
          </a:xfrm>
          <a:prstGeom prst="rect">
            <a:avLst/>
          </a:prstGeom>
          <a:solidFill>
            <a:srgbClr val="92D050">
              <a:alpha val="74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fnB</a:t>
            </a:r>
            <a:endParaRPr kumimoji="0" lang="en-GB" sz="1600" b="0" i="0" u="none" strike="noStrike" cap="none" normalizeH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B30470-317D-2636-0B6B-D4EEA1C2E724}"/>
              </a:ext>
            </a:extLst>
          </p:cNvPr>
          <p:cNvSpPr/>
          <p:nvPr/>
        </p:nvSpPr>
        <p:spPr bwMode="auto">
          <a:xfrm>
            <a:off x="1974391" y="2598121"/>
            <a:ext cx="1205754" cy="499819"/>
          </a:xfrm>
          <a:prstGeom prst="rect">
            <a:avLst/>
          </a:prstGeom>
          <a:solidFill>
            <a:schemeClr val="accent1">
              <a:alpha val="7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fnA</a:t>
            </a:r>
            <a:endParaRPr kumimoji="0" lang="en-GB" sz="1600" b="0" i="0" u="none" strike="noStrike" cap="none" normalizeH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9306CD-7C99-DC78-773C-8D2CCF96841E}"/>
              </a:ext>
            </a:extLst>
          </p:cNvPr>
          <p:cNvSpPr/>
          <p:nvPr/>
        </p:nvSpPr>
        <p:spPr bwMode="auto">
          <a:xfrm>
            <a:off x="1249850" y="2850687"/>
            <a:ext cx="5235928" cy="249944"/>
          </a:xfrm>
          <a:prstGeom prst="rect">
            <a:avLst/>
          </a:prstGeom>
          <a:solidFill>
            <a:schemeClr val="bg1">
              <a:lumMod val="50000"/>
              <a:alpha val="79000"/>
            </a:schemeClr>
          </a:solidFill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25DEAF-9610-1929-40EA-D400AC2D45A1}"/>
              </a:ext>
            </a:extLst>
          </p:cNvPr>
          <p:cNvSpPr/>
          <p:nvPr/>
        </p:nvSpPr>
        <p:spPr bwMode="auto">
          <a:xfrm>
            <a:off x="1408015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4B51D1-0A00-92C8-B6E4-214708944D0B}"/>
              </a:ext>
            </a:extLst>
          </p:cNvPr>
          <p:cNvSpPr/>
          <p:nvPr/>
        </p:nvSpPr>
        <p:spPr bwMode="auto">
          <a:xfrm>
            <a:off x="1558579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E86086-3D1E-B4D0-7C64-84404589B85C}"/>
              </a:ext>
            </a:extLst>
          </p:cNvPr>
          <p:cNvSpPr/>
          <p:nvPr/>
        </p:nvSpPr>
        <p:spPr bwMode="auto">
          <a:xfrm>
            <a:off x="1859707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28C9A2-8E78-0FB5-9DCD-0C30D7708E5B}"/>
              </a:ext>
            </a:extLst>
          </p:cNvPr>
          <p:cNvSpPr/>
          <p:nvPr/>
        </p:nvSpPr>
        <p:spPr bwMode="auto">
          <a:xfrm>
            <a:off x="2010271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56A67F-4844-391D-3F16-87F6BD1D1CBF}"/>
              </a:ext>
            </a:extLst>
          </p:cNvPr>
          <p:cNvSpPr/>
          <p:nvPr/>
        </p:nvSpPr>
        <p:spPr bwMode="auto">
          <a:xfrm>
            <a:off x="2160835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79C08F-E71C-E38B-59FC-69E7BFBFAD3D}"/>
              </a:ext>
            </a:extLst>
          </p:cNvPr>
          <p:cNvSpPr/>
          <p:nvPr/>
        </p:nvSpPr>
        <p:spPr bwMode="auto">
          <a:xfrm>
            <a:off x="2311399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2151A8-F9E8-886D-59EC-042C1F0CA02F}"/>
              </a:ext>
            </a:extLst>
          </p:cNvPr>
          <p:cNvSpPr/>
          <p:nvPr/>
        </p:nvSpPr>
        <p:spPr bwMode="auto">
          <a:xfrm>
            <a:off x="2461963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D0CE673-3305-5376-EA7B-67A73C5153EA}"/>
              </a:ext>
            </a:extLst>
          </p:cNvPr>
          <p:cNvSpPr/>
          <p:nvPr/>
        </p:nvSpPr>
        <p:spPr bwMode="auto">
          <a:xfrm>
            <a:off x="2612527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4E2BEE2-B4FF-0BF5-C595-D8E8E55722F5}"/>
              </a:ext>
            </a:extLst>
          </p:cNvPr>
          <p:cNvSpPr/>
          <p:nvPr/>
        </p:nvSpPr>
        <p:spPr bwMode="auto">
          <a:xfrm>
            <a:off x="2763091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CA3A82-FFAC-17AA-A661-A9F338C9CCF3}"/>
              </a:ext>
            </a:extLst>
          </p:cNvPr>
          <p:cNvSpPr/>
          <p:nvPr/>
        </p:nvSpPr>
        <p:spPr bwMode="auto">
          <a:xfrm>
            <a:off x="2913655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D156887-A72C-90AC-B98A-E8DBA6F64FBA}"/>
              </a:ext>
            </a:extLst>
          </p:cNvPr>
          <p:cNvSpPr/>
          <p:nvPr/>
        </p:nvSpPr>
        <p:spPr bwMode="auto">
          <a:xfrm>
            <a:off x="3064219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2FCACB-DDF2-71A4-CA7C-74A1F8702D71}"/>
              </a:ext>
            </a:extLst>
          </p:cNvPr>
          <p:cNvSpPr/>
          <p:nvPr/>
        </p:nvSpPr>
        <p:spPr bwMode="auto">
          <a:xfrm>
            <a:off x="3214783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70FA91B-4B51-5513-7922-A0DD1FBE1F8D}"/>
              </a:ext>
            </a:extLst>
          </p:cNvPr>
          <p:cNvSpPr/>
          <p:nvPr/>
        </p:nvSpPr>
        <p:spPr bwMode="auto">
          <a:xfrm>
            <a:off x="3365347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1945C6-EEBD-11FA-22B2-A9F5B64FB9DB}"/>
              </a:ext>
            </a:extLst>
          </p:cNvPr>
          <p:cNvSpPr/>
          <p:nvPr/>
        </p:nvSpPr>
        <p:spPr bwMode="auto">
          <a:xfrm>
            <a:off x="3515911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AFBB569-C43B-F79C-834E-4389ACA49103}"/>
              </a:ext>
            </a:extLst>
          </p:cNvPr>
          <p:cNvSpPr/>
          <p:nvPr/>
        </p:nvSpPr>
        <p:spPr bwMode="auto">
          <a:xfrm>
            <a:off x="3666475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686518D-BB55-C184-508D-39E0A221918D}"/>
              </a:ext>
            </a:extLst>
          </p:cNvPr>
          <p:cNvSpPr/>
          <p:nvPr/>
        </p:nvSpPr>
        <p:spPr bwMode="auto">
          <a:xfrm>
            <a:off x="4118167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E0734B7-0756-4BC7-0B86-BD5C90279ADD}"/>
              </a:ext>
            </a:extLst>
          </p:cNvPr>
          <p:cNvSpPr/>
          <p:nvPr/>
        </p:nvSpPr>
        <p:spPr bwMode="auto">
          <a:xfrm>
            <a:off x="3967603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D80A3E-923D-9C7A-732D-BAAFCB94E97A}"/>
              </a:ext>
            </a:extLst>
          </p:cNvPr>
          <p:cNvSpPr/>
          <p:nvPr/>
        </p:nvSpPr>
        <p:spPr bwMode="auto">
          <a:xfrm>
            <a:off x="4268731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B0F1E6-980F-ACF7-17D7-E96C75E73C76}"/>
              </a:ext>
            </a:extLst>
          </p:cNvPr>
          <p:cNvSpPr/>
          <p:nvPr/>
        </p:nvSpPr>
        <p:spPr bwMode="auto">
          <a:xfrm>
            <a:off x="956323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3269B35-9AD5-E420-A6FD-4F2DCA8524E8}"/>
              </a:ext>
            </a:extLst>
          </p:cNvPr>
          <p:cNvSpPr/>
          <p:nvPr/>
        </p:nvSpPr>
        <p:spPr bwMode="auto">
          <a:xfrm>
            <a:off x="805759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177025-9658-D497-0D69-06A66D3B42A0}"/>
              </a:ext>
            </a:extLst>
          </p:cNvPr>
          <p:cNvSpPr/>
          <p:nvPr/>
        </p:nvSpPr>
        <p:spPr bwMode="auto">
          <a:xfrm>
            <a:off x="1106887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23D7A39-6DF7-EA40-69C7-D701C0D16034}"/>
              </a:ext>
            </a:extLst>
          </p:cNvPr>
          <p:cNvSpPr/>
          <p:nvPr/>
        </p:nvSpPr>
        <p:spPr bwMode="auto">
          <a:xfrm>
            <a:off x="1257451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1F64FBC-6D24-FB11-2D0B-DEA7B008CC01}"/>
              </a:ext>
            </a:extLst>
          </p:cNvPr>
          <p:cNvSpPr/>
          <p:nvPr/>
        </p:nvSpPr>
        <p:spPr bwMode="auto">
          <a:xfrm>
            <a:off x="1709143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F57A067-FB21-9AC1-22D7-6BABE43881D1}"/>
              </a:ext>
            </a:extLst>
          </p:cNvPr>
          <p:cNvSpPr/>
          <p:nvPr/>
        </p:nvSpPr>
        <p:spPr bwMode="auto">
          <a:xfrm>
            <a:off x="3817039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6ED211A-68D4-BBFD-287F-6E33F690A4FE}"/>
              </a:ext>
            </a:extLst>
          </p:cNvPr>
          <p:cNvSpPr/>
          <p:nvPr/>
        </p:nvSpPr>
        <p:spPr bwMode="auto">
          <a:xfrm>
            <a:off x="4419295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FD4737F-E90E-B6A6-9ED4-51DCEEE11B03}"/>
              </a:ext>
            </a:extLst>
          </p:cNvPr>
          <p:cNvSpPr/>
          <p:nvPr/>
        </p:nvSpPr>
        <p:spPr bwMode="auto">
          <a:xfrm>
            <a:off x="4569859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AED2028-BB79-C3C1-82E3-5E41C9E86BB9}"/>
              </a:ext>
            </a:extLst>
          </p:cNvPr>
          <p:cNvSpPr/>
          <p:nvPr/>
        </p:nvSpPr>
        <p:spPr bwMode="auto">
          <a:xfrm>
            <a:off x="4720423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330891B-B0E5-7DD5-1C6D-28879684AA41}"/>
              </a:ext>
            </a:extLst>
          </p:cNvPr>
          <p:cNvSpPr/>
          <p:nvPr/>
        </p:nvSpPr>
        <p:spPr bwMode="auto">
          <a:xfrm>
            <a:off x="4870987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A21ADDF-B98E-805A-350F-88F8581E444D}"/>
              </a:ext>
            </a:extLst>
          </p:cNvPr>
          <p:cNvSpPr/>
          <p:nvPr/>
        </p:nvSpPr>
        <p:spPr bwMode="auto">
          <a:xfrm>
            <a:off x="5021551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EA819F0-2BD5-C75E-0C5E-1F34C8A17EF1}"/>
              </a:ext>
            </a:extLst>
          </p:cNvPr>
          <p:cNvSpPr/>
          <p:nvPr/>
        </p:nvSpPr>
        <p:spPr bwMode="auto">
          <a:xfrm>
            <a:off x="5473243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AC9A8D-EEA8-705F-F5F0-9CE2618F3EFB}"/>
              </a:ext>
            </a:extLst>
          </p:cNvPr>
          <p:cNvSpPr/>
          <p:nvPr/>
        </p:nvSpPr>
        <p:spPr bwMode="auto">
          <a:xfrm>
            <a:off x="5322679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1312797-D44F-A08C-E872-9B2E0DBC2F62}"/>
              </a:ext>
            </a:extLst>
          </p:cNvPr>
          <p:cNvSpPr/>
          <p:nvPr/>
        </p:nvSpPr>
        <p:spPr bwMode="auto">
          <a:xfrm>
            <a:off x="5623807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7070934-D1D7-E90A-FE98-1A94E9162EF2}"/>
              </a:ext>
            </a:extLst>
          </p:cNvPr>
          <p:cNvSpPr/>
          <p:nvPr/>
        </p:nvSpPr>
        <p:spPr bwMode="auto">
          <a:xfrm>
            <a:off x="5172115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5E8057F-7520-0E49-7458-91CA19581EB1}"/>
              </a:ext>
            </a:extLst>
          </p:cNvPr>
          <p:cNvSpPr/>
          <p:nvPr/>
        </p:nvSpPr>
        <p:spPr bwMode="auto">
          <a:xfrm>
            <a:off x="5774371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5BAC6E4-A4B7-312B-07A2-4A768D0F492C}"/>
              </a:ext>
            </a:extLst>
          </p:cNvPr>
          <p:cNvSpPr/>
          <p:nvPr/>
        </p:nvSpPr>
        <p:spPr bwMode="auto">
          <a:xfrm>
            <a:off x="5924935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9D9DE5B-775D-C690-1EB2-68314C107E01}"/>
              </a:ext>
            </a:extLst>
          </p:cNvPr>
          <p:cNvSpPr/>
          <p:nvPr/>
        </p:nvSpPr>
        <p:spPr bwMode="auto">
          <a:xfrm>
            <a:off x="6075499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6EA91C1-45AA-7F00-9171-6E11303BBB35}"/>
              </a:ext>
            </a:extLst>
          </p:cNvPr>
          <p:cNvSpPr/>
          <p:nvPr/>
        </p:nvSpPr>
        <p:spPr bwMode="auto">
          <a:xfrm>
            <a:off x="6226063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D99605-7B8B-4DC3-7D33-DCDC7A2AB6C4}"/>
              </a:ext>
            </a:extLst>
          </p:cNvPr>
          <p:cNvSpPr/>
          <p:nvPr/>
        </p:nvSpPr>
        <p:spPr bwMode="auto">
          <a:xfrm>
            <a:off x="6376627" y="287101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9FA423F-5FE9-CF73-4C10-DCD258216981}"/>
              </a:ext>
            </a:extLst>
          </p:cNvPr>
          <p:cNvSpPr/>
          <p:nvPr/>
        </p:nvSpPr>
        <p:spPr bwMode="auto">
          <a:xfrm>
            <a:off x="6527197" y="2871014"/>
            <a:ext cx="135542" cy="212622"/>
          </a:xfrm>
          <a:prstGeom prst="rect">
            <a:avLst/>
          </a:prstGeom>
          <a:solidFill>
            <a:srgbClr val="C0000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?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76" name="Speech Bubble: Rectangle 75">
            <a:extLst>
              <a:ext uri="{FF2B5EF4-FFF2-40B4-BE49-F238E27FC236}">
                <a16:creationId xmlns:a16="http://schemas.microsoft.com/office/drawing/2014/main" id="{0B41C827-3E0F-BA53-F74F-F774219AED13}"/>
              </a:ext>
            </a:extLst>
          </p:cNvPr>
          <p:cNvSpPr/>
          <p:nvPr/>
        </p:nvSpPr>
        <p:spPr bwMode="auto">
          <a:xfrm>
            <a:off x="7597735" y="3448061"/>
            <a:ext cx="848530" cy="265364"/>
          </a:xfrm>
          <a:prstGeom prst="wedgeRectCallout">
            <a:avLst>
              <a:gd name="adj1" fmla="val -159205"/>
              <a:gd name="adj2" fmla="val -209513"/>
            </a:avLst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1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 branch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8DB6D55-0507-A664-1F56-3CECF12AA2A3}"/>
              </a:ext>
            </a:extLst>
          </p:cNvPr>
          <p:cNvSpPr/>
          <p:nvPr/>
        </p:nvSpPr>
        <p:spPr bwMode="auto">
          <a:xfrm>
            <a:off x="3060111" y="2240106"/>
            <a:ext cx="1368414" cy="229840"/>
          </a:xfrm>
          <a:prstGeom prst="rect">
            <a:avLst/>
          </a:prstGeom>
          <a:ln w="19050">
            <a:noFill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Global History</a:t>
            </a:r>
            <a:endParaRPr kumimoji="0" lang="en-GB" sz="200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1642E998-D5CA-4CC3-BB69-78CF48BF6C9B}"/>
              </a:ext>
            </a:extLst>
          </p:cNvPr>
          <p:cNvCxnSpPr>
            <a:cxnSpLocks/>
            <a:stCxn id="86" idx="3"/>
            <a:endCxn id="88" idx="3"/>
          </p:cNvCxnSpPr>
          <p:nvPr/>
        </p:nvCxnSpPr>
        <p:spPr bwMode="auto">
          <a:xfrm>
            <a:off x="7854847" y="1908934"/>
            <a:ext cx="12700" cy="56091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9" name="Left Brace 78">
            <a:extLst>
              <a:ext uri="{FF2B5EF4-FFF2-40B4-BE49-F238E27FC236}">
                <a16:creationId xmlns:a16="http://schemas.microsoft.com/office/drawing/2014/main" id="{98D9D063-BB43-91AD-ABA1-9A266123AA80}"/>
              </a:ext>
            </a:extLst>
          </p:cNvPr>
          <p:cNvSpPr/>
          <p:nvPr/>
        </p:nvSpPr>
        <p:spPr bwMode="auto">
          <a:xfrm rot="5400000">
            <a:off x="3601201" y="-301350"/>
            <a:ext cx="84482" cy="5675367"/>
          </a:xfrm>
          <a:prstGeom prst="leftBrace">
            <a:avLst>
              <a:gd name="adj1" fmla="val 8333"/>
              <a:gd name="adj2" fmla="val 48839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cxnSp>
        <p:nvCxnSpPr>
          <p:cNvPr id="80" name="Connector: Curved 79">
            <a:extLst>
              <a:ext uri="{FF2B5EF4-FFF2-40B4-BE49-F238E27FC236}">
                <a16:creationId xmlns:a16="http://schemas.microsoft.com/office/drawing/2014/main" id="{219D1EE8-57AD-D4DB-5709-24C852395A17}"/>
              </a:ext>
            </a:extLst>
          </p:cNvPr>
          <p:cNvCxnSpPr>
            <a:cxnSpLocks/>
            <a:stCxn id="84" idx="3"/>
            <a:endCxn id="86" idx="3"/>
          </p:cNvCxnSpPr>
          <p:nvPr/>
        </p:nvCxnSpPr>
        <p:spPr bwMode="auto">
          <a:xfrm>
            <a:off x="7854847" y="1358149"/>
            <a:ext cx="12700" cy="55078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1" name="Speech Bubble: Rectangle 80">
            <a:extLst>
              <a:ext uri="{FF2B5EF4-FFF2-40B4-BE49-F238E27FC236}">
                <a16:creationId xmlns:a16="http://schemas.microsoft.com/office/drawing/2014/main" id="{CCBFD906-2A11-8B4C-B650-C72DFEDA488A}"/>
              </a:ext>
            </a:extLst>
          </p:cNvPr>
          <p:cNvSpPr/>
          <p:nvPr/>
        </p:nvSpPr>
        <p:spPr bwMode="auto">
          <a:xfrm>
            <a:off x="2214823" y="3338962"/>
            <a:ext cx="492427" cy="221048"/>
          </a:xfrm>
          <a:prstGeom prst="wedgeRectCallout">
            <a:avLst>
              <a:gd name="adj1" fmla="val -75337"/>
              <a:gd name="adj2" fmla="val -153242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dirty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dirty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A</a:t>
            </a:r>
            <a:endParaRPr lang="en-GB" sz="1600" baseline="-30000" noProof="0" dirty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82" name="Speech Bubble: Rectangle 81">
            <a:extLst>
              <a:ext uri="{FF2B5EF4-FFF2-40B4-BE49-F238E27FC236}">
                <a16:creationId xmlns:a16="http://schemas.microsoft.com/office/drawing/2014/main" id="{DA29A897-5A73-6E16-A669-2A6B6A46FF09}"/>
              </a:ext>
            </a:extLst>
          </p:cNvPr>
          <p:cNvSpPr/>
          <p:nvPr/>
        </p:nvSpPr>
        <p:spPr bwMode="auto">
          <a:xfrm>
            <a:off x="3320728" y="3338962"/>
            <a:ext cx="584859" cy="221048"/>
          </a:xfrm>
          <a:prstGeom prst="wedgeRectCallout">
            <a:avLst>
              <a:gd name="adj1" fmla="val -45303"/>
              <a:gd name="adj2" fmla="val -142965"/>
            </a:avLst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dirty="0" err="1"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dirty="0" err="1">
                <a:latin typeface="Times" charset="0"/>
                <a:ea typeface="ＭＳ Ｐゴシック" charset="0"/>
              </a:rPr>
              <a:t>B</a:t>
            </a:r>
            <a:endParaRPr lang="en-GB" sz="1600" baseline="-30000" noProof="0" dirty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83" name="Speech Bubble: Rectangle 82">
            <a:extLst>
              <a:ext uri="{FF2B5EF4-FFF2-40B4-BE49-F238E27FC236}">
                <a16:creationId xmlns:a16="http://schemas.microsoft.com/office/drawing/2014/main" id="{1A17F580-20DA-3EBA-0096-5DCD8BFF7CC8}"/>
              </a:ext>
            </a:extLst>
          </p:cNvPr>
          <p:cNvSpPr/>
          <p:nvPr/>
        </p:nvSpPr>
        <p:spPr bwMode="auto">
          <a:xfrm>
            <a:off x="4615529" y="3333415"/>
            <a:ext cx="589212" cy="221048"/>
          </a:xfrm>
          <a:prstGeom prst="wedgeRectCallout">
            <a:avLst>
              <a:gd name="adj1" fmla="val 36487"/>
              <a:gd name="adj2" fmla="val -141735"/>
            </a:avLst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dirty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dirty="0" err="1">
                <a:latin typeface="Times" charset="0"/>
                <a:ea typeface="ＭＳ Ｐゴシック" charset="0"/>
              </a:rPr>
              <a:t>C</a:t>
            </a:r>
            <a:endParaRPr lang="en-GB" sz="1600" baseline="-30000" noProof="0" dirty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1D990A6-959D-1060-11A3-53D244A17151}"/>
              </a:ext>
            </a:extLst>
          </p:cNvPr>
          <p:cNvSpPr/>
          <p:nvPr/>
        </p:nvSpPr>
        <p:spPr bwMode="auto">
          <a:xfrm>
            <a:off x="7407896" y="1206517"/>
            <a:ext cx="446951" cy="30326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fnA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232CB06-EC50-0D55-0A9C-0049621FA664}"/>
              </a:ext>
            </a:extLst>
          </p:cNvPr>
          <p:cNvSpPr/>
          <p:nvPr/>
        </p:nvSpPr>
        <p:spPr bwMode="auto">
          <a:xfrm>
            <a:off x="6761201" y="911478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A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F1F4C11-E6F8-FC87-F34C-BDDE6EEDF1FC}"/>
              </a:ext>
            </a:extLst>
          </p:cNvPr>
          <p:cNvSpPr/>
          <p:nvPr/>
        </p:nvSpPr>
        <p:spPr bwMode="auto">
          <a:xfrm>
            <a:off x="7407896" y="1757302"/>
            <a:ext cx="446951" cy="303263"/>
          </a:xfrm>
          <a:prstGeom prst="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fnB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AE40AE1-6CCC-BCDD-FB19-F958870C0F3F}"/>
              </a:ext>
            </a:extLst>
          </p:cNvPr>
          <p:cNvSpPr/>
          <p:nvPr/>
        </p:nvSpPr>
        <p:spPr bwMode="auto">
          <a:xfrm>
            <a:off x="6761201" y="1512956"/>
            <a:ext cx="638189" cy="3032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latin typeface="Times" charset="0"/>
                <a:ea typeface="ＭＳ Ｐゴシック" charset="0"/>
              </a:rPr>
              <a:t>B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517CD3E-F9B1-26AA-E273-4E7CAA1F2D7F}"/>
              </a:ext>
            </a:extLst>
          </p:cNvPr>
          <p:cNvSpPr/>
          <p:nvPr/>
        </p:nvSpPr>
        <p:spPr bwMode="auto">
          <a:xfrm>
            <a:off x="7407896" y="2318221"/>
            <a:ext cx="446951" cy="30326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fnC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5101692-73B6-136D-1612-6D122C6E1374}"/>
              </a:ext>
            </a:extLst>
          </p:cNvPr>
          <p:cNvSpPr/>
          <p:nvPr/>
        </p:nvSpPr>
        <p:spPr bwMode="auto">
          <a:xfrm>
            <a:off x="6791747" y="2001878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994A2EC-7E4F-123D-AC24-A80CA76ACE6E}"/>
              </a:ext>
            </a:extLst>
          </p:cNvPr>
          <p:cNvSpPr/>
          <p:nvPr/>
        </p:nvSpPr>
        <p:spPr bwMode="auto">
          <a:xfrm>
            <a:off x="2656233" y="3822143"/>
            <a:ext cx="2257114" cy="316244"/>
          </a:xfrm>
          <a:prstGeom prst="rect">
            <a:avLst/>
          </a:prstGeom>
          <a:ln w="19050">
            <a:noFill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Program Context </a:t>
            </a:r>
            <a:r>
              <a:rPr kumimoji="0" lang="en-GB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  <a:sym typeface="Wingdings" panose="05000000000000000000" pitchFamily="2" charset="2"/>
              </a:rPr>
              <a:t> ABC</a:t>
            </a:r>
            <a:endParaRPr kumimoji="0" lang="en-GB" sz="200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91" name="Left Brace 90">
            <a:extLst>
              <a:ext uri="{FF2B5EF4-FFF2-40B4-BE49-F238E27FC236}">
                <a16:creationId xmlns:a16="http://schemas.microsoft.com/office/drawing/2014/main" id="{876D9A6F-AFE8-2E23-BCE1-73413B6CDBA2}"/>
              </a:ext>
            </a:extLst>
          </p:cNvPr>
          <p:cNvSpPr/>
          <p:nvPr/>
        </p:nvSpPr>
        <p:spPr bwMode="auto">
          <a:xfrm rot="5400000" flipH="1">
            <a:off x="3585309" y="2189031"/>
            <a:ext cx="221048" cy="3048788"/>
          </a:xfrm>
          <a:prstGeom prst="leftBrace">
            <a:avLst>
              <a:gd name="adj1" fmla="val 8333"/>
              <a:gd name="adj2" fmla="val 48839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C3BFF32-6CE0-4CC0-07FF-070CB2B5D482}"/>
              </a:ext>
            </a:extLst>
          </p:cNvPr>
          <p:cNvSpPr txBox="1"/>
          <p:nvPr/>
        </p:nvSpPr>
        <p:spPr>
          <a:xfrm>
            <a:off x="366527" y="2653013"/>
            <a:ext cx="398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/>
              <a:t>…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EF05CF7-C9B3-5813-90E6-87B3256D8C06}"/>
              </a:ext>
            </a:extLst>
          </p:cNvPr>
          <p:cNvSpPr txBox="1"/>
          <p:nvPr/>
        </p:nvSpPr>
        <p:spPr>
          <a:xfrm>
            <a:off x="1201333" y="2411497"/>
            <a:ext cx="398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/>
              <a:t>…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0D4D926-FA69-F980-F5CC-EF4CA7202A2B}"/>
              </a:ext>
            </a:extLst>
          </p:cNvPr>
          <p:cNvSpPr/>
          <p:nvPr/>
        </p:nvSpPr>
        <p:spPr bwMode="auto">
          <a:xfrm>
            <a:off x="7464873" y="2842014"/>
            <a:ext cx="333375" cy="265364"/>
          </a:xfrm>
          <a:prstGeom prst="rect">
            <a:avLst/>
          </a:prstGeom>
          <a:solidFill>
            <a:srgbClr val="C0000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br</a:t>
            </a:r>
            <a:endParaRPr kumimoji="0" lang="en-GB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F5746E82-8682-9E66-1FE8-9577740F9BDF}"/>
              </a:ext>
            </a:extLst>
          </p:cNvPr>
          <p:cNvCxnSpPr>
            <a:cxnSpLocks/>
            <a:stCxn id="88" idx="2"/>
            <a:endCxn id="99" idx="0"/>
          </p:cNvCxnSpPr>
          <p:nvPr/>
        </p:nvCxnSpPr>
        <p:spPr bwMode="auto">
          <a:xfrm rot="16200000" flipH="1">
            <a:off x="7521201" y="2731654"/>
            <a:ext cx="220530" cy="189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5A6FC59D-016B-EC47-12BF-7EBDB9814DC6}"/>
              </a:ext>
            </a:extLst>
          </p:cNvPr>
          <p:cNvSpPr txBox="1"/>
          <p:nvPr/>
        </p:nvSpPr>
        <p:spPr>
          <a:xfrm>
            <a:off x="1172807" y="3074136"/>
            <a:ext cx="1057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/>
              <a:t>Pattern 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57BA1F-D1BD-3322-8061-2759557CAD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/>
              <a:t>HPCA'26: The Last-Level Branch Predictor Revisited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D38CAD-C697-93A9-D990-772321127B1D}"/>
              </a:ext>
            </a:extLst>
          </p:cNvPr>
          <p:cNvSpPr/>
          <p:nvPr/>
        </p:nvSpPr>
        <p:spPr bwMode="auto">
          <a:xfrm>
            <a:off x="2008132" y="2870800"/>
            <a:ext cx="135542" cy="212622"/>
          </a:xfrm>
          <a:prstGeom prst="rect">
            <a:avLst/>
          </a:prstGeom>
          <a:solidFill>
            <a:srgbClr val="7030A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EBB711-810D-2949-9FB1-542818565EE6}"/>
              </a:ext>
            </a:extLst>
          </p:cNvPr>
          <p:cNvSpPr/>
          <p:nvPr/>
        </p:nvSpPr>
        <p:spPr bwMode="auto">
          <a:xfrm>
            <a:off x="3212644" y="2870800"/>
            <a:ext cx="135542" cy="212622"/>
          </a:xfrm>
          <a:prstGeom prst="rect">
            <a:avLst/>
          </a:prstGeom>
          <a:solidFill>
            <a:srgbClr val="7030A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B1B3AF-DE83-0FDF-5627-537246390846}"/>
              </a:ext>
            </a:extLst>
          </p:cNvPr>
          <p:cNvSpPr/>
          <p:nvPr/>
        </p:nvSpPr>
        <p:spPr bwMode="auto">
          <a:xfrm>
            <a:off x="5019412" y="2870800"/>
            <a:ext cx="135542" cy="212622"/>
          </a:xfrm>
          <a:prstGeom prst="rect">
            <a:avLst/>
          </a:prstGeom>
          <a:solidFill>
            <a:srgbClr val="7030A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99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76" grpId="0" animBg="1"/>
      <p:bldP spid="81" grpId="0" animBg="1"/>
      <p:bldP spid="82" grpId="0" animBg="1"/>
      <p:bldP spid="83" grpId="0" animBg="1"/>
      <p:bldP spid="84" grpId="0" animBg="1"/>
      <p:bldP spid="85" grpId="0"/>
      <p:bldP spid="86" grpId="0" animBg="1"/>
      <p:bldP spid="87" grpId="0"/>
      <p:bldP spid="88" grpId="0" animBg="1"/>
      <p:bldP spid="89" grpId="0"/>
      <p:bldP spid="90" grpId="0" animBg="1"/>
      <p:bldP spid="91" grpId="0" animBg="1"/>
      <p:bldP spid="98" grpId="0"/>
      <p:bldP spid="110" grpId="0"/>
      <p:bldP spid="2" grpId="0" animBg="1"/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B274CAF3-054E-D0F0-137F-9B4D3A18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88">
            <a:extLst>
              <a:ext uri="{FF2B5EF4-FFF2-40B4-BE49-F238E27FC236}">
                <a16:creationId xmlns:a16="http://schemas.microsoft.com/office/drawing/2014/main" id="{75479CAE-7D65-3457-BEC0-C32C9F58BEA2}"/>
              </a:ext>
            </a:extLst>
          </p:cNvPr>
          <p:cNvSpPr/>
          <p:nvPr/>
        </p:nvSpPr>
        <p:spPr bwMode="auto">
          <a:xfrm>
            <a:off x="5014801" y="2599481"/>
            <a:ext cx="1473271" cy="499819"/>
          </a:xfrm>
          <a:prstGeom prst="rect">
            <a:avLst/>
          </a:prstGeom>
          <a:solidFill>
            <a:schemeClr val="accent4">
              <a:lumMod val="75000"/>
              <a:alpha val="7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fnC</a:t>
            </a:r>
            <a:endParaRPr kumimoji="0" lang="en-GB" sz="1600" b="0" i="0" u="none" strike="noStrike" cap="none" normalizeH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A428F71-6E98-67B5-9877-010F9A86644B}"/>
              </a:ext>
            </a:extLst>
          </p:cNvPr>
          <p:cNvSpPr/>
          <p:nvPr/>
        </p:nvSpPr>
        <p:spPr bwMode="auto">
          <a:xfrm>
            <a:off x="3181335" y="2599481"/>
            <a:ext cx="1833465" cy="499819"/>
          </a:xfrm>
          <a:prstGeom prst="rect">
            <a:avLst/>
          </a:prstGeom>
          <a:solidFill>
            <a:srgbClr val="92D050">
              <a:alpha val="74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fnB</a:t>
            </a:r>
            <a:endParaRPr kumimoji="0" lang="en-GB" sz="1600" b="0" i="0" u="none" strike="noStrike" cap="none" normalizeH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EC4976FD-8B58-123E-65DD-41B5231F6055}"/>
              </a:ext>
            </a:extLst>
          </p:cNvPr>
          <p:cNvSpPr/>
          <p:nvPr/>
        </p:nvSpPr>
        <p:spPr bwMode="auto">
          <a:xfrm>
            <a:off x="1969904" y="2599481"/>
            <a:ext cx="1205754" cy="499819"/>
          </a:xfrm>
          <a:prstGeom prst="rect">
            <a:avLst/>
          </a:prstGeom>
          <a:solidFill>
            <a:schemeClr val="accent1">
              <a:alpha val="7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fnA</a:t>
            </a:r>
            <a:endParaRPr kumimoji="0" lang="en-GB" sz="1600" b="0" i="0" u="none" strike="noStrike" cap="none" normalizeH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C358F85A-2C6F-0E76-FACA-B1A4DD381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02476"/>
            <a:ext cx="6647900" cy="1618900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Observations: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Branches</a:t>
            </a:r>
            <a:r>
              <a:rPr lang="en-GB" sz="1600" b="1" dirty="0"/>
              <a:t> </a:t>
            </a:r>
            <a:r>
              <a:rPr lang="en-GB" sz="1600" dirty="0"/>
              <a:t>can have many patterns </a:t>
            </a:r>
            <a:r>
              <a:rPr lang="en-GB" sz="1600" b="1" dirty="0"/>
              <a:t>with long history </a:t>
            </a:r>
            <a:r>
              <a:rPr lang="en-GB" sz="1300" dirty="0"/>
              <a:t>(hundreds of branches)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Span </a:t>
            </a:r>
            <a:r>
              <a:rPr lang="en-GB" sz="1600" b="1" noProof="0" dirty="0"/>
              <a:t>multiple code regions </a:t>
            </a:r>
            <a:r>
              <a:rPr lang="en-GB" sz="1600" dirty="0"/>
              <a:t>(e.g. </a:t>
            </a:r>
            <a:r>
              <a:rPr lang="en-GB" sz="1600" b="1" dirty="0">
                <a:solidFill>
                  <a:srgbClr val="7030A0"/>
                </a:solidFill>
              </a:rPr>
              <a:t>function calls</a:t>
            </a:r>
            <a:r>
              <a:rPr lang="en-GB" sz="1600" dirty="0"/>
              <a:t>)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Sequence of unconditional branches identifies global program state </a:t>
            </a:r>
          </a:p>
          <a:p>
            <a:pPr marL="90487" indent="0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None/>
              <a:tabLst>
                <a:tab pos="266700" algn="l"/>
              </a:tabLst>
            </a:pPr>
            <a:r>
              <a:rPr lang="en-GB" sz="1600" noProof="0" dirty="0">
                <a:sym typeface="Wingdings" panose="05000000000000000000" pitchFamily="2" charset="2"/>
              </a:rPr>
              <a:t>	 </a:t>
            </a:r>
            <a:r>
              <a:rPr lang="en-GB" sz="1600" b="1" noProof="0" dirty="0"/>
              <a:t>program context </a:t>
            </a:r>
            <a:r>
              <a:rPr lang="en-GB" sz="1600" noProof="0" dirty="0"/>
              <a:t>(aka. call chain)</a:t>
            </a:r>
          </a:p>
          <a:p>
            <a:pPr marL="0" indent="0">
              <a:buNone/>
            </a:pPr>
            <a:endParaRPr lang="en-GB" noProof="0" dirty="0"/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2573379B-258D-DD76-3766-1F08256DE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Enabling Hierarchical Branch Predictors via Contexts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DD27D031-E5DB-7876-1A7E-AD9FF85503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7</a:t>
            </a:fld>
            <a:endParaRPr lang="en-GB" noProof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282950D-B713-A6FF-C50F-19984B16250B}"/>
              </a:ext>
            </a:extLst>
          </p:cNvPr>
          <p:cNvSpPr/>
          <p:nvPr/>
        </p:nvSpPr>
        <p:spPr bwMode="auto">
          <a:xfrm>
            <a:off x="7464873" y="2842014"/>
            <a:ext cx="333375" cy="265364"/>
          </a:xfrm>
          <a:prstGeom prst="rect">
            <a:avLst/>
          </a:prstGeom>
          <a:solidFill>
            <a:srgbClr val="C0000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br</a:t>
            </a:r>
            <a:endParaRPr kumimoji="0" lang="en-GB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9DC0FAA0-F1AC-DAD4-BCCD-0BA2FCA5E895}"/>
              </a:ext>
            </a:extLst>
          </p:cNvPr>
          <p:cNvCxnSpPr>
            <a:cxnSpLocks/>
            <a:endCxn id="99" idx="0"/>
          </p:cNvCxnSpPr>
          <p:nvPr/>
        </p:nvCxnSpPr>
        <p:spPr bwMode="auto">
          <a:xfrm rot="5400000">
            <a:off x="7521298" y="2731749"/>
            <a:ext cx="220529" cy="1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" name="Connector: Curved 1">
            <a:extLst>
              <a:ext uri="{FF2B5EF4-FFF2-40B4-BE49-F238E27FC236}">
                <a16:creationId xmlns:a16="http://schemas.microsoft.com/office/drawing/2014/main" id="{CC46A410-68B7-7776-C6AE-A782B3CA89A9}"/>
              </a:ext>
            </a:extLst>
          </p:cNvPr>
          <p:cNvCxnSpPr>
            <a:cxnSpLocks/>
            <a:stCxn id="3" idx="2"/>
            <a:endCxn id="31" idx="3"/>
          </p:cNvCxnSpPr>
          <p:nvPr/>
        </p:nvCxnSpPr>
        <p:spPr bwMode="auto">
          <a:xfrm rot="5400000">
            <a:off x="8046175" y="1286123"/>
            <a:ext cx="431483" cy="814138"/>
          </a:xfrm>
          <a:prstGeom prst="curved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50A60BD-E12D-2065-73CA-35B3DA5ECBD5}"/>
              </a:ext>
            </a:extLst>
          </p:cNvPr>
          <p:cNvSpPr/>
          <p:nvPr/>
        </p:nvSpPr>
        <p:spPr bwMode="auto">
          <a:xfrm>
            <a:off x="8445429" y="1161384"/>
            <a:ext cx="447111" cy="316067"/>
          </a:xfrm>
          <a:prstGeom prst="rect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fnD</a:t>
            </a:r>
            <a:endParaRPr lang="en-GB" sz="1800" noProof="0">
              <a:latin typeface="Times" charset="0"/>
              <a:ea typeface="ＭＳ Ｐゴシック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4809D9-35F5-2B6C-31A2-AC32B11F27F5}"/>
              </a:ext>
            </a:extLst>
          </p:cNvPr>
          <p:cNvSpPr/>
          <p:nvPr/>
        </p:nvSpPr>
        <p:spPr bwMode="auto">
          <a:xfrm>
            <a:off x="5018226" y="3172203"/>
            <a:ext cx="1473271" cy="499819"/>
          </a:xfrm>
          <a:prstGeom prst="rect">
            <a:avLst/>
          </a:prstGeom>
          <a:solidFill>
            <a:schemeClr val="accent4">
              <a:lumMod val="75000"/>
              <a:alpha val="7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fnC</a:t>
            </a:r>
            <a:endParaRPr kumimoji="0" lang="en-GB" sz="1600" b="0" i="0" u="none" strike="noStrike" cap="none" normalizeH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1CFCC1-4AF6-3E16-397D-D1476318CE53}"/>
              </a:ext>
            </a:extLst>
          </p:cNvPr>
          <p:cNvSpPr/>
          <p:nvPr/>
        </p:nvSpPr>
        <p:spPr bwMode="auto">
          <a:xfrm>
            <a:off x="3520154" y="3172203"/>
            <a:ext cx="1498071" cy="499819"/>
          </a:xfrm>
          <a:prstGeom prst="rect">
            <a:avLst/>
          </a:prstGeom>
          <a:solidFill>
            <a:srgbClr val="92D050">
              <a:alpha val="74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fnB</a:t>
            </a:r>
            <a:endParaRPr kumimoji="0" lang="en-GB" sz="1600" b="0" i="0" u="none" strike="noStrike" cap="none" normalizeH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2C19D6-8BF1-1A5A-8E5A-79F19AACEEE7}"/>
              </a:ext>
            </a:extLst>
          </p:cNvPr>
          <p:cNvSpPr/>
          <p:nvPr/>
        </p:nvSpPr>
        <p:spPr bwMode="auto">
          <a:xfrm>
            <a:off x="2315461" y="3172202"/>
            <a:ext cx="1205754" cy="499819"/>
          </a:xfrm>
          <a:prstGeom prst="rect">
            <a:avLst/>
          </a:prstGeom>
          <a:solidFill>
            <a:srgbClr val="7030A0">
              <a:alpha val="74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fnD</a:t>
            </a:r>
            <a:endParaRPr kumimoji="0" lang="en-GB" sz="1600" b="0" i="0" u="none" strike="noStrike" cap="none" normalizeH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41AD8-7620-43C8-1F10-BB45896FD7F9}"/>
              </a:ext>
            </a:extLst>
          </p:cNvPr>
          <p:cNvSpPr/>
          <p:nvPr/>
        </p:nvSpPr>
        <p:spPr bwMode="auto">
          <a:xfrm>
            <a:off x="1245363" y="2852047"/>
            <a:ext cx="5235928" cy="249944"/>
          </a:xfrm>
          <a:prstGeom prst="rect">
            <a:avLst/>
          </a:prstGeom>
          <a:solidFill>
            <a:schemeClr val="bg1">
              <a:lumMod val="50000"/>
              <a:alpha val="79000"/>
            </a:schemeClr>
          </a:solidFill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178377-07A0-1C68-CF89-24F2BE67B13A}"/>
              </a:ext>
            </a:extLst>
          </p:cNvPr>
          <p:cNvSpPr/>
          <p:nvPr/>
        </p:nvSpPr>
        <p:spPr bwMode="auto">
          <a:xfrm>
            <a:off x="1403528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A729C1-8D7B-8EB0-A66E-75407B91E435}"/>
              </a:ext>
            </a:extLst>
          </p:cNvPr>
          <p:cNvSpPr/>
          <p:nvPr/>
        </p:nvSpPr>
        <p:spPr bwMode="auto">
          <a:xfrm>
            <a:off x="1554092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2FAF33-1B3D-147A-2010-C88F3B555357}"/>
              </a:ext>
            </a:extLst>
          </p:cNvPr>
          <p:cNvSpPr/>
          <p:nvPr/>
        </p:nvSpPr>
        <p:spPr bwMode="auto">
          <a:xfrm>
            <a:off x="1855220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A88D-6C63-70E0-0291-BB4E5684CB30}"/>
              </a:ext>
            </a:extLst>
          </p:cNvPr>
          <p:cNvSpPr/>
          <p:nvPr/>
        </p:nvSpPr>
        <p:spPr bwMode="auto">
          <a:xfrm>
            <a:off x="2005784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86A237-4315-9A14-ECE4-A7E242E8C371}"/>
              </a:ext>
            </a:extLst>
          </p:cNvPr>
          <p:cNvSpPr/>
          <p:nvPr/>
        </p:nvSpPr>
        <p:spPr bwMode="auto">
          <a:xfrm>
            <a:off x="2156348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9A6A21-D942-3AAB-32F4-A24E3824E5FF}"/>
              </a:ext>
            </a:extLst>
          </p:cNvPr>
          <p:cNvSpPr/>
          <p:nvPr/>
        </p:nvSpPr>
        <p:spPr bwMode="auto">
          <a:xfrm>
            <a:off x="2306912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CA01F8-A387-E1FF-37CC-1B823313DEDE}"/>
              </a:ext>
            </a:extLst>
          </p:cNvPr>
          <p:cNvSpPr/>
          <p:nvPr/>
        </p:nvSpPr>
        <p:spPr bwMode="auto">
          <a:xfrm>
            <a:off x="2457476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784632-1C94-668E-F49D-48703699F207}"/>
              </a:ext>
            </a:extLst>
          </p:cNvPr>
          <p:cNvSpPr/>
          <p:nvPr/>
        </p:nvSpPr>
        <p:spPr bwMode="auto">
          <a:xfrm>
            <a:off x="2608040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D5B12F-776E-B0A1-AECC-893C46DC896C}"/>
              </a:ext>
            </a:extLst>
          </p:cNvPr>
          <p:cNvSpPr/>
          <p:nvPr/>
        </p:nvSpPr>
        <p:spPr bwMode="auto">
          <a:xfrm>
            <a:off x="2758604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484E8E-B54A-C8AF-585A-C65A0B7BC628}"/>
              </a:ext>
            </a:extLst>
          </p:cNvPr>
          <p:cNvSpPr/>
          <p:nvPr/>
        </p:nvSpPr>
        <p:spPr bwMode="auto">
          <a:xfrm>
            <a:off x="2909168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EB3644-C2D0-B79F-3664-7E09C8D02325}"/>
              </a:ext>
            </a:extLst>
          </p:cNvPr>
          <p:cNvSpPr/>
          <p:nvPr/>
        </p:nvSpPr>
        <p:spPr bwMode="auto">
          <a:xfrm>
            <a:off x="3059732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68BFC4-D568-653A-36CD-06DE748AF734}"/>
              </a:ext>
            </a:extLst>
          </p:cNvPr>
          <p:cNvSpPr/>
          <p:nvPr/>
        </p:nvSpPr>
        <p:spPr bwMode="auto">
          <a:xfrm>
            <a:off x="3210296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56235C-3DA2-4CB9-D94D-B1365AEC849D}"/>
              </a:ext>
            </a:extLst>
          </p:cNvPr>
          <p:cNvSpPr/>
          <p:nvPr/>
        </p:nvSpPr>
        <p:spPr bwMode="auto">
          <a:xfrm>
            <a:off x="3360860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65E427-13F7-502B-A5B0-7D55FAD5585B}"/>
              </a:ext>
            </a:extLst>
          </p:cNvPr>
          <p:cNvSpPr/>
          <p:nvPr/>
        </p:nvSpPr>
        <p:spPr bwMode="auto">
          <a:xfrm>
            <a:off x="3511424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BA4E98-EDE8-56BD-F26B-6333D78E913F}"/>
              </a:ext>
            </a:extLst>
          </p:cNvPr>
          <p:cNvSpPr/>
          <p:nvPr/>
        </p:nvSpPr>
        <p:spPr bwMode="auto">
          <a:xfrm>
            <a:off x="3661988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60F4BE-C0E9-89E5-1B9D-84812024A146}"/>
              </a:ext>
            </a:extLst>
          </p:cNvPr>
          <p:cNvSpPr/>
          <p:nvPr/>
        </p:nvSpPr>
        <p:spPr bwMode="auto">
          <a:xfrm>
            <a:off x="4113680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3450C1-C49A-F893-0EA9-2BA075EC4619}"/>
              </a:ext>
            </a:extLst>
          </p:cNvPr>
          <p:cNvSpPr/>
          <p:nvPr/>
        </p:nvSpPr>
        <p:spPr bwMode="auto">
          <a:xfrm>
            <a:off x="3963116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EED6FBB-FDC6-4650-7D20-7DFEE63790D6}"/>
              </a:ext>
            </a:extLst>
          </p:cNvPr>
          <p:cNvSpPr/>
          <p:nvPr/>
        </p:nvSpPr>
        <p:spPr bwMode="auto">
          <a:xfrm>
            <a:off x="4264244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41707A5-7D87-C46E-5E0C-246E4C2CBB57}"/>
              </a:ext>
            </a:extLst>
          </p:cNvPr>
          <p:cNvSpPr/>
          <p:nvPr/>
        </p:nvSpPr>
        <p:spPr bwMode="auto">
          <a:xfrm>
            <a:off x="951836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653E499-5690-85E4-F96F-8FAEF0DCFB91}"/>
              </a:ext>
            </a:extLst>
          </p:cNvPr>
          <p:cNvSpPr/>
          <p:nvPr/>
        </p:nvSpPr>
        <p:spPr bwMode="auto">
          <a:xfrm>
            <a:off x="801272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65C7A71-BBD3-4485-A235-D6C5E697EB24}"/>
              </a:ext>
            </a:extLst>
          </p:cNvPr>
          <p:cNvSpPr/>
          <p:nvPr/>
        </p:nvSpPr>
        <p:spPr bwMode="auto">
          <a:xfrm>
            <a:off x="1102400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1FFD1B5-C3B7-50E5-75B0-A6334FB15686}"/>
              </a:ext>
            </a:extLst>
          </p:cNvPr>
          <p:cNvSpPr/>
          <p:nvPr/>
        </p:nvSpPr>
        <p:spPr bwMode="auto">
          <a:xfrm>
            <a:off x="1252964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470FECB-7A88-6286-2853-4B4C46549628}"/>
              </a:ext>
            </a:extLst>
          </p:cNvPr>
          <p:cNvSpPr/>
          <p:nvPr/>
        </p:nvSpPr>
        <p:spPr bwMode="auto">
          <a:xfrm>
            <a:off x="1704656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1064C8-8EDB-F020-DAA4-F0BB479BC2D4}"/>
              </a:ext>
            </a:extLst>
          </p:cNvPr>
          <p:cNvSpPr/>
          <p:nvPr/>
        </p:nvSpPr>
        <p:spPr bwMode="auto">
          <a:xfrm>
            <a:off x="3812552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3A8953F-1E2B-F7E8-5CE8-951B12B888F8}"/>
              </a:ext>
            </a:extLst>
          </p:cNvPr>
          <p:cNvSpPr/>
          <p:nvPr/>
        </p:nvSpPr>
        <p:spPr bwMode="auto">
          <a:xfrm>
            <a:off x="4414808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0844C30-0008-0A99-1790-82610D7284F9}"/>
              </a:ext>
            </a:extLst>
          </p:cNvPr>
          <p:cNvSpPr/>
          <p:nvPr/>
        </p:nvSpPr>
        <p:spPr bwMode="auto">
          <a:xfrm>
            <a:off x="4565372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7B31375-B46C-F526-5310-5B840A140F80}"/>
              </a:ext>
            </a:extLst>
          </p:cNvPr>
          <p:cNvSpPr/>
          <p:nvPr/>
        </p:nvSpPr>
        <p:spPr bwMode="auto">
          <a:xfrm>
            <a:off x="4715936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C2750FE-CA86-2163-6119-4A3467299959}"/>
              </a:ext>
            </a:extLst>
          </p:cNvPr>
          <p:cNvSpPr/>
          <p:nvPr/>
        </p:nvSpPr>
        <p:spPr bwMode="auto">
          <a:xfrm>
            <a:off x="4866500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26979ED-CFA5-5FD7-413C-E75C4D20DC86}"/>
              </a:ext>
            </a:extLst>
          </p:cNvPr>
          <p:cNvSpPr/>
          <p:nvPr/>
        </p:nvSpPr>
        <p:spPr bwMode="auto">
          <a:xfrm>
            <a:off x="5017064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D259348-53A6-E9A1-0F19-5F56CB41F682}"/>
              </a:ext>
            </a:extLst>
          </p:cNvPr>
          <p:cNvSpPr/>
          <p:nvPr/>
        </p:nvSpPr>
        <p:spPr bwMode="auto">
          <a:xfrm>
            <a:off x="5468756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A3F466C-5176-7A03-36BB-4DC2E01CC74A}"/>
              </a:ext>
            </a:extLst>
          </p:cNvPr>
          <p:cNvSpPr/>
          <p:nvPr/>
        </p:nvSpPr>
        <p:spPr bwMode="auto">
          <a:xfrm>
            <a:off x="5318192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9590A10-B8E2-4918-14FE-9BD3D66DC57C}"/>
              </a:ext>
            </a:extLst>
          </p:cNvPr>
          <p:cNvSpPr/>
          <p:nvPr/>
        </p:nvSpPr>
        <p:spPr bwMode="auto">
          <a:xfrm>
            <a:off x="5619320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1E6F4AE-178D-1A09-047C-C4C595391C17}"/>
              </a:ext>
            </a:extLst>
          </p:cNvPr>
          <p:cNvSpPr/>
          <p:nvPr/>
        </p:nvSpPr>
        <p:spPr bwMode="auto">
          <a:xfrm>
            <a:off x="5167628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B2EB9D4-A577-20B2-41EA-898EBAC8FACB}"/>
              </a:ext>
            </a:extLst>
          </p:cNvPr>
          <p:cNvSpPr/>
          <p:nvPr/>
        </p:nvSpPr>
        <p:spPr bwMode="auto">
          <a:xfrm>
            <a:off x="5769884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8CEC3C2-62A3-4F4A-061D-B46FE25AC3BD}"/>
              </a:ext>
            </a:extLst>
          </p:cNvPr>
          <p:cNvSpPr/>
          <p:nvPr/>
        </p:nvSpPr>
        <p:spPr bwMode="auto">
          <a:xfrm>
            <a:off x="5920448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DCD85A0-7B96-2FD6-B8E7-ADA121E62186}"/>
              </a:ext>
            </a:extLst>
          </p:cNvPr>
          <p:cNvSpPr/>
          <p:nvPr/>
        </p:nvSpPr>
        <p:spPr bwMode="auto">
          <a:xfrm>
            <a:off x="6071012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D220410-1E18-A954-A0FE-D2E12460E638}"/>
              </a:ext>
            </a:extLst>
          </p:cNvPr>
          <p:cNvSpPr/>
          <p:nvPr/>
        </p:nvSpPr>
        <p:spPr bwMode="auto">
          <a:xfrm>
            <a:off x="6221576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40F33E4-2BCD-D1D0-BF6E-93D34FEB868E}"/>
              </a:ext>
            </a:extLst>
          </p:cNvPr>
          <p:cNvSpPr/>
          <p:nvPr/>
        </p:nvSpPr>
        <p:spPr bwMode="auto">
          <a:xfrm>
            <a:off x="6372140" y="287237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DCBA080-6F2A-BF65-931B-C9474716DE2B}"/>
              </a:ext>
            </a:extLst>
          </p:cNvPr>
          <p:cNvSpPr/>
          <p:nvPr/>
        </p:nvSpPr>
        <p:spPr bwMode="auto">
          <a:xfrm>
            <a:off x="6522710" y="2872374"/>
            <a:ext cx="135542" cy="212622"/>
          </a:xfrm>
          <a:prstGeom prst="rect">
            <a:avLst/>
          </a:prstGeom>
          <a:solidFill>
            <a:srgbClr val="C0000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?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25" name="Speech Bubble: Rectangle 124">
            <a:extLst>
              <a:ext uri="{FF2B5EF4-FFF2-40B4-BE49-F238E27FC236}">
                <a16:creationId xmlns:a16="http://schemas.microsoft.com/office/drawing/2014/main" id="{750CE609-22FF-37ED-45F4-AF80B3056942}"/>
              </a:ext>
            </a:extLst>
          </p:cNvPr>
          <p:cNvSpPr/>
          <p:nvPr/>
        </p:nvSpPr>
        <p:spPr bwMode="auto">
          <a:xfrm>
            <a:off x="7597735" y="3467551"/>
            <a:ext cx="848530" cy="265364"/>
          </a:xfrm>
          <a:prstGeom prst="wedgeRectCallout">
            <a:avLst>
              <a:gd name="adj1" fmla="val -161272"/>
              <a:gd name="adj2" fmla="val -17569"/>
            </a:avLst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1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branch 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D80D32A-BE0F-420F-7C28-B62A48C02E3C}"/>
              </a:ext>
            </a:extLst>
          </p:cNvPr>
          <p:cNvSpPr/>
          <p:nvPr/>
        </p:nvSpPr>
        <p:spPr bwMode="auto">
          <a:xfrm>
            <a:off x="3001641" y="2247495"/>
            <a:ext cx="1368414" cy="229840"/>
          </a:xfrm>
          <a:prstGeom prst="rect">
            <a:avLst/>
          </a:prstGeom>
          <a:ln w="19050">
            <a:noFill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Global History</a:t>
            </a:r>
            <a:endParaRPr kumimoji="0" lang="en-GB" sz="200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27" name="Left Brace 126">
            <a:extLst>
              <a:ext uri="{FF2B5EF4-FFF2-40B4-BE49-F238E27FC236}">
                <a16:creationId xmlns:a16="http://schemas.microsoft.com/office/drawing/2014/main" id="{D3CC4BD7-74F6-485F-77D7-2C8C82437247}"/>
              </a:ext>
            </a:extLst>
          </p:cNvPr>
          <p:cNvSpPr/>
          <p:nvPr/>
        </p:nvSpPr>
        <p:spPr bwMode="auto">
          <a:xfrm rot="5400000">
            <a:off x="3591227" y="-294503"/>
            <a:ext cx="95456" cy="5675367"/>
          </a:xfrm>
          <a:prstGeom prst="leftBrace">
            <a:avLst>
              <a:gd name="adj1" fmla="val 8333"/>
              <a:gd name="adj2" fmla="val 48839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28" name="Speech Bubble: Rectangle 127">
            <a:extLst>
              <a:ext uri="{FF2B5EF4-FFF2-40B4-BE49-F238E27FC236}">
                <a16:creationId xmlns:a16="http://schemas.microsoft.com/office/drawing/2014/main" id="{7E57D998-1FB9-E60C-6B38-4768DC9E0199}"/>
              </a:ext>
            </a:extLst>
          </p:cNvPr>
          <p:cNvSpPr/>
          <p:nvPr/>
        </p:nvSpPr>
        <p:spPr bwMode="auto">
          <a:xfrm>
            <a:off x="2337507" y="3813535"/>
            <a:ext cx="569973" cy="225120"/>
          </a:xfrm>
          <a:prstGeom prst="wedgeRectCallout">
            <a:avLst>
              <a:gd name="adj1" fmla="val -42063"/>
              <a:gd name="adj2" fmla="val -124549"/>
            </a:avLst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dirty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dirty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D</a:t>
            </a:r>
            <a:endParaRPr lang="en-GB" sz="1600" baseline="-30000" noProof="0" dirty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129" name="Speech Bubble: Rectangle 128">
            <a:extLst>
              <a:ext uri="{FF2B5EF4-FFF2-40B4-BE49-F238E27FC236}">
                <a16:creationId xmlns:a16="http://schemas.microsoft.com/office/drawing/2014/main" id="{A16515F4-94BC-1358-35CB-A63193AF2894}"/>
              </a:ext>
            </a:extLst>
          </p:cNvPr>
          <p:cNvSpPr/>
          <p:nvPr/>
        </p:nvSpPr>
        <p:spPr bwMode="auto">
          <a:xfrm>
            <a:off x="3485303" y="3817607"/>
            <a:ext cx="614852" cy="221048"/>
          </a:xfrm>
          <a:prstGeom prst="wedgeRectCallout">
            <a:avLst>
              <a:gd name="adj1" fmla="val -32827"/>
              <a:gd name="adj2" fmla="val -128619"/>
            </a:avLst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latin typeface="Times" charset="0"/>
                <a:ea typeface="ＭＳ Ｐゴシック" charset="0"/>
              </a:rPr>
              <a:t>B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130" name="Speech Bubble: Rectangle 129">
            <a:extLst>
              <a:ext uri="{FF2B5EF4-FFF2-40B4-BE49-F238E27FC236}">
                <a16:creationId xmlns:a16="http://schemas.microsoft.com/office/drawing/2014/main" id="{3C90E177-55D0-461A-F9BD-454136063F9D}"/>
              </a:ext>
            </a:extLst>
          </p:cNvPr>
          <p:cNvSpPr/>
          <p:nvPr/>
        </p:nvSpPr>
        <p:spPr bwMode="auto">
          <a:xfrm>
            <a:off x="4677727" y="3817607"/>
            <a:ext cx="619429" cy="221048"/>
          </a:xfrm>
          <a:prstGeom prst="wedgeRectCallout">
            <a:avLst>
              <a:gd name="adj1" fmla="val 21981"/>
              <a:gd name="adj2" fmla="val -132170"/>
            </a:avLst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latin typeface="Times" charset="0"/>
                <a:ea typeface="ＭＳ Ｐゴシック" charset="0"/>
              </a:rPr>
              <a:t>C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920E29A-B60E-31F0-7A0C-22CF3D74B15E}"/>
              </a:ext>
            </a:extLst>
          </p:cNvPr>
          <p:cNvSpPr/>
          <p:nvPr/>
        </p:nvSpPr>
        <p:spPr bwMode="auto">
          <a:xfrm>
            <a:off x="2668973" y="4179344"/>
            <a:ext cx="2257114" cy="207657"/>
          </a:xfrm>
          <a:prstGeom prst="rect">
            <a:avLst/>
          </a:prstGeom>
          <a:ln w="19050">
            <a:noFill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Program Context </a:t>
            </a:r>
            <a:r>
              <a:rPr kumimoji="0" lang="en-GB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  <a:sym typeface="Wingdings" panose="05000000000000000000" pitchFamily="2" charset="2"/>
              </a:rPr>
              <a:t> DBC</a:t>
            </a:r>
            <a:endParaRPr kumimoji="0" lang="en-GB" sz="200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32" name="Left Brace 131">
            <a:extLst>
              <a:ext uri="{FF2B5EF4-FFF2-40B4-BE49-F238E27FC236}">
                <a16:creationId xmlns:a16="http://schemas.microsoft.com/office/drawing/2014/main" id="{7DEAC736-D27C-984C-BD8F-C6E80EDAF47F}"/>
              </a:ext>
            </a:extLst>
          </p:cNvPr>
          <p:cNvSpPr/>
          <p:nvPr/>
        </p:nvSpPr>
        <p:spPr bwMode="auto">
          <a:xfrm rot="5400000" flipH="1">
            <a:off x="3752873" y="2664078"/>
            <a:ext cx="120668" cy="2949881"/>
          </a:xfrm>
          <a:prstGeom prst="leftBrace">
            <a:avLst>
              <a:gd name="adj1" fmla="val 8333"/>
              <a:gd name="adj2" fmla="val 48839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F49A55D-CC72-9938-2C93-15DF340C57BF}"/>
              </a:ext>
            </a:extLst>
          </p:cNvPr>
          <p:cNvSpPr txBox="1"/>
          <p:nvPr/>
        </p:nvSpPr>
        <p:spPr>
          <a:xfrm>
            <a:off x="361785" y="2645713"/>
            <a:ext cx="398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/>
              <a:t>…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D45D7FD-93A5-21E0-5844-465B75FDFCB1}"/>
              </a:ext>
            </a:extLst>
          </p:cNvPr>
          <p:cNvSpPr txBox="1"/>
          <p:nvPr/>
        </p:nvSpPr>
        <p:spPr>
          <a:xfrm>
            <a:off x="1196846" y="2412857"/>
            <a:ext cx="398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/>
              <a:t>…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AA296FB-172E-C252-8516-A42671F06177}"/>
              </a:ext>
            </a:extLst>
          </p:cNvPr>
          <p:cNvSpPr txBox="1"/>
          <p:nvPr/>
        </p:nvSpPr>
        <p:spPr>
          <a:xfrm>
            <a:off x="853680" y="3098219"/>
            <a:ext cx="1057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/>
              <a:t>Pattern 1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9C6F442-0538-630E-A538-A372CC185DD5}"/>
              </a:ext>
            </a:extLst>
          </p:cNvPr>
          <p:cNvSpPr/>
          <p:nvPr/>
        </p:nvSpPr>
        <p:spPr bwMode="auto">
          <a:xfrm>
            <a:off x="1863949" y="3408807"/>
            <a:ext cx="4626071" cy="249944"/>
          </a:xfrm>
          <a:prstGeom prst="rect">
            <a:avLst/>
          </a:prstGeom>
          <a:solidFill>
            <a:schemeClr val="bg1">
              <a:lumMod val="50000"/>
              <a:alpha val="79000"/>
            </a:schemeClr>
          </a:solidFill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5A4DF0E-7052-8017-2B38-30444CFB6E1F}"/>
              </a:ext>
            </a:extLst>
          </p:cNvPr>
          <p:cNvSpPr/>
          <p:nvPr/>
        </p:nvSpPr>
        <p:spPr bwMode="auto">
          <a:xfrm>
            <a:off x="1863950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D3F185F-7B34-FE42-3D16-82DD1336B322}"/>
              </a:ext>
            </a:extLst>
          </p:cNvPr>
          <p:cNvSpPr/>
          <p:nvPr/>
        </p:nvSpPr>
        <p:spPr bwMode="auto">
          <a:xfrm>
            <a:off x="2014514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05D1D95-FC51-CF68-4246-5E64EB98E034}"/>
              </a:ext>
            </a:extLst>
          </p:cNvPr>
          <p:cNvSpPr/>
          <p:nvPr/>
        </p:nvSpPr>
        <p:spPr bwMode="auto">
          <a:xfrm>
            <a:off x="2165078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57FA81E-AC07-298C-D29B-304DBA1AA451}"/>
              </a:ext>
            </a:extLst>
          </p:cNvPr>
          <p:cNvSpPr/>
          <p:nvPr/>
        </p:nvSpPr>
        <p:spPr bwMode="auto">
          <a:xfrm>
            <a:off x="2315642" y="3429134"/>
            <a:ext cx="135542" cy="212622"/>
          </a:xfrm>
          <a:prstGeom prst="rect">
            <a:avLst/>
          </a:prstGeom>
          <a:solidFill>
            <a:srgbClr val="7030A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867C079-0371-A4CF-7490-839480C0AFCD}"/>
              </a:ext>
            </a:extLst>
          </p:cNvPr>
          <p:cNvSpPr/>
          <p:nvPr/>
        </p:nvSpPr>
        <p:spPr bwMode="auto">
          <a:xfrm>
            <a:off x="2466206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3F9C9FD-2239-BEF6-86A1-C92AA4715B26}"/>
              </a:ext>
            </a:extLst>
          </p:cNvPr>
          <p:cNvSpPr/>
          <p:nvPr/>
        </p:nvSpPr>
        <p:spPr bwMode="auto">
          <a:xfrm>
            <a:off x="2616770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14560E9-E1FB-7861-A16F-0A1780FE55E5}"/>
              </a:ext>
            </a:extLst>
          </p:cNvPr>
          <p:cNvSpPr/>
          <p:nvPr/>
        </p:nvSpPr>
        <p:spPr bwMode="auto">
          <a:xfrm>
            <a:off x="2767334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D8A0AAB-F132-A0C0-0E02-B6AA3EA4E579}"/>
              </a:ext>
            </a:extLst>
          </p:cNvPr>
          <p:cNvSpPr/>
          <p:nvPr/>
        </p:nvSpPr>
        <p:spPr bwMode="auto">
          <a:xfrm>
            <a:off x="2917898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10EF407-9A9B-A41F-76B4-F53A6AB6CC72}"/>
              </a:ext>
            </a:extLst>
          </p:cNvPr>
          <p:cNvSpPr/>
          <p:nvPr/>
        </p:nvSpPr>
        <p:spPr bwMode="auto">
          <a:xfrm>
            <a:off x="3068462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06A5ECC-F9ED-1C8D-3A69-7FE9553C04C9}"/>
              </a:ext>
            </a:extLst>
          </p:cNvPr>
          <p:cNvSpPr/>
          <p:nvPr/>
        </p:nvSpPr>
        <p:spPr bwMode="auto">
          <a:xfrm>
            <a:off x="3219026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7CBBF32-670E-0E49-1278-7AF373C139E0}"/>
              </a:ext>
            </a:extLst>
          </p:cNvPr>
          <p:cNvSpPr/>
          <p:nvPr/>
        </p:nvSpPr>
        <p:spPr bwMode="auto">
          <a:xfrm>
            <a:off x="3369590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25E90CC-B5CA-FC41-B946-B89E0F32D42B}"/>
              </a:ext>
            </a:extLst>
          </p:cNvPr>
          <p:cNvSpPr/>
          <p:nvPr/>
        </p:nvSpPr>
        <p:spPr bwMode="auto">
          <a:xfrm>
            <a:off x="3520154" y="3429134"/>
            <a:ext cx="135542" cy="212622"/>
          </a:xfrm>
          <a:prstGeom prst="rect">
            <a:avLst/>
          </a:prstGeom>
          <a:solidFill>
            <a:srgbClr val="7030A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A637A0B-7F7C-19F2-5522-95AFA7D26256}"/>
              </a:ext>
            </a:extLst>
          </p:cNvPr>
          <p:cNvSpPr/>
          <p:nvPr/>
        </p:nvSpPr>
        <p:spPr bwMode="auto">
          <a:xfrm>
            <a:off x="3670718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6EFCE27-4734-0391-8072-5B1EAA82EC37}"/>
              </a:ext>
            </a:extLst>
          </p:cNvPr>
          <p:cNvSpPr/>
          <p:nvPr/>
        </p:nvSpPr>
        <p:spPr bwMode="auto">
          <a:xfrm>
            <a:off x="4122410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184401F-99B9-B682-136D-B65B5770E588}"/>
              </a:ext>
            </a:extLst>
          </p:cNvPr>
          <p:cNvSpPr/>
          <p:nvPr/>
        </p:nvSpPr>
        <p:spPr bwMode="auto">
          <a:xfrm>
            <a:off x="3971846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D54F567-4FB8-F467-0BA2-5FEE54B9E298}"/>
              </a:ext>
            </a:extLst>
          </p:cNvPr>
          <p:cNvSpPr/>
          <p:nvPr/>
        </p:nvSpPr>
        <p:spPr bwMode="auto">
          <a:xfrm>
            <a:off x="4272974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08E15002-3364-ACB3-B89F-D4922513875D}"/>
              </a:ext>
            </a:extLst>
          </p:cNvPr>
          <p:cNvSpPr/>
          <p:nvPr/>
        </p:nvSpPr>
        <p:spPr bwMode="auto">
          <a:xfrm>
            <a:off x="3821282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C5615DB-E770-BBB5-6780-BB369BCD55D8}"/>
              </a:ext>
            </a:extLst>
          </p:cNvPr>
          <p:cNvSpPr/>
          <p:nvPr/>
        </p:nvSpPr>
        <p:spPr bwMode="auto">
          <a:xfrm>
            <a:off x="4423538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7143259E-2DFE-CC14-5CAC-2467FE0F40B7}"/>
              </a:ext>
            </a:extLst>
          </p:cNvPr>
          <p:cNvSpPr/>
          <p:nvPr/>
        </p:nvSpPr>
        <p:spPr bwMode="auto">
          <a:xfrm>
            <a:off x="4574102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C857F3E-5F42-C651-687A-6A1DAB8AE116}"/>
              </a:ext>
            </a:extLst>
          </p:cNvPr>
          <p:cNvSpPr/>
          <p:nvPr/>
        </p:nvSpPr>
        <p:spPr bwMode="auto">
          <a:xfrm>
            <a:off x="4724666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6AAE5E94-4C71-C76D-D722-66A72711B54C}"/>
              </a:ext>
            </a:extLst>
          </p:cNvPr>
          <p:cNvSpPr/>
          <p:nvPr/>
        </p:nvSpPr>
        <p:spPr bwMode="auto">
          <a:xfrm>
            <a:off x="4875230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ECF0050-9365-0E19-A60E-77A7F6978C22}"/>
              </a:ext>
            </a:extLst>
          </p:cNvPr>
          <p:cNvSpPr/>
          <p:nvPr/>
        </p:nvSpPr>
        <p:spPr bwMode="auto">
          <a:xfrm>
            <a:off x="5025794" y="3429134"/>
            <a:ext cx="135542" cy="212622"/>
          </a:xfrm>
          <a:prstGeom prst="rect">
            <a:avLst/>
          </a:prstGeom>
          <a:solidFill>
            <a:srgbClr val="7030A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8E21937-01DE-9A04-F76D-F54777AF54DF}"/>
              </a:ext>
            </a:extLst>
          </p:cNvPr>
          <p:cNvSpPr/>
          <p:nvPr/>
        </p:nvSpPr>
        <p:spPr bwMode="auto">
          <a:xfrm>
            <a:off x="5477486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9736872-C5E5-BD2D-A6F6-659E1896B1F9}"/>
              </a:ext>
            </a:extLst>
          </p:cNvPr>
          <p:cNvSpPr/>
          <p:nvPr/>
        </p:nvSpPr>
        <p:spPr bwMode="auto">
          <a:xfrm>
            <a:off x="5326922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E9BD258-2DDD-1D7E-4195-6C545115D597}"/>
              </a:ext>
            </a:extLst>
          </p:cNvPr>
          <p:cNvSpPr/>
          <p:nvPr/>
        </p:nvSpPr>
        <p:spPr bwMode="auto">
          <a:xfrm>
            <a:off x="5628050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D1E14C9-6E32-3D10-0DB4-D6E7C3A6ACCD}"/>
              </a:ext>
            </a:extLst>
          </p:cNvPr>
          <p:cNvSpPr/>
          <p:nvPr/>
        </p:nvSpPr>
        <p:spPr bwMode="auto">
          <a:xfrm>
            <a:off x="5176358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B1DA428-19D9-6476-315D-E4C3D950843E}"/>
              </a:ext>
            </a:extLst>
          </p:cNvPr>
          <p:cNvSpPr/>
          <p:nvPr/>
        </p:nvSpPr>
        <p:spPr bwMode="auto">
          <a:xfrm>
            <a:off x="5778614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A26753F-1B15-2C12-299C-2DB6AFB26BB5}"/>
              </a:ext>
            </a:extLst>
          </p:cNvPr>
          <p:cNvSpPr/>
          <p:nvPr/>
        </p:nvSpPr>
        <p:spPr bwMode="auto">
          <a:xfrm>
            <a:off x="5929178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22FA0D72-740A-346C-FEFF-FA1BA995082B}"/>
              </a:ext>
            </a:extLst>
          </p:cNvPr>
          <p:cNvSpPr/>
          <p:nvPr/>
        </p:nvSpPr>
        <p:spPr bwMode="auto">
          <a:xfrm>
            <a:off x="6079742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25C5DCE9-9C9E-57C4-5083-03E6C39FF4C7}"/>
              </a:ext>
            </a:extLst>
          </p:cNvPr>
          <p:cNvSpPr/>
          <p:nvPr/>
        </p:nvSpPr>
        <p:spPr bwMode="auto">
          <a:xfrm>
            <a:off x="6230306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6C42EB3D-1D04-BAFB-0FE2-70688573F9DC}"/>
              </a:ext>
            </a:extLst>
          </p:cNvPr>
          <p:cNvSpPr/>
          <p:nvPr/>
        </p:nvSpPr>
        <p:spPr bwMode="auto">
          <a:xfrm>
            <a:off x="6380870" y="3429134"/>
            <a:ext cx="135542" cy="21262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3F9ADFE9-215E-EF94-9A96-3415EE9AAA93}"/>
              </a:ext>
            </a:extLst>
          </p:cNvPr>
          <p:cNvSpPr/>
          <p:nvPr/>
        </p:nvSpPr>
        <p:spPr bwMode="auto">
          <a:xfrm>
            <a:off x="6531440" y="3429134"/>
            <a:ext cx="135542" cy="212622"/>
          </a:xfrm>
          <a:prstGeom prst="rect">
            <a:avLst/>
          </a:prstGeom>
          <a:solidFill>
            <a:srgbClr val="C0000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?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0A6FDB28-9E7C-A380-443C-9D8DBF3D2402}"/>
              </a:ext>
            </a:extLst>
          </p:cNvPr>
          <p:cNvSpPr txBox="1"/>
          <p:nvPr/>
        </p:nvSpPr>
        <p:spPr>
          <a:xfrm>
            <a:off x="1177050" y="3632256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Pattern 2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A13CE7D2-E4E5-E0A7-9601-C3E0B42BCD2E}"/>
              </a:ext>
            </a:extLst>
          </p:cNvPr>
          <p:cNvSpPr/>
          <p:nvPr/>
        </p:nvSpPr>
        <p:spPr>
          <a:xfrm>
            <a:off x="361786" y="2582576"/>
            <a:ext cx="6387062" cy="541479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93" name="Text Placeholder 5">
            <a:extLst>
              <a:ext uri="{FF2B5EF4-FFF2-40B4-BE49-F238E27FC236}">
                <a16:creationId xmlns:a16="http://schemas.microsoft.com/office/drawing/2014/main" id="{B617BDFA-BDBE-4310-1A93-1EC627087D8D}"/>
              </a:ext>
            </a:extLst>
          </p:cNvPr>
          <p:cNvSpPr txBox="1">
            <a:spLocks/>
          </p:cNvSpPr>
          <p:nvPr/>
        </p:nvSpPr>
        <p:spPr>
          <a:xfrm>
            <a:off x="251460" y="4419600"/>
            <a:ext cx="8641080" cy="49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ndara"/>
              <a:buNone/>
              <a:defRPr sz="1800" b="0" i="0" u="none" strike="noStrike" cap="none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r>
              <a:rPr lang="en-GB" sz="2000" noProof="0" dirty="0"/>
              <a:t>Contexts can identify required patterns ahead of time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648C9699-886E-7E35-0C6E-AD346BA0D0F0}"/>
              </a:ext>
            </a:extLst>
          </p:cNvPr>
          <p:cNvCxnSpPr>
            <a:cxnSpLocks/>
            <a:stCxn id="31" idx="3"/>
            <a:endCxn id="34" idx="3"/>
          </p:cNvCxnSpPr>
          <p:nvPr/>
        </p:nvCxnSpPr>
        <p:spPr bwMode="auto">
          <a:xfrm>
            <a:off x="7854847" y="1908934"/>
            <a:ext cx="12700" cy="56091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809DB884-0795-139D-77BE-9FFC161A17BD}"/>
              </a:ext>
            </a:extLst>
          </p:cNvPr>
          <p:cNvCxnSpPr>
            <a:cxnSpLocks/>
            <a:stCxn id="29" idx="3"/>
            <a:endCxn id="31" idx="3"/>
          </p:cNvCxnSpPr>
          <p:nvPr/>
        </p:nvCxnSpPr>
        <p:spPr bwMode="auto">
          <a:xfrm>
            <a:off x="7854847" y="1358149"/>
            <a:ext cx="12700" cy="55078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3C06F42-C8A7-48C4-1278-EDEEDCC62267}"/>
              </a:ext>
            </a:extLst>
          </p:cNvPr>
          <p:cNvSpPr/>
          <p:nvPr/>
        </p:nvSpPr>
        <p:spPr bwMode="auto">
          <a:xfrm>
            <a:off x="7407896" y="1206517"/>
            <a:ext cx="446951" cy="30326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fnA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832BD6-98F9-CFFF-E255-0AA917663864}"/>
              </a:ext>
            </a:extLst>
          </p:cNvPr>
          <p:cNvSpPr/>
          <p:nvPr/>
        </p:nvSpPr>
        <p:spPr bwMode="auto">
          <a:xfrm>
            <a:off x="6761201" y="911478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A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2DF262-908D-D1B3-173E-8E326ABFE07D}"/>
              </a:ext>
            </a:extLst>
          </p:cNvPr>
          <p:cNvSpPr/>
          <p:nvPr/>
        </p:nvSpPr>
        <p:spPr bwMode="auto">
          <a:xfrm>
            <a:off x="7407896" y="1757302"/>
            <a:ext cx="446951" cy="303263"/>
          </a:xfrm>
          <a:prstGeom prst="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fnB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8991B3-323F-EFF5-4461-D62E8F6896A8}"/>
              </a:ext>
            </a:extLst>
          </p:cNvPr>
          <p:cNvSpPr/>
          <p:nvPr/>
        </p:nvSpPr>
        <p:spPr bwMode="auto">
          <a:xfrm>
            <a:off x="6761201" y="1512956"/>
            <a:ext cx="638189" cy="3032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latin typeface="Times" charset="0"/>
                <a:ea typeface="ＭＳ Ｐゴシック" charset="0"/>
              </a:rPr>
              <a:t>B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59C5D8-EC31-D535-5A75-53580FCF94DF}"/>
              </a:ext>
            </a:extLst>
          </p:cNvPr>
          <p:cNvSpPr/>
          <p:nvPr/>
        </p:nvSpPr>
        <p:spPr bwMode="auto">
          <a:xfrm>
            <a:off x="7407896" y="2318221"/>
            <a:ext cx="446951" cy="30326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fnC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B3F541-2BCF-4615-B746-22212E82A5D8}"/>
              </a:ext>
            </a:extLst>
          </p:cNvPr>
          <p:cNvSpPr/>
          <p:nvPr/>
        </p:nvSpPr>
        <p:spPr bwMode="auto">
          <a:xfrm>
            <a:off x="6791747" y="2001878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01579655-2114-2795-086A-0A104F645260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7521201" y="2731654"/>
            <a:ext cx="220530" cy="189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B95E8B5-9D60-0D0E-2711-C827B9242481}"/>
              </a:ext>
            </a:extLst>
          </p:cNvPr>
          <p:cNvSpPr/>
          <p:nvPr/>
        </p:nvSpPr>
        <p:spPr>
          <a:xfrm>
            <a:off x="6788150" y="1065463"/>
            <a:ext cx="1270913" cy="54147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A75D6E-3854-2710-A4F2-70C253442BF6}"/>
              </a:ext>
            </a:extLst>
          </p:cNvPr>
          <p:cNvSpPr/>
          <p:nvPr/>
        </p:nvSpPr>
        <p:spPr bwMode="auto">
          <a:xfrm>
            <a:off x="7873512" y="877414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8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8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D</a:t>
            </a:r>
            <a:endParaRPr lang="en-GB" sz="18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6C6E00EA-9112-C7C0-5E22-40A05BE92F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/>
              <a:t>HPCA'26: The Last-Level Branch Predictor Revisited</a:t>
            </a:r>
          </a:p>
        </p:txBody>
      </p:sp>
    </p:spTree>
    <p:extLst>
      <p:ext uri="{BB962C8B-B14F-4D97-AF65-F5344CB8AC3E}">
        <p14:creationId xmlns:p14="http://schemas.microsoft.com/office/powerpoint/2010/main" val="409701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25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87" grpId="0"/>
      <p:bldP spid="19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DB99B923-0730-EDFF-C0CC-A189EC641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4022635A-C4B0-2407-048F-92F15C5B0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02476"/>
            <a:ext cx="6386455" cy="1618900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LLBP Mechanism: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b="1" noProof="0" dirty="0"/>
              <a:t>Group patterns </a:t>
            </a:r>
            <a:r>
              <a:rPr lang="en-GB" sz="1600" noProof="0" dirty="0"/>
              <a:t>per context </a:t>
            </a:r>
            <a:r>
              <a:rPr lang="en-GB" sz="1600" noProof="0" dirty="0">
                <a:sym typeface="Wingdings" panose="05000000000000000000" pitchFamily="2" charset="2"/>
              </a:rPr>
              <a:t>into </a:t>
            </a:r>
            <a:r>
              <a:rPr lang="en-GB" sz="1600" b="1" noProof="0" dirty="0">
                <a:sym typeface="Wingdings" panose="05000000000000000000" pitchFamily="2" charset="2"/>
              </a:rPr>
              <a:t>pattern sets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>
                <a:sym typeface="Wingdings" panose="05000000000000000000" pitchFamily="2" charset="2"/>
              </a:rPr>
              <a:t>Form context ID by hashing </a:t>
            </a:r>
            <a:r>
              <a:rPr lang="en-GB" sz="1600" noProof="0" dirty="0" err="1">
                <a:sym typeface="Wingdings" panose="05000000000000000000" pitchFamily="2" charset="2"/>
              </a:rPr>
              <a:t>uncond</a:t>
            </a:r>
            <a:r>
              <a:rPr lang="en-GB" sz="1600" noProof="0" dirty="0">
                <a:sym typeface="Wingdings" panose="05000000000000000000" pitchFamily="2" charset="2"/>
              </a:rPr>
              <a:t>. branches</a:t>
            </a:r>
            <a:endParaRPr lang="en-GB" sz="1600" noProof="0" dirty="0"/>
          </a:p>
          <a:p>
            <a:pPr marL="0" indent="0">
              <a:buNone/>
            </a:pPr>
            <a:endParaRPr lang="en-GB" noProof="0" dirty="0"/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C775E2F0-FB6C-E2E5-B21E-FFF38C9C6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Enabling Hierarchical Branch Predictors via Contexts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8767FEEE-58CB-3090-868E-AA3A1C9D8C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8</a:t>
            </a:fld>
            <a:endParaRPr lang="en-GB" noProof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DEDF299-47AE-6E93-A0E5-6F627FA07C82}"/>
              </a:ext>
            </a:extLst>
          </p:cNvPr>
          <p:cNvSpPr/>
          <p:nvPr/>
        </p:nvSpPr>
        <p:spPr bwMode="auto">
          <a:xfrm>
            <a:off x="7464873" y="2842014"/>
            <a:ext cx="333375" cy="265364"/>
          </a:xfrm>
          <a:prstGeom prst="rect">
            <a:avLst/>
          </a:prstGeom>
          <a:solidFill>
            <a:srgbClr val="C0000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br</a:t>
            </a:r>
            <a:endParaRPr kumimoji="0" lang="en-GB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A6263109-728A-9890-C188-0B2583E9999D}"/>
              </a:ext>
            </a:extLst>
          </p:cNvPr>
          <p:cNvCxnSpPr>
            <a:cxnSpLocks/>
            <a:endCxn id="99" idx="0"/>
          </p:cNvCxnSpPr>
          <p:nvPr/>
        </p:nvCxnSpPr>
        <p:spPr bwMode="auto">
          <a:xfrm rot="5400000">
            <a:off x="7521298" y="2731749"/>
            <a:ext cx="220529" cy="1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" name="Connector: Curved 1">
            <a:extLst>
              <a:ext uri="{FF2B5EF4-FFF2-40B4-BE49-F238E27FC236}">
                <a16:creationId xmlns:a16="http://schemas.microsoft.com/office/drawing/2014/main" id="{9B59D5E8-C8DE-9064-BE43-B9B4ADE14C33}"/>
              </a:ext>
            </a:extLst>
          </p:cNvPr>
          <p:cNvCxnSpPr>
            <a:cxnSpLocks/>
            <a:stCxn id="3" idx="2"/>
            <a:endCxn id="31" idx="3"/>
          </p:cNvCxnSpPr>
          <p:nvPr/>
        </p:nvCxnSpPr>
        <p:spPr bwMode="auto">
          <a:xfrm rot="5400000">
            <a:off x="8046175" y="1286123"/>
            <a:ext cx="431483" cy="814138"/>
          </a:xfrm>
          <a:prstGeom prst="curved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0ADCC0E-546D-475E-6C5F-F08B066939D3}"/>
              </a:ext>
            </a:extLst>
          </p:cNvPr>
          <p:cNvSpPr/>
          <p:nvPr/>
        </p:nvSpPr>
        <p:spPr bwMode="auto">
          <a:xfrm>
            <a:off x="8445429" y="1161384"/>
            <a:ext cx="447111" cy="316067"/>
          </a:xfrm>
          <a:prstGeom prst="rect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fnD</a:t>
            </a:r>
            <a:endParaRPr lang="en-GB" sz="1800" noProof="0">
              <a:latin typeface="Times" charset="0"/>
              <a:ea typeface="ＭＳ Ｐゴシック" charset="0"/>
            </a:endParaRP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E23DE8C6-219D-6F66-D45E-6D5701EDDE93}"/>
              </a:ext>
            </a:extLst>
          </p:cNvPr>
          <p:cNvCxnSpPr>
            <a:cxnSpLocks/>
            <a:stCxn id="31" idx="3"/>
            <a:endCxn id="34" idx="3"/>
          </p:cNvCxnSpPr>
          <p:nvPr/>
        </p:nvCxnSpPr>
        <p:spPr bwMode="auto">
          <a:xfrm>
            <a:off x="7854847" y="1908934"/>
            <a:ext cx="12700" cy="56091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85090C8A-66E3-06A8-5DA9-82BE3FAA853D}"/>
              </a:ext>
            </a:extLst>
          </p:cNvPr>
          <p:cNvCxnSpPr>
            <a:cxnSpLocks/>
            <a:stCxn id="29" idx="3"/>
            <a:endCxn id="31" idx="3"/>
          </p:cNvCxnSpPr>
          <p:nvPr/>
        </p:nvCxnSpPr>
        <p:spPr bwMode="auto">
          <a:xfrm>
            <a:off x="7854847" y="1358149"/>
            <a:ext cx="12700" cy="55078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A0B87DE-994E-E9AA-7312-3B0E1FC4D32C}"/>
              </a:ext>
            </a:extLst>
          </p:cNvPr>
          <p:cNvSpPr/>
          <p:nvPr/>
        </p:nvSpPr>
        <p:spPr bwMode="auto">
          <a:xfrm>
            <a:off x="7407896" y="1206517"/>
            <a:ext cx="446951" cy="30326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fnA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25DD38-4FCA-DFFE-062D-74B56FA863C9}"/>
              </a:ext>
            </a:extLst>
          </p:cNvPr>
          <p:cNvSpPr/>
          <p:nvPr/>
        </p:nvSpPr>
        <p:spPr bwMode="auto">
          <a:xfrm>
            <a:off x="6761201" y="911478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A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3300C0-A78E-3BA7-66C7-8B33A57AF62D}"/>
              </a:ext>
            </a:extLst>
          </p:cNvPr>
          <p:cNvSpPr/>
          <p:nvPr/>
        </p:nvSpPr>
        <p:spPr bwMode="auto">
          <a:xfrm>
            <a:off x="7407896" y="1757302"/>
            <a:ext cx="446951" cy="303263"/>
          </a:xfrm>
          <a:prstGeom prst="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fnB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B03363-972C-A7AC-A5AA-8F104A68680C}"/>
              </a:ext>
            </a:extLst>
          </p:cNvPr>
          <p:cNvSpPr/>
          <p:nvPr/>
        </p:nvSpPr>
        <p:spPr bwMode="auto">
          <a:xfrm>
            <a:off x="6761201" y="1512956"/>
            <a:ext cx="638189" cy="3032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latin typeface="Times" charset="0"/>
                <a:ea typeface="ＭＳ Ｐゴシック" charset="0"/>
              </a:rPr>
              <a:t>B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31C2CB-88F4-B739-5D02-D670A18CDBC4}"/>
              </a:ext>
            </a:extLst>
          </p:cNvPr>
          <p:cNvSpPr/>
          <p:nvPr/>
        </p:nvSpPr>
        <p:spPr bwMode="auto">
          <a:xfrm>
            <a:off x="7407896" y="2318221"/>
            <a:ext cx="446951" cy="30326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fnC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56AE4E-CE67-1DE0-8700-1CC9FD4E1BAF}"/>
              </a:ext>
            </a:extLst>
          </p:cNvPr>
          <p:cNvSpPr/>
          <p:nvPr/>
        </p:nvSpPr>
        <p:spPr bwMode="auto">
          <a:xfrm>
            <a:off x="6791747" y="2001878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74A03480-7741-E4A6-B0AF-F516F5CB7C83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7521201" y="2731654"/>
            <a:ext cx="220530" cy="189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6024184-A47A-415F-5A21-493EEAED9643}"/>
              </a:ext>
            </a:extLst>
          </p:cNvPr>
          <p:cNvSpPr/>
          <p:nvPr/>
        </p:nvSpPr>
        <p:spPr bwMode="auto">
          <a:xfrm>
            <a:off x="7873512" y="877414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8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8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D</a:t>
            </a:r>
            <a:endParaRPr lang="en-GB" sz="18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D64D13-713D-F732-5F8D-095C0CD10C18}"/>
              </a:ext>
            </a:extLst>
          </p:cNvPr>
          <p:cNvSpPr/>
          <p:nvPr/>
        </p:nvSpPr>
        <p:spPr bwMode="auto">
          <a:xfrm>
            <a:off x="2484438" y="3652548"/>
            <a:ext cx="1646074" cy="621435"/>
          </a:xfrm>
          <a:prstGeom prst="rect">
            <a:avLst/>
          </a:prstGeom>
          <a:gradFill>
            <a:gsLst>
              <a:gs pos="4000">
                <a:schemeClr val="accent1">
                  <a:lumMod val="75000"/>
                </a:schemeClr>
              </a:gs>
              <a:gs pos="57760">
                <a:srgbClr val="92D050"/>
              </a:gs>
              <a:gs pos="100000">
                <a:schemeClr val="accent4"/>
              </a:gs>
            </a:gsLst>
            <a:lin ang="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75600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CB4139-DA21-5A26-2C85-D1E7B0D55457}"/>
              </a:ext>
            </a:extLst>
          </p:cNvPr>
          <p:cNvSpPr/>
          <p:nvPr/>
        </p:nvSpPr>
        <p:spPr bwMode="auto">
          <a:xfrm>
            <a:off x="5013489" y="3652548"/>
            <a:ext cx="1646074" cy="621435"/>
          </a:xfrm>
          <a:prstGeom prst="rect">
            <a:avLst/>
          </a:prstGeom>
          <a:gradFill>
            <a:gsLst>
              <a:gs pos="4000">
                <a:srgbClr val="7030A0"/>
              </a:gs>
              <a:gs pos="57760">
                <a:srgbClr val="92D050"/>
              </a:gs>
              <a:gs pos="100000">
                <a:schemeClr val="accent4"/>
              </a:gs>
            </a:gsLst>
            <a:lin ang="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75600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02B273A-A6DF-3DFA-71B6-C0C801176D72}"/>
              </a:ext>
            </a:extLst>
          </p:cNvPr>
          <p:cNvSpPr/>
          <p:nvPr/>
        </p:nvSpPr>
        <p:spPr bwMode="auto">
          <a:xfrm>
            <a:off x="6659563" y="2834148"/>
            <a:ext cx="596836" cy="20044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01010001</a:t>
            </a:r>
          </a:p>
        </p:txBody>
      </p:sp>
      <p:sp>
        <p:nvSpPr>
          <p:cNvPr id="47" name="Free-form: Shape 46">
            <a:extLst>
              <a:ext uri="{FF2B5EF4-FFF2-40B4-BE49-F238E27FC236}">
                <a16:creationId xmlns:a16="http://schemas.microsoft.com/office/drawing/2014/main" id="{68B4399F-2075-4796-691D-0D63F6CD4FDE}"/>
              </a:ext>
            </a:extLst>
          </p:cNvPr>
          <p:cNvSpPr/>
          <p:nvPr/>
        </p:nvSpPr>
        <p:spPr>
          <a:xfrm>
            <a:off x="7696200" y="1363980"/>
            <a:ext cx="333375" cy="1539240"/>
          </a:xfrm>
          <a:custGeom>
            <a:avLst/>
            <a:gdLst>
              <a:gd name="csX0" fmla="*/ 121920 w 384045"/>
              <a:gd name="csY0" fmla="*/ 0 h 1539240"/>
              <a:gd name="csX1" fmla="*/ 304800 w 384045"/>
              <a:gd name="csY1" fmla="*/ 228600 h 1539240"/>
              <a:gd name="csX2" fmla="*/ 175260 w 384045"/>
              <a:gd name="csY2" fmla="*/ 533400 h 1539240"/>
              <a:gd name="csX3" fmla="*/ 182880 w 384045"/>
              <a:gd name="csY3" fmla="*/ 563880 h 1539240"/>
              <a:gd name="csX4" fmla="*/ 373380 w 384045"/>
              <a:gd name="csY4" fmla="*/ 792480 h 1539240"/>
              <a:gd name="csX5" fmla="*/ 335280 w 384045"/>
              <a:gd name="csY5" fmla="*/ 998220 h 1539240"/>
              <a:gd name="csX6" fmla="*/ 129540 w 384045"/>
              <a:gd name="csY6" fmla="*/ 1143000 h 1539240"/>
              <a:gd name="csX7" fmla="*/ 0 w 384045"/>
              <a:gd name="csY7" fmla="*/ 1539240 h 1539240"/>
              <a:gd name="csX8" fmla="*/ 0 w 384045"/>
              <a:gd name="csY8" fmla="*/ 1539240 h 1539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4045" h="1539240">
                <a:moveTo>
                  <a:pt x="121920" y="0"/>
                </a:moveTo>
                <a:cubicBezTo>
                  <a:pt x="208915" y="69850"/>
                  <a:pt x="295910" y="139700"/>
                  <a:pt x="304800" y="228600"/>
                </a:cubicBezTo>
                <a:cubicBezTo>
                  <a:pt x="313690" y="317500"/>
                  <a:pt x="195580" y="477520"/>
                  <a:pt x="175260" y="533400"/>
                </a:cubicBezTo>
                <a:cubicBezTo>
                  <a:pt x="154940" y="589280"/>
                  <a:pt x="149860" y="520700"/>
                  <a:pt x="182880" y="563880"/>
                </a:cubicBezTo>
                <a:cubicBezTo>
                  <a:pt x="215900" y="607060"/>
                  <a:pt x="347980" y="720090"/>
                  <a:pt x="373380" y="792480"/>
                </a:cubicBezTo>
                <a:cubicBezTo>
                  <a:pt x="398780" y="864870"/>
                  <a:pt x="375920" y="939800"/>
                  <a:pt x="335280" y="998220"/>
                </a:cubicBezTo>
                <a:cubicBezTo>
                  <a:pt x="294640" y="1056640"/>
                  <a:pt x="185420" y="1052830"/>
                  <a:pt x="129540" y="1143000"/>
                </a:cubicBezTo>
                <a:cubicBezTo>
                  <a:pt x="73660" y="1233170"/>
                  <a:pt x="0" y="1539240"/>
                  <a:pt x="0" y="1539240"/>
                </a:cubicBezTo>
                <a:lnTo>
                  <a:pt x="0" y="1539240"/>
                </a:lnTo>
              </a:path>
            </a:pathLst>
          </a:custGeom>
          <a:noFill/>
          <a:ln w="57150">
            <a:solidFill>
              <a:srgbClr val="C0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51" name="Free-form: Shape 50">
            <a:extLst>
              <a:ext uri="{FF2B5EF4-FFF2-40B4-BE49-F238E27FC236}">
                <a16:creationId xmlns:a16="http://schemas.microsoft.com/office/drawing/2014/main" id="{F2A6803D-FF65-1F2B-1999-43A5FA624675}"/>
              </a:ext>
            </a:extLst>
          </p:cNvPr>
          <p:cNvSpPr/>
          <p:nvPr/>
        </p:nvSpPr>
        <p:spPr>
          <a:xfrm>
            <a:off x="7727902" y="1496962"/>
            <a:ext cx="922027" cy="1437968"/>
          </a:xfrm>
          <a:custGeom>
            <a:avLst/>
            <a:gdLst>
              <a:gd name="csX0" fmla="*/ 789039 w 789039"/>
              <a:gd name="csY0" fmla="*/ 0 h 405581"/>
              <a:gd name="csX1" fmla="*/ 744794 w 789039"/>
              <a:gd name="csY1" fmla="*/ 147484 h 405581"/>
              <a:gd name="csX2" fmla="*/ 626807 w 789039"/>
              <a:gd name="csY2" fmla="*/ 228600 h 405581"/>
              <a:gd name="csX3" fmla="*/ 398207 w 789039"/>
              <a:gd name="csY3" fmla="*/ 353962 h 405581"/>
              <a:gd name="csX4" fmla="*/ 0 w 789039"/>
              <a:gd name="csY4" fmla="*/ 405581 h 405581"/>
              <a:gd name="csX0" fmla="*/ 921775 w 921775"/>
              <a:gd name="csY0" fmla="*/ 0 h 1437968"/>
              <a:gd name="csX1" fmla="*/ 877530 w 921775"/>
              <a:gd name="csY1" fmla="*/ 147484 h 1437968"/>
              <a:gd name="csX2" fmla="*/ 759543 w 921775"/>
              <a:gd name="csY2" fmla="*/ 228600 h 1437968"/>
              <a:gd name="csX3" fmla="*/ 530943 w 921775"/>
              <a:gd name="csY3" fmla="*/ 353962 h 1437968"/>
              <a:gd name="csX4" fmla="*/ 0 w 921775"/>
              <a:gd name="csY4" fmla="*/ 1437968 h 1437968"/>
              <a:gd name="csX0" fmla="*/ 921883 w 921883"/>
              <a:gd name="csY0" fmla="*/ 0 h 1437968"/>
              <a:gd name="csX1" fmla="*/ 877638 w 921883"/>
              <a:gd name="csY1" fmla="*/ 147484 h 1437968"/>
              <a:gd name="csX2" fmla="*/ 759651 w 921883"/>
              <a:gd name="csY2" fmla="*/ 228600 h 1437968"/>
              <a:gd name="csX3" fmla="*/ 531051 w 921883"/>
              <a:gd name="csY3" fmla="*/ 353962 h 1437968"/>
              <a:gd name="csX4" fmla="*/ 108 w 921883"/>
              <a:gd name="csY4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280473 w 922027"/>
              <a:gd name="csY3" fmla="*/ 870155 h 1437968"/>
              <a:gd name="csX4" fmla="*/ 252 w 922027"/>
              <a:gd name="csY4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280473 w 922027"/>
              <a:gd name="csY3" fmla="*/ 870155 h 1437968"/>
              <a:gd name="csX4" fmla="*/ 252 w 922027"/>
              <a:gd name="csY4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545943 w 922027"/>
              <a:gd name="csY3" fmla="*/ 516193 h 1437968"/>
              <a:gd name="csX4" fmla="*/ 280473 w 922027"/>
              <a:gd name="csY4" fmla="*/ 870155 h 1437968"/>
              <a:gd name="csX5" fmla="*/ 252 w 922027"/>
              <a:gd name="csY5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132988 w 922027"/>
              <a:gd name="csY3" fmla="*/ 420329 h 1437968"/>
              <a:gd name="csX4" fmla="*/ 280473 w 922027"/>
              <a:gd name="csY4" fmla="*/ 870155 h 1437968"/>
              <a:gd name="csX5" fmla="*/ 252 w 922027"/>
              <a:gd name="csY5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132988 w 922027"/>
              <a:gd name="csY3" fmla="*/ 420329 h 1437968"/>
              <a:gd name="csX4" fmla="*/ 280473 w 922027"/>
              <a:gd name="csY4" fmla="*/ 870155 h 1437968"/>
              <a:gd name="csX5" fmla="*/ 252 w 922027"/>
              <a:gd name="csY5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132988 w 922027"/>
              <a:gd name="csY3" fmla="*/ 420329 h 1437968"/>
              <a:gd name="csX4" fmla="*/ 280473 w 922027"/>
              <a:gd name="csY4" fmla="*/ 870155 h 1437968"/>
              <a:gd name="csX5" fmla="*/ 252 w 922027"/>
              <a:gd name="csY5" fmla="*/ 1437968 h 1437968"/>
              <a:gd name="csX0" fmla="*/ 922027 w 922027"/>
              <a:gd name="csY0" fmla="*/ 0 h 1437968"/>
              <a:gd name="csX1" fmla="*/ 759795 w 922027"/>
              <a:gd name="csY1" fmla="*/ 228600 h 1437968"/>
              <a:gd name="csX2" fmla="*/ 132988 w 922027"/>
              <a:gd name="csY2" fmla="*/ 420329 h 1437968"/>
              <a:gd name="csX3" fmla="*/ 280473 w 922027"/>
              <a:gd name="csY3" fmla="*/ 870155 h 1437968"/>
              <a:gd name="csX4" fmla="*/ 252 w 922027"/>
              <a:gd name="csY4" fmla="*/ 1437968 h 1437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2027" h="1437968">
                <a:moveTo>
                  <a:pt x="922027" y="0"/>
                </a:moveTo>
                <a:cubicBezTo>
                  <a:pt x="888229" y="47625"/>
                  <a:pt x="891301" y="158545"/>
                  <a:pt x="759795" y="228600"/>
                </a:cubicBezTo>
                <a:cubicBezTo>
                  <a:pt x="635663" y="274074"/>
                  <a:pt x="470972" y="394520"/>
                  <a:pt x="132988" y="420329"/>
                </a:cubicBezTo>
                <a:cubicBezTo>
                  <a:pt x="244830" y="519881"/>
                  <a:pt x="371422" y="716526"/>
                  <a:pt x="280473" y="870155"/>
                </a:cubicBezTo>
                <a:cubicBezTo>
                  <a:pt x="176005" y="899652"/>
                  <a:pt x="-7737" y="1235178"/>
                  <a:pt x="252" y="1437968"/>
                </a:cubicBezTo>
              </a:path>
            </a:pathLst>
          </a:custGeom>
          <a:noFill/>
          <a:ln w="57150">
            <a:solidFill>
              <a:srgbClr val="C0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C915345-3681-9E71-E767-4BB484A7C924}"/>
              </a:ext>
            </a:extLst>
          </p:cNvPr>
          <p:cNvSpPr/>
          <p:nvPr/>
        </p:nvSpPr>
        <p:spPr bwMode="auto">
          <a:xfrm>
            <a:off x="6761201" y="2903220"/>
            <a:ext cx="596836" cy="20044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01011101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E0AE74-0886-F32C-DC66-362EB0D4C657}"/>
              </a:ext>
            </a:extLst>
          </p:cNvPr>
          <p:cNvSpPr txBox="1"/>
          <p:nvPr/>
        </p:nvSpPr>
        <p:spPr>
          <a:xfrm>
            <a:off x="3068577" y="3690602"/>
            <a:ext cx="477795" cy="2154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spAutoFit/>
          </a:bodyPr>
          <a:lstStyle/>
          <a:p>
            <a:r>
              <a:rPr lang="en-GB" noProof="0"/>
              <a:t>ABC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328AF5-92F5-D2A0-3842-19D5EDE7C0A9}"/>
              </a:ext>
            </a:extLst>
          </p:cNvPr>
          <p:cNvSpPr txBox="1"/>
          <p:nvPr/>
        </p:nvSpPr>
        <p:spPr>
          <a:xfrm>
            <a:off x="5597628" y="3690602"/>
            <a:ext cx="477795" cy="2154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spAutoFit/>
          </a:bodyPr>
          <a:lstStyle/>
          <a:p>
            <a:r>
              <a:rPr lang="en-GB" noProof="0"/>
              <a:t>DBC</a:t>
            </a:r>
          </a:p>
        </p:txBody>
      </p:sp>
      <p:sp>
        <p:nvSpPr>
          <p:cNvPr id="55" name="Footer Placeholder 54">
            <a:extLst>
              <a:ext uri="{FF2B5EF4-FFF2-40B4-BE49-F238E27FC236}">
                <a16:creationId xmlns:a16="http://schemas.microsoft.com/office/drawing/2014/main" id="{A7A94282-89D7-3A3B-B9C3-0C813A57CF8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/>
              <a:t>HPCA'26: The Last-Level Branch Predictor Revisited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F479AF-CAEC-0C7F-1A58-7AF4CAEA6865}"/>
              </a:ext>
            </a:extLst>
          </p:cNvPr>
          <p:cNvSpPr txBox="1"/>
          <p:nvPr/>
        </p:nvSpPr>
        <p:spPr>
          <a:xfrm>
            <a:off x="7945116" y="2625390"/>
            <a:ext cx="477795" cy="2154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spAutoFit/>
          </a:bodyPr>
          <a:lstStyle/>
          <a:p>
            <a:r>
              <a:rPr lang="en-GB" noProof="0"/>
              <a:t>ABC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2E7A3-4CF2-5D9A-112C-31E37004E71B}"/>
              </a:ext>
            </a:extLst>
          </p:cNvPr>
          <p:cNvSpPr txBox="1"/>
          <p:nvPr/>
        </p:nvSpPr>
        <p:spPr>
          <a:xfrm>
            <a:off x="7934322" y="2625329"/>
            <a:ext cx="477795" cy="2154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spAutoFit/>
          </a:bodyPr>
          <a:lstStyle/>
          <a:p>
            <a:r>
              <a:rPr lang="en-GB" noProof="0"/>
              <a:t>DBC</a:t>
            </a:r>
          </a:p>
        </p:txBody>
      </p:sp>
    </p:spTree>
    <p:extLst>
      <p:ext uri="{BB962C8B-B14F-4D97-AF65-F5344CB8AC3E}">
        <p14:creationId xmlns:p14="http://schemas.microsoft.com/office/powerpoint/2010/main" val="1843582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23457E-7 L -0.12621 0.02778 C -0.15191 0.03302 -0.19062 0.04846 -0.23003 0.06852 C -0.27604 0.09167 -0.31042 0.11327 -0.3349 0.13426 L -0.44826 0.2287 " pathEditMode="relative" rAng="20640000" ptsTypes="AAAAA">
                                      <p:cBhvr>
                                        <p:cTn id="38" dur="1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78" y="9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82716E-6 L -0.05451 0.03611 C -0.06458 0.04259 -0.07969 0.05895 -0.09427 0.07685 C -0.11076 0.09907 -0.12205 0.11913 -0.12917 0.13642 L -0.16163 0.21666 " pathEditMode="relative" rAng="19380000" ptsTypes="AAAAA">
                                      <p:cBhvr>
                                        <p:cTn id="59" dur="1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50" y="925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7" grpId="0" animBg="1"/>
      <p:bldP spid="39" grpId="0" animBg="1"/>
      <p:bldP spid="39" grpId="1" animBg="1"/>
      <p:bldP spid="47" grpId="0" animBg="1"/>
      <p:bldP spid="47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4" grpId="0" animBg="1"/>
      <p:bldP spid="6" grpId="0" animBg="1"/>
      <p:bldP spid="6" grpId="1" animBg="1"/>
      <p:bldP spid="8" grpId="0" animBg="1"/>
      <p:bldP spid="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398BA160-471A-9280-F3CC-7C50A191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6AECAEA4-B28C-8178-AE68-B5842CDBD5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9</a:t>
            </a:fld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5EF081-F49F-6F2D-F8BA-3C04DBD94906}"/>
              </a:ext>
            </a:extLst>
          </p:cNvPr>
          <p:cNvSpPr/>
          <p:nvPr/>
        </p:nvSpPr>
        <p:spPr bwMode="auto">
          <a:xfrm>
            <a:off x="4855362" y="1583004"/>
            <a:ext cx="3931116" cy="1540209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>
            <a:solidFill>
              <a:schemeClr val="accent1">
                <a:alpha val="46000"/>
              </a:schemeClr>
            </a:solidFill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noProof="0">
                <a:solidFill>
                  <a:schemeClr val="accent5">
                    <a:lumMod val="50000"/>
                  </a:schemeClr>
                </a:solidFill>
                <a:latin typeface="Times" charset="0"/>
                <a:ea typeface="ＭＳ Ｐゴシック" charset="0"/>
              </a:rPr>
              <a:t>Core Front-end</a:t>
            </a:r>
            <a:endParaRPr kumimoji="0" lang="en-GB" b="0" i="0" u="none" strike="noStrike" cap="none" normalizeH="0" baseline="0" noProof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010736-E1DB-324E-1FE3-BA9384A4AA16}"/>
              </a:ext>
            </a:extLst>
          </p:cNvPr>
          <p:cNvSpPr/>
          <p:nvPr/>
        </p:nvSpPr>
        <p:spPr bwMode="auto">
          <a:xfrm>
            <a:off x="6267863" y="2320304"/>
            <a:ext cx="1115792" cy="179306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C029A-5B16-722A-D95D-5AF6EB3EAC7A}"/>
              </a:ext>
            </a:extLst>
          </p:cNvPr>
          <p:cNvSpPr txBox="1"/>
          <p:nvPr/>
        </p:nvSpPr>
        <p:spPr>
          <a:xfrm>
            <a:off x="6206478" y="2002213"/>
            <a:ext cx="1460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Pattern Buffer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514BB74-1CE0-402E-DA7A-16F929E6FC41}"/>
              </a:ext>
            </a:extLst>
          </p:cNvPr>
          <p:cNvCxnSpPr>
            <a:cxnSpLocks/>
            <a:stCxn id="4" idx="2"/>
            <a:endCxn id="11" idx="1"/>
          </p:cNvCxnSpPr>
          <p:nvPr/>
        </p:nvCxnSpPr>
        <p:spPr bwMode="auto">
          <a:xfrm rot="16200000" flipH="1">
            <a:off x="6971963" y="2353405"/>
            <a:ext cx="289812" cy="58222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222366-8A02-4959-11B1-DA1952B0826B}"/>
              </a:ext>
            </a:extLst>
          </p:cNvPr>
          <p:cNvSpPr txBox="1"/>
          <p:nvPr/>
        </p:nvSpPr>
        <p:spPr>
          <a:xfrm>
            <a:off x="7105611" y="3113719"/>
            <a:ext cx="940196" cy="182360"/>
          </a:xfrm>
          <a:prstGeom prst="rect">
            <a:avLst/>
          </a:prstGeom>
          <a:noFill/>
        </p:spPr>
        <p:txBody>
          <a:bodyPr wrap="none" tIns="0" rtlCol="0">
            <a:noAutofit/>
          </a:bodyPr>
          <a:lstStyle/>
          <a:p>
            <a:r>
              <a:rPr lang="en-GB" sz="16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BB1216-7A37-0625-49A2-7915F4A3ADC4}"/>
              </a:ext>
            </a:extLst>
          </p:cNvPr>
          <p:cNvSpPr/>
          <p:nvPr/>
        </p:nvSpPr>
        <p:spPr bwMode="auto">
          <a:xfrm>
            <a:off x="5039911" y="2369176"/>
            <a:ext cx="855236" cy="555733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Context Directory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664920-149E-EAD2-499E-7C89B73A0259}"/>
              </a:ext>
            </a:extLst>
          </p:cNvPr>
          <p:cNvSpPr txBox="1"/>
          <p:nvPr/>
        </p:nvSpPr>
        <p:spPr>
          <a:xfrm>
            <a:off x="5081219" y="1661903"/>
            <a:ext cx="76202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6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Context </a:t>
            </a:r>
          </a:p>
          <a:p>
            <a:pPr algn="ctr"/>
            <a:r>
              <a:rPr lang="en-GB" sz="16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3B2D639-FD23-A668-67D6-C1E3084596EE}"/>
              </a:ext>
            </a:extLst>
          </p:cNvPr>
          <p:cNvCxnSpPr>
            <a:cxnSpLocks/>
            <a:stCxn id="15" idx="2"/>
            <a:endCxn id="11" idx="3"/>
          </p:cNvCxnSpPr>
          <p:nvPr/>
        </p:nvCxnSpPr>
        <p:spPr bwMode="auto">
          <a:xfrm rot="5400000">
            <a:off x="7751045" y="2422850"/>
            <a:ext cx="352616" cy="38052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Flowchart: Manual Operation 10">
            <a:extLst>
              <a:ext uri="{FF2B5EF4-FFF2-40B4-BE49-F238E27FC236}">
                <a16:creationId xmlns:a16="http://schemas.microsoft.com/office/drawing/2014/main" id="{E71FA7CF-EC76-E73C-3E32-AD149CE66248}"/>
              </a:ext>
            </a:extLst>
          </p:cNvPr>
          <p:cNvSpPr/>
          <p:nvPr/>
        </p:nvSpPr>
        <p:spPr bwMode="auto">
          <a:xfrm>
            <a:off x="7366842" y="2725021"/>
            <a:ext cx="411384" cy="128802"/>
          </a:xfrm>
          <a:prstGeom prst="flowChartManualOperation">
            <a:avLst/>
          </a:prstGeom>
          <a:ln w="127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FAEC92DF-ED2A-DB68-6593-ED046417F309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 bwMode="auto">
          <a:xfrm rot="16200000" flipH="1">
            <a:off x="7444173" y="2982183"/>
            <a:ext cx="259896" cy="317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" name="Connector: Elbow 29">
            <a:extLst>
              <a:ext uri="{FF2B5EF4-FFF2-40B4-BE49-F238E27FC236}">
                <a16:creationId xmlns:a16="http://schemas.microsoft.com/office/drawing/2014/main" id="{07D3EBA2-AC51-EC4F-9096-7B0536598F2A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 bwMode="auto">
          <a:xfrm>
            <a:off x="5462229" y="2154346"/>
            <a:ext cx="5300" cy="2148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" name="Google Shape;202;p24">
            <a:extLst>
              <a:ext uri="{FF2B5EF4-FFF2-40B4-BE49-F238E27FC236}">
                <a16:creationId xmlns:a16="http://schemas.microsoft.com/office/drawing/2014/main" id="{BAC8521D-DBF5-DFEF-BC04-46FB1C911143}"/>
              </a:ext>
            </a:extLst>
          </p:cNvPr>
          <p:cNvSpPr/>
          <p:nvPr/>
        </p:nvSpPr>
        <p:spPr>
          <a:xfrm>
            <a:off x="4855363" y="3503736"/>
            <a:ext cx="3931116" cy="61181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0" tIns="0" rIns="324000" bIns="0" anchor="ctr" anchorCtr="0">
            <a:noAutofit/>
          </a:bodyPr>
          <a:lstStyle/>
          <a:p>
            <a:pPr algn="r"/>
            <a:r>
              <a:rPr lang="en-GB" noProof="0">
                <a:latin typeface="Times" panose="02020603050405020304" pitchFamily="18" charset="0"/>
                <a:cs typeface="Times" panose="02020603050405020304" pitchFamily="18" charset="0"/>
              </a:rPr>
              <a:t>LLBP     </a:t>
            </a:r>
            <a:r>
              <a:rPr lang="en-GB" sz="900" noProof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r>
              <a:rPr lang="en-GB" noProof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algn="r"/>
            <a:r>
              <a:rPr lang="en-GB" noProof="0">
                <a:latin typeface="Times" panose="02020603050405020304" pitchFamily="18" charset="0"/>
                <a:cs typeface="Times" panose="02020603050405020304" pitchFamily="18" charset="0"/>
              </a:rPr>
              <a:t>(Pattern Store)</a:t>
            </a:r>
          </a:p>
        </p:txBody>
      </p:sp>
      <p:sp>
        <p:nvSpPr>
          <p:cNvPr id="15" name="Google Shape;202;p24">
            <a:extLst>
              <a:ext uri="{FF2B5EF4-FFF2-40B4-BE49-F238E27FC236}">
                <a16:creationId xmlns:a16="http://schemas.microsoft.com/office/drawing/2014/main" id="{511C05C4-B6E6-5195-A2D9-48141E2BEFFD}"/>
              </a:ext>
            </a:extLst>
          </p:cNvPr>
          <p:cNvSpPr/>
          <p:nvPr/>
        </p:nvSpPr>
        <p:spPr>
          <a:xfrm>
            <a:off x="7559721" y="1984176"/>
            <a:ext cx="1115792" cy="452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1600" noProof="0">
                <a:latin typeface="Times" panose="02020603050405020304" pitchFamily="18" charset="0"/>
                <a:cs typeface="Times" panose="02020603050405020304" pitchFamily="18" charset="0"/>
              </a:rPr>
              <a:t>TAGE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DD7B2C-26F8-1447-1FD6-9498699A8B20}"/>
              </a:ext>
            </a:extLst>
          </p:cNvPr>
          <p:cNvGrpSpPr/>
          <p:nvPr/>
        </p:nvGrpSpPr>
        <p:grpSpPr>
          <a:xfrm>
            <a:off x="6465692" y="2595631"/>
            <a:ext cx="253224" cy="864724"/>
            <a:chOff x="10553281" y="4902470"/>
            <a:chExt cx="368768" cy="710087"/>
          </a:xfrm>
        </p:grpSpPr>
        <p:sp>
          <p:nvSpPr>
            <p:cNvPr id="17" name="Google Shape;206;p24">
              <a:extLst>
                <a:ext uri="{FF2B5EF4-FFF2-40B4-BE49-F238E27FC236}">
                  <a16:creationId xmlns:a16="http://schemas.microsoft.com/office/drawing/2014/main" id="{0FEE68F6-62E8-5510-F0F7-E7AB23E50645}"/>
                </a:ext>
              </a:extLst>
            </p:cNvPr>
            <p:cNvSpPr/>
            <p:nvPr/>
          </p:nvSpPr>
          <p:spPr>
            <a:xfrm rot="16200000">
              <a:off x="10383291" y="5078574"/>
              <a:ext cx="710087" cy="357880"/>
            </a:xfrm>
            <a:prstGeom prst="leftRightArrow">
              <a:avLst>
                <a:gd name="adj1" fmla="val 29941"/>
                <a:gd name="adj2" fmla="val 43478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848F19F1-78E1-99CC-7067-745FEF214FB3}"/>
                </a:ext>
              </a:extLst>
            </p:cNvPr>
            <p:cNvSpPr/>
            <p:nvPr/>
          </p:nvSpPr>
          <p:spPr bwMode="auto">
            <a:xfrm rot="20719525">
              <a:off x="10553281" y="5270829"/>
              <a:ext cx="368768" cy="104023"/>
            </a:xfrm>
            <a:prstGeom prst="parallelogram">
              <a:avLst/>
            </a:prstGeom>
            <a:solidFill>
              <a:schemeClr val="bg1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37ADCE8-9DA0-7254-8D88-279EE3E4A9BF}"/>
                </a:ext>
              </a:extLst>
            </p:cNvPr>
            <p:cNvSpPr/>
            <p:nvPr/>
          </p:nvSpPr>
          <p:spPr bwMode="auto">
            <a:xfrm>
              <a:off x="10850929" y="5226521"/>
              <a:ext cx="46514" cy="14356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167C8F5-E2B4-C327-3BB1-DBAAAC5F09B0}"/>
                </a:ext>
              </a:extLst>
            </p:cNvPr>
            <p:cNvSpPr/>
            <p:nvPr/>
          </p:nvSpPr>
          <p:spPr bwMode="auto">
            <a:xfrm>
              <a:off x="10574307" y="5251598"/>
              <a:ext cx="58748" cy="14801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</p:grpSp>
      <p:cxnSp>
        <p:nvCxnSpPr>
          <p:cNvPr id="27" name="Connector: Elbow 29">
            <a:extLst>
              <a:ext uri="{FF2B5EF4-FFF2-40B4-BE49-F238E27FC236}">
                <a16:creationId xmlns:a16="http://schemas.microsoft.com/office/drawing/2014/main" id="{C407659B-FB5D-03CE-D699-7E086ABA0DD1}"/>
              </a:ext>
            </a:extLst>
          </p:cNvPr>
          <p:cNvCxnSpPr>
            <a:cxnSpLocks/>
            <a:stCxn id="8" idx="2"/>
          </p:cNvCxnSpPr>
          <p:nvPr/>
        </p:nvCxnSpPr>
        <p:spPr bwMode="auto">
          <a:xfrm>
            <a:off x="5467529" y="2924909"/>
            <a:ext cx="0" cy="57882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ECB2A33C-EBA7-BB31-A7BF-9502DEDBADBB}"/>
              </a:ext>
            </a:extLst>
          </p:cNvPr>
          <p:cNvSpPr txBox="1">
            <a:spLocks/>
          </p:cNvSpPr>
          <p:nvPr/>
        </p:nvSpPr>
        <p:spPr>
          <a:xfrm>
            <a:off x="251460" y="4419600"/>
            <a:ext cx="8641080" cy="49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ndara"/>
              <a:buNone/>
              <a:defRPr sz="1800" b="0" i="0" u="none" strike="noStrike" cap="none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r>
              <a:rPr lang="en-GB" sz="2000" noProof="0"/>
              <a:t>How effective is LLBP?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BB699CE-2644-69C4-C9E8-4BECED14B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390" y="3039910"/>
            <a:ext cx="1012935" cy="95442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2BEE86C-00DC-7077-03C5-378BFAF6C4CF}"/>
              </a:ext>
            </a:extLst>
          </p:cNvPr>
          <p:cNvSpPr txBox="1"/>
          <p:nvPr/>
        </p:nvSpPr>
        <p:spPr>
          <a:xfrm>
            <a:off x="2498962" y="3307428"/>
            <a:ext cx="82656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</a:t>
            </a:r>
          </a:p>
          <a:p>
            <a:pPr algn="ctr"/>
            <a:r>
              <a:rPr lang="en-GB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E37F388A-42D4-C44F-84D1-ECDBD4A153EE}"/>
              </a:ext>
            </a:extLst>
          </p:cNvPr>
          <p:cNvCxnSpPr>
            <a:cxnSpLocks/>
            <a:stCxn id="47" idx="3"/>
            <a:endCxn id="8" idx="0"/>
          </p:cNvCxnSpPr>
          <p:nvPr/>
        </p:nvCxnSpPr>
        <p:spPr bwMode="auto">
          <a:xfrm flipV="1">
            <a:off x="3325524" y="2369176"/>
            <a:ext cx="2142005" cy="1184474"/>
          </a:xfrm>
          <a:prstGeom prst="curvedConnector4">
            <a:avLst>
              <a:gd name="adj1" fmla="val 52469"/>
              <a:gd name="adj2" fmla="val 119300"/>
            </a:avLst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9" name="Connector: Elbow 29">
            <a:extLst>
              <a:ext uri="{FF2B5EF4-FFF2-40B4-BE49-F238E27FC236}">
                <a16:creationId xmlns:a16="http://schemas.microsoft.com/office/drawing/2014/main" id="{CF83915D-03BA-D8E8-8EAE-DC5A1BB295F5}"/>
              </a:ext>
            </a:extLst>
          </p:cNvPr>
          <p:cNvCxnSpPr>
            <a:cxnSpLocks/>
          </p:cNvCxnSpPr>
          <p:nvPr/>
        </p:nvCxnSpPr>
        <p:spPr bwMode="auto">
          <a:xfrm flipH="1">
            <a:off x="5462229" y="2931646"/>
            <a:ext cx="3437" cy="77698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2" name="Text Placeholder 102">
            <a:extLst>
              <a:ext uri="{FF2B5EF4-FFF2-40B4-BE49-F238E27FC236}">
                <a16:creationId xmlns:a16="http://schemas.microsoft.com/office/drawing/2014/main" id="{966578BD-7D87-C3E4-947B-473CC71EC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02476"/>
            <a:ext cx="4432697" cy="1618900"/>
          </a:xfrm>
        </p:spPr>
        <p:txBody>
          <a:bodyPr/>
          <a:lstStyle/>
          <a:p>
            <a:pPr marL="0" indent="0">
              <a:buNone/>
            </a:pPr>
            <a:r>
              <a:rPr lang="en-GB" noProof="0"/>
              <a:t>LLBP Mechanism: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b="1" noProof="0"/>
              <a:t>Group patterns </a:t>
            </a:r>
            <a:r>
              <a:rPr lang="en-GB" sz="1600" noProof="0"/>
              <a:t>per context </a:t>
            </a:r>
            <a:r>
              <a:rPr lang="en-GB" sz="1600" noProof="0">
                <a:sym typeface="Wingdings" panose="05000000000000000000" pitchFamily="2" charset="2"/>
              </a:rPr>
              <a:t>into </a:t>
            </a:r>
            <a:r>
              <a:rPr lang="en-GB" sz="1600" b="1" noProof="0">
                <a:sym typeface="Wingdings" panose="05000000000000000000" pitchFamily="2" charset="2"/>
              </a:rPr>
              <a:t>pattern sets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>
                <a:sym typeface="Wingdings" panose="05000000000000000000" pitchFamily="2" charset="2"/>
              </a:rPr>
              <a:t>Form context ID by hashing </a:t>
            </a:r>
            <a:r>
              <a:rPr lang="en-GB" sz="1600" noProof="0" err="1">
                <a:sym typeface="Wingdings" panose="05000000000000000000" pitchFamily="2" charset="2"/>
              </a:rPr>
              <a:t>uncond</a:t>
            </a:r>
            <a:r>
              <a:rPr lang="en-GB" sz="1600" noProof="0">
                <a:sym typeface="Wingdings" panose="05000000000000000000" pitchFamily="2" charset="2"/>
              </a:rPr>
              <a:t>. branches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>
                <a:sym typeface="Wingdings" panose="05000000000000000000" pitchFamily="2" charset="2"/>
              </a:rPr>
              <a:t>Use context ID to prefetch pattern sets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endParaRPr lang="en-GB" sz="1600" noProof="0"/>
          </a:p>
          <a:p>
            <a:pPr marL="0" indent="0">
              <a:buNone/>
            </a:pPr>
            <a:endParaRPr lang="en-GB" noProof="0"/>
          </a:p>
        </p:txBody>
      </p:sp>
      <p:sp>
        <p:nvSpPr>
          <p:cNvPr id="33" name="Google Shape;71;p15">
            <a:extLst>
              <a:ext uri="{FF2B5EF4-FFF2-40B4-BE49-F238E27FC236}">
                <a16:creationId xmlns:a16="http://schemas.microsoft.com/office/drawing/2014/main" id="{83523493-F45A-751B-DAEB-3DB7FA4561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726083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Enabling Hierarchical Branch Predictors via Contexts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70C7743-F429-F604-A5F6-D7E0E00879D3}"/>
              </a:ext>
            </a:extLst>
          </p:cNvPr>
          <p:cNvSpPr/>
          <p:nvPr/>
        </p:nvSpPr>
        <p:spPr bwMode="auto">
          <a:xfrm>
            <a:off x="6174964" y="3708631"/>
            <a:ext cx="1072748" cy="305012"/>
          </a:xfrm>
          <a:prstGeom prst="rect">
            <a:avLst/>
          </a:prstGeom>
          <a:gradFill>
            <a:gsLst>
              <a:gs pos="4000">
                <a:srgbClr val="7030A0"/>
              </a:gs>
              <a:gs pos="57760">
                <a:srgbClr val="92D050"/>
              </a:gs>
              <a:gs pos="100000">
                <a:schemeClr val="accent4"/>
              </a:gs>
            </a:gsLst>
            <a:lin ang="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75600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782022-D466-1F1A-54A3-DF6C31A377DB}"/>
              </a:ext>
            </a:extLst>
          </p:cNvPr>
          <p:cNvSpPr txBox="1"/>
          <p:nvPr/>
        </p:nvSpPr>
        <p:spPr>
          <a:xfrm>
            <a:off x="6563920" y="3745837"/>
            <a:ext cx="333824" cy="1615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spAutoFit/>
          </a:bodyPr>
          <a:lstStyle/>
          <a:p>
            <a:r>
              <a:rPr lang="en-GB" sz="1050" noProof="0"/>
              <a:t>DBC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1301D1D-CD67-1B39-C56F-18DA43C5007E}"/>
              </a:ext>
            </a:extLst>
          </p:cNvPr>
          <p:cNvSpPr/>
          <p:nvPr/>
        </p:nvSpPr>
        <p:spPr bwMode="auto">
          <a:xfrm>
            <a:off x="995927" y="4148700"/>
            <a:ext cx="333375" cy="204734"/>
          </a:xfrm>
          <a:prstGeom prst="rect">
            <a:avLst/>
          </a:prstGeom>
          <a:solidFill>
            <a:srgbClr val="C0000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br</a:t>
            </a:r>
            <a:endParaRPr kumimoji="0" lang="en-GB" sz="12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C5171562-EECB-A745-6A4A-30079B0650E0}"/>
              </a:ext>
            </a:extLst>
          </p:cNvPr>
          <p:cNvCxnSpPr>
            <a:cxnSpLocks/>
            <a:endCxn id="61" idx="0"/>
          </p:cNvCxnSpPr>
          <p:nvPr/>
        </p:nvCxnSpPr>
        <p:spPr bwMode="auto">
          <a:xfrm rot="5400000">
            <a:off x="1052354" y="4038433"/>
            <a:ext cx="220529" cy="5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AAEA68E3-AAC9-EE46-8668-08EDC9893A14}"/>
              </a:ext>
            </a:extLst>
          </p:cNvPr>
          <p:cNvCxnSpPr>
            <a:cxnSpLocks/>
            <a:stCxn id="67" idx="3"/>
            <a:endCxn id="69" idx="3"/>
          </p:cNvCxnSpPr>
          <p:nvPr/>
        </p:nvCxnSpPr>
        <p:spPr bwMode="auto">
          <a:xfrm>
            <a:off x="1386091" y="3479707"/>
            <a:ext cx="12700" cy="346923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A34DD73A-A1E8-C6C8-1867-D21D0A5929C7}"/>
              </a:ext>
            </a:extLst>
          </p:cNvPr>
          <p:cNvCxnSpPr>
            <a:cxnSpLocks/>
            <a:stCxn id="65" idx="3"/>
            <a:endCxn id="67" idx="3"/>
          </p:cNvCxnSpPr>
          <p:nvPr/>
        </p:nvCxnSpPr>
        <p:spPr bwMode="auto">
          <a:xfrm>
            <a:off x="1379711" y="3137353"/>
            <a:ext cx="6380" cy="342354"/>
          </a:xfrm>
          <a:prstGeom prst="curvedConnector3">
            <a:avLst>
              <a:gd name="adj1" fmla="val 3683072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1F5F9C4C-6B4B-F1B4-AA0B-82EC2E23C90D}"/>
              </a:ext>
            </a:extLst>
          </p:cNvPr>
          <p:cNvSpPr/>
          <p:nvPr/>
        </p:nvSpPr>
        <p:spPr bwMode="auto">
          <a:xfrm>
            <a:off x="932760" y="2994728"/>
            <a:ext cx="446951" cy="28524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noProof="0" dirty="0" err="1">
                <a:latin typeface="Times" charset="0"/>
                <a:ea typeface="ＭＳ Ｐゴシック" charset="0"/>
              </a:rPr>
              <a:t>fnA</a:t>
            </a:r>
            <a:endParaRPr lang="en-GB" noProof="0" dirty="0">
              <a:latin typeface="Times" charset="0"/>
              <a:ea typeface="ＭＳ Ｐゴシック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3A011B3-9136-669D-05C4-FAD2FBE8A154}"/>
              </a:ext>
            </a:extLst>
          </p:cNvPr>
          <p:cNvSpPr/>
          <p:nvPr/>
        </p:nvSpPr>
        <p:spPr bwMode="auto">
          <a:xfrm>
            <a:off x="313904" y="2817016"/>
            <a:ext cx="638189" cy="2670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A</a:t>
            </a:r>
            <a:endParaRPr lang="en-GB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89EACC6-A09C-6313-0EEB-8AC20726B12A}"/>
              </a:ext>
            </a:extLst>
          </p:cNvPr>
          <p:cNvSpPr/>
          <p:nvPr/>
        </p:nvSpPr>
        <p:spPr bwMode="auto">
          <a:xfrm>
            <a:off x="939140" y="3328075"/>
            <a:ext cx="446951" cy="303263"/>
          </a:xfrm>
          <a:prstGeom prst="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noProof="0" err="1">
                <a:latin typeface="Times" charset="0"/>
                <a:ea typeface="ＭＳ Ｐゴシック" charset="0"/>
              </a:rPr>
              <a:t>fnB</a:t>
            </a:r>
            <a:endParaRPr lang="en-GB" noProof="0">
              <a:latin typeface="Times" charset="0"/>
              <a:ea typeface="ＭＳ Ｐゴシック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76171FA-9627-9B16-B4A9-172F15F0F6D5}"/>
              </a:ext>
            </a:extLst>
          </p:cNvPr>
          <p:cNvSpPr/>
          <p:nvPr/>
        </p:nvSpPr>
        <p:spPr bwMode="auto">
          <a:xfrm>
            <a:off x="307033" y="3111667"/>
            <a:ext cx="638189" cy="3032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noProof="0" dirty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baseline="-30000" noProof="0" dirty="0" err="1">
                <a:latin typeface="Times" charset="0"/>
                <a:ea typeface="ＭＳ Ｐゴシック" charset="0"/>
              </a:rPr>
              <a:t>B</a:t>
            </a:r>
            <a:endParaRPr lang="en-GB" baseline="-30000" noProof="0" dirty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D2EA47F-A10C-ECD2-63E4-F75EBBD598E9}"/>
              </a:ext>
            </a:extLst>
          </p:cNvPr>
          <p:cNvSpPr/>
          <p:nvPr/>
        </p:nvSpPr>
        <p:spPr bwMode="auto">
          <a:xfrm>
            <a:off x="939140" y="3674998"/>
            <a:ext cx="446951" cy="30326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noProof="0" err="1">
                <a:latin typeface="Times" charset="0"/>
                <a:ea typeface="ＭＳ Ｐゴシック" charset="0"/>
              </a:rPr>
              <a:t>fnC</a:t>
            </a:r>
            <a:endParaRPr lang="en-GB" noProof="0">
              <a:latin typeface="Times" charset="0"/>
              <a:ea typeface="ＭＳ Ｐゴシック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D222017-8215-C21D-3EFC-CEE50A947A42}"/>
              </a:ext>
            </a:extLst>
          </p:cNvPr>
          <p:cNvSpPr/>
          <p:nvPr/>
        </p:nvSpPr>
        <p:spPr bwMode="auto">
          <a:xfrm>
            <a:off x="322991" y="3358655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</a:t>
            </a:r>
            <a:endParaRPr lang="en-GB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37804C7-C5A7-6FB2-D00F-2F1A9A034C32}"/>
              </a:ext>
            </a:extLst>
          </p:cNvPr>
          <p:cNvSpPr/>
          <p:nvPr/>
        </p:nvSpPr>
        <p:spPr bwMode="auto">
          <a:xfrm>
            <a:off x="4952310" y="3712795"/>
            <a:ext cx="1125707" cy="305012"/>
          </a:xfrm>
          <a:prstGeom prst="rect">
            <a:avLst/>
          </a:prstGeom>
          <a:gradFill>
            <a:gsLst>
              <a:gs pos="4000">
                <a:schemeClr val="accent1">
                  <a:lumMod val="75000"/>
                </a:schemeClr>
              </a:gs>
              <a:gs pos="57760">
                <a:srgbClr val="92D050"/>
              </a:gs>
              <a:gs pos="100000">
                <a:schemeClr val="accent4"/>
              </a:gs>
            </a:gsLst>
            <a:lin ang="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75600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EF0AB02-6E37-89CD-EA6D-4C6BDF87190C}"/>
              </a:ext>
            </a:extLst>
          </p:cNvPr>
          <p:cNvSpPr txBox="1"/>
          <p:nvPr/>
        </p:nvSpPr>
        <p:spPr>
          <a:xfrm>
            <a:off x="5318392" y="3756727"/>
            <a:ext cx="359598" cy="1615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50"/>
            </a:lvl1pPr>
          </a:lstStyle>
          <a:p>
            <a:r>
              <a:rPr lang="en-GB" noProof="0"/>
              <a:t>ABC</a:t>
            </a:r>
          </a:p>
        </p:txBody>
      </p:sp>
      <p:sp>
        <p:nvSpPr>
          <p:cNvPr id="89" name="Footer Placeholder 88">
            <a:extLst>
              <a:ext uri="{FF2B5EF4-FFF2-40B4-BE49-F238E27FC236}">
                <a16:creationId xmlns:a16="http://schemas.microsoft.com/office/drawing/2014/main" id="{7AADB858-01BB-9D01-6BC1-A08D905F88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/>
              <a:t>HPCA'26: The Last-Level Branch Predictor Revisited</a:t>
            </a:r>
          </a:p>
        </p:txBody>
      </p:sp>
    </p:spTree>
    <p:extLst>
      <p:ext uri="{BB962C8B-B14F-4D97-AF65-F5344CB8AC3E}">
        <p14:creationId xmlns:p14="http://schemas.microsoft.com/office/powerpoint/2010/main" val="2584996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8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423 -0.01513 L 0.1401 -0.27716 L 0.1401 -0.27716 " pathEditMode="relative" ptsTypes="AAAA">
                                      <p:cBhvr>
                                        <p:cTn id="24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423 -0.01513 L 0.1401 -0.27716 L 0.1401 -0.27716 " pathEditMode="relative" ptsTypes="AAAA">
                                      <p:cBhvr>
                                        <p:cTn id="26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7" grpId="0"/>
      <p:bldP spid="84" grpId="0" animBg="1"/>
      <p:bldP spid="8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0F125-CCA6-5DEC-4A5F-8196B085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LLBP Effectiveness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57FA1-FD59-D3A8-C86F-96FE0581D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460" y="2819226"/>
            <a:ext cx="8641080" cy="1460713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Compare 512K LLBP with </a:t>
            </a:r>
            <a:r>
              <a:rPr lang="en-GB" dirty="0"/>
              <a:t>512</a:t>
            </a:r>
            <a:r>
              <a:rPr lang="en-GB" noProof="0" dirty="0"/>
              <a:t>K TSL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LLBP reduces mispredictions by </a:t>
            </a:r>
            <a:r>
              <a:rPr lang="en-GB" sz="1600" noProof="0" dirty="0"/>
              <a:t>8.8% over 64K TSL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b="1" dirty="0"/>
              <a:t>Only 1/3</a:t>
            </a:r>
            <a:r>
              <a:rPr lang="en-GB" sz="1600" dirty="0"/>
              <a:t> of the reduction of a similarly sized (but impractical) TAGE-SC-L (512K TSL)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081F9-42D7-6A47-EB40-1C08694D54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10</a:t>
            </a:fld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D8CAC9-CFB5-5596-2B5D-3017815E50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519D15-742D-CF02-61BC-8399200B0F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sz="1900" noProof="0" dirty="0"/>
              <a:t>What affects LLBPs’ effectiveness and can it be improved?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B441CB3-81F8-E2A2-B1E4-4244355B32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 dirty="0"/>
              <a:t>HPCA'26: The Last-Level Branch Predictor Revisited</a:t>
            </a:r>
          </a:p>
        </p:txBody>
      </p:sp>
      <p:pic>
        <p:nvPicPr>
          <p:cNvPr id="10" name="Picture 9" descr="A graph with different numbers&#10;&#10;AI-generated content may be incorrect.">
            <a:extLst>
              <a:ext uri="{FF2B5EF4-FFF2-40B4-BE49-F238E27FC236}">
                <a16:creationId xmlns:a16="http://schemas.microsoft.com/office/drawing/2014/main" id="{F2B13270-896D-6E23-F364-874163166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16" y="1026644"/>
            <a:ext cx="6891434" cy="15232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FE4399-7F5A-7A76-E47C-2FE479BFD4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28615" y="1027491"/>
            <a:ext cx="6897782" cy="15246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6C4A5D-2B56-B487-7D83-83503BD9F33A}"/>
              </a:ext>
            </a:extLst>
          </p:cNvPr>
          <p:cNvSpPr txBox="1"/>
          <p:nvPr/>
        </p:nvSpPr>
        <p:spPr>
          <a:xfrm rot="16200000">
            <a:off x="7696121" y="1430266"/>
            <a:ext cx="1159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noProof="0" dirty="0"/>
              <a:t>Higher is better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5DC35C-46B2-E382-CDD2-BDA0E67CABB2}"/>
              </a:ext>
            </a:extLst>
          </p:cNvPr>
          <p:cNvCxnSpPr>
            <a:cxnSpLocks/>
          </p:cNvCxnSpPr>
          <p:nvPr/>
        </p:nvCxnSpPr>
        <p:spPr bwMode="auto">
          <a:xfrm>
            <a:off x="8134299" y="1034600"/>
            <a:ext cx="0" cy="1045384"/>
          </a:xfrm>
          <a:prstGeom prst="straightConnector1">
            <a:avLst/>
          </a:prstGeom>
          <a:ln w="2857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" name="Picture 17" descr="A graph with black squares and green squares&#10;&#10;AI-generated content may be incorrect.">
            <a:extLst>
              <a:ext uri="{FF2B5EF4-FFF2-40B4-BE49-F238E27FC236}">
                <a16:creationId xmlns:a16="http://schemas.microsoft.com/office/drawing/2014/main" id="{B1150B14-EBFB-E3D1-7C1C-BE438A1E8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816" y="1029369"/>
            <a:ext cx="7158568" cy="1570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841E0A-EBED-78BE-7CD1-950B4EF8A93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6816" y="1028900"/>
            <a:ext cx="7158567" cy="15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0493A-71AA-BED1-9F22-97FAA901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3CFC9-A59D-B1C9-39C1-E5DF3BD0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F6F5C-EDCC-C178-DC9F-E35EF0339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/>
              <a:t>To understand &amp; address LLBP’s limitations we:</a:t>
            </a:r>
          </a:p>
          <a:p>
            <a:pPr marL="0" indent="0">
              <a:buNone/>
            </a:pPr>
            <a:endParaRPr lang="en-GB" noProof="0" dirty="0"/>
          </a:p>
          <a:p>
            <a:pPr marL="342900" indent="-342900">
              <a:buClr>
                <a:schemeClr val="accent1">
                  <a:lumMod val="50000"/>
                </a:schemeClr>
              </a:buClr>
              <a:buAutoNum type="arabicPeriod"/>
            </a:pPr>
            <a:r>
              <a:rPr lang="en-GB" b="1" noProof="0" dirty="0"/>
              <a:t> </a:t>
            </a:r>
            <a:r>
              <a:rPr lang="en-GB" noProof="0" dirty="0"/>
              <a:t>Performed root-cause analysis of LLBP’s inefficiencies</a:t>
            </a:r>
          </a:p>
          <a:p>
            <a:pPr marL="450850" indent="0">
              <a:buNone/>
            </a:pPr>
            <a:r>
              <a:rPr lang="en-GB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/>
              <a:t>I</a:t>
            </a:r>
            <a:r>
              <a:rPr lang="en-GB" noProof="0" dirty="0" err="1"/>
              <a:t>dentified</a:t>
            </a:r>
            <a:r>
              <a:rPr lang="en-GB" noProof="0" dirty="0"/>
              <a:t> two main compounding negative effects</a:t>
            </a:r>
          </a:p>
          <a:p>
            <a:pPr marL="342900" indent="-342900">
              <a:buAutoNum type="arabicPeriod"/>
            </a:pPr>
            <a:endParaRPr lang="en-GB" noProof="0" dirty="0"/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+mj-lt"/>
              <a:buAutoNum type="arabicPeriod" startAt="2"/>
            </a:pPr>
            <a:r>
              <a:rPr lang="en-GB" b="1" noProof="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noProof="0" dirty="0"/>
              <a:t>Developed mechanism to overcome both limitations</a:t>
            </a:r>
          </a:p>
          <a:p>
            <a:pPr marL="450850" lvl="1" indent="0">
              <a:buClr>
                <a:schemeClr val="dk1"/>
              </a:buClr>
              <a:buSzPts val="1800"/>
              <a:buNone/>
            </a:pPr>
            <a:r>
              <a:rPr lang="en-GB" sz="1800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GB" sz="1800" dirty="0">
                <a:solidFill>
                  <a:schemeClr val="dk1"/>
                </a:solidFill>
                <a:sym typeface="Wingdings" panose="05000000000000000000" pitchFamily="2" charset="2"/>
              </a:rPr>
              <a:t> </a:t>
            </a:r>
            <a:r>
              <a:rPr lang="en-GB" sz="1800" dirty="0">
                <a:solidFill>
                  <a:schemeClr val="dk1"/>
                </a:solidFill>
              </a:rPr>
              <a:t>Unified and light-weight solution</a:t>
            </a:r>
          </a:p>
          <a:p>
            <a:pPr marL="987425" lvl="1" indent="-342900">
              <a:buClr>
                <a:schemeClr val="accent1">
                  <a:lumMod val="50000"/>
                </a:schemeClr>
              </a:buClr>
              <a:buFont typeface="+mj-lt"/>
              <a:buAutoNum type="arabicPeriod" startAt="2"/>
            </a:pP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827A2-C6B5-989B-170F-4AF185EAAF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11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5B028-E00B-63C0-AAE4-97615A237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 dirty="0"/>
              <a:t>HPCA'26: The Last-Level Branch Predictor Revisited</a:t>
            </a:r>
          </a:p>
        </p:txBody>
      </p:sp>
    </p:spTree>
    <p:extLst>
      <p:ext uri="{BB962C8B-B14F-4D97-AF65-F5344CB8AC3E}">
        <p14:creationId xmlns:p14="http://schemas.microsoft.com/office/powerpoint/2010/main" val="148689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with text on it&#10;&#10;AI-generated content may be incorrect.">
            <a:extLst>
              <a:ext uri="{FF2B5EF4-FFF2-40B4-BE49-F238E27FC236}">
                <a16:creationId xmlns:a16="http://schemas.microsoft.com/office/drawing/2014/main" id="{8E4D051D-3C4C-01F5-3AAA-8A6DC222D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02" y="1045593"/>
            <a:ext cx="6896684" cy="15261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E1DDBE-ECE3-459F-55CB-9E303EAD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Understanding LLBP’s Bottlenecks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F27C6-2789-8B87-3DCA-BDE5EF0AD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460" y="2644140"/>
            <a:ext cx="8641080" cy="1623060"/>
          </a:xfrm>
        </p:spPr>
        <p:txBody>
          <a:bodyPr/>
          <a:lstStyle/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r>
              <a:rPr lang="en-GB" b="1" noProof="0" dirty="0"/>
              <a:t>Problem 1: </a:t>
            </a:r>
            <a:r>
              <a:rPr lang="en-GB" noProof="0" dirty="0"/>
              <a:t>Skewed pattern set utilization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LLBP organization: 14k pattern sets, each with up to 16 patterns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Most pattern sets are underutilized </a:t>
            </a:r>
          </a:p>
          <a:p>
            <a:pPr marL="539750" lvl="2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noProof="0" dirty="0">
                <a:solidFill>
                  <a:schemeClr val="dk1"/>
                </a:solidFill>
              </a:rPr>
              <a:t>85% of the sets have less than 16 useful patterns</a:t>
            </a:r>
          </a:p>
          <a:p>
            <a:pPr marL="266700" indent="-176213">
              <a:lnSpc>
                <a:spcPct val="10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Some</a:t>
            </a:r>
            <a:r>
              <a:rPr lang="en-GB" sz="1600" noProof="0" dirty="0"/>
              <a:t> pattern sets are heavily overutilized</a:t>
            </a:r>
          </a:p>
          <a:p>
            <a:pPr marL="539750" lvl="2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noProof="0" dirty="0">
                <a:solidFill>
                  <a:schemeClr val="dk1"/>
                </a:solidFill>
              </a:rPr>
              <a:t>15% of the sets require more than 16 </a:t>
            </a:r>
            <a:r>
              <a:rPr lang="en-GB" dirty="0">
                <a:solidFill>
                  <a:schemeClr val="dk1"/>
                </a:solidFill>
              </a:rPr>
              <a:t>patterns</a:t>
            </a:r>
            <a:r>
              <a:rPr lang="en-GB" noProof="0" dirty="0">
                <a:solidFill>
                  <a:schemeClr val="dk1"/>
                </a:solidFill>
              </a:rPr>
              <a:t>, and a few up to 1k</a:t>
            </a:r>
          </a:p>
          <a:p>
            <a:endParaRPr lang="en-GB" noProof="0" dirty="0"/>
          </a:p>
          <a:p>
            <a:pPr marL="0" indent="0">
              <a:buNone/>
            </a:pPr>
            <a:endParaRPr lang="en-GB" noProof="0" dirty="0"/>
          </a:p>
          <a:p>
            <a:pPr>
              <a:buFontTx/>
              <a:buChar char="-"/>
            </a:pP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50A47-B6BE-3701-E586-B5238DF1F1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12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66B7E-39BA-2839-4804-F9973F7A96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/>
              <a:t>HPCA'26: The Last-Level Branch Predictor Revisited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FE6842-3D18-30C3-F216-02AF079BB9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25319" y="1045594"/>
            <a:ext cx="6896679" cy="152615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18B2567-748D-287D-2F49-8E74336FAD53}"/>
              </a:ext>
            </a:extLst>
          </p:cNvPr>
          <p:cNvSpPr/>
          <p:nvPr/>
        </p:nvSpPr>
        <p:spPr>
          <a:xfrm>
            <a:off x="2118360" y="1717482"/>
            <a:ext cx="5753431" cy="394793"/>
          </a:xfrm>
          <a:prstGeom prst="rect">
            <a:avLst/>
          </a:prstGeom>
          <a:solidFill>
            <a:schemeClr val="accent5">
              <a:alpha val="46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F7C5CEB8-E9EA-78AE-8A4A-B52FE9D20DA7}"/>
              </a:ext>
            </a:extLst>
          </p:cNvPr>
          <p:cNvSpPr/>
          <p:nvPr/>
        </p:nvSpPr>
        <p:spPr>
          <a:xfrm rot="10800000">
            <a:off x="3032756" y="1730373"/>
            <a:ext cx="4815844" cy="307139"/>
          </a:xfrm>
          <a:prstGeom prst="rtTriangl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520867F2-0FC3-85F0-87D4-82794F04B38D}"/>
              </a:ext>
            </a:extLst>
          </p:cNvPr>
          <p:cNvSpPr/>
          <p:nvPr/>
        </p:nvSpPr>
        <p:spPr>
          <a:xfrm>
            <a:off x="2095500" y="1100261"/>
            <a:ext cx="739140" cy="624840"/>
          </a:xfrm>
          <a:custGeom>
            <a:avLst/>
            <a:gdLst>
              <a:gd name="csX0" fmla="*/ 0 w 739140"/>
              <a:gd name="csY0" fmla="*/ 0 h 624840"/>
              <a:gd name="csX1" fmla="*/ 7620 w 739140"/>
              <a:gd name="csY1" fmla="*/ 624840 h 624840"/>
              <a:gd name="csX2" fmla="*/ 739140 w 739140"/>
              <a:gd name="csY2" fmla="*/ 624840 h 624840"/>
              <a:gd name="csX3" fmla="*/ 297180 w 739140"/>
              <a:gd name="csY3" fmla="*/ 533400 h 624840"/>
              <a:gd name="csX4" fmla="*/ 106680 w 739140"/>
              <a:gd name="csY4" fmla="*/ 419100 h 624840"/>
              <a:gd name="csX5" fmla="*/ 30480 w 739140"/>
              <a:gd name="csY5" fmla="*/ 266700 h 624840"/>
              <a:gd name="csX6" fmla="*/ 0 w 739140"/>
              <a:gd name="csY6" fmla="*/ 0 h 624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39140" h="624840">
                <a:moveTo>
                  <a:pt x="0" y="0"/>
                </a:moveTo>
                <a:lnTo>
                  <a:pt x="7620" y="624840"/>
                </a:lnTo>
                <a:lnTo>
                  <a:pt x="739140" y="624840"/>
                </a:lnTo>
                <a:lnTo>
                  <a:pt x="297180" y="533400"/>
                </a:lnTo>
                <a:lnTo>
                  <a:pt x="106680" y="419100"/>
                </a:lnTo>
                <a:lnTo>
                  <a:pt x="3048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6B822424-8617-7122-DEA2-6A421F545C6A}"/>
              </a:ext>
            </a:extLst>
          </p:cNvPr>
          <p:cNvSpPr/>
          <p:nvPr/>
        </p:nvSpPr>
        <p:spPr bwMode="auto">
          <a:xfrm>
            <a:off x="6405542" y="1100261"/>
            <a:ext cx="1285916" cy="265364"/>
          </a:xfrm>
          <a:prstGeom prst="wedgeRectCallout">
            <a:avLst>
              <a:gd name="adj1" fmla="val -81213"/>
              <a:gd name="adj2" fmla="val 200667"/>
            </a:avLst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1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underutilized 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63C416B3-3097-1A49-E09C-E24A88C1586F}"/>
              </a:ext>
            </a:extLst>
          </p:cNvPr>
          <p:cNvSpPr/>
          <p:nvPr/>
        </p:nvSpPr>
        <p:spPr bwMode="auto">
          <a:xfrm>
            <a:off x="2465070" y="746577"/>
            <a:ext cx="1129030" cy="265364"/>
          </a:xfrm>
          <a:prstGeom prst="wedgeRectCallout">
            <a:avLst>
              <a:gd name="adj1" fmla="val -66828"/>
              <a:gd name="adj2" fmla="val 255226"/>
            </a:avLst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b="1" noProof="0">
                <a:solidFill>
                  <a:schemeClr val="tx1"/>
                </a:solidFill>
                <a:latin typeface="Times" charset="0"/>
                <a:ea typeface="ＭＳ Ｐゴシック" charset="0"/>
              </a:rPr>
              <a:t>over</a:t>
            </a:r>
            <a:r>
              <a:rPr kumimoji="0" lang="en-GB" sz="1400" b="1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utilized 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85864CF-2D20-D534-07FB-BBFC2A106BFC}"/>
              </a:ext>
            </a:extLst>
          </p:cNvPr>
          <p:cNvSpPr txBox="1">
            <a:spLocks/>
          </p:cNvSpPr>
          <p:nvPr/>
        </p:nvSpPr>
        <p:spPr>
          <a:xfrm>
            <a:off x="251460" y="4419600"/>
            <a:ext cx="8641080" cy="49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ndara"/>
              <a:buNone/>
              <a:defRPr sz="1800" b="0" i="0" u="none" strike="noStrike" cap="none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r>
              <a:rPr lang="en-GB" sz="2000" noProof="0"/>
              <a:t>LLBP’s fixed-size pattern sets result in wasted capacity and lost coverage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4C1E2A5C-ACD7-FF84-D18F-2EA3EFF39605}"/>
              </a:ext>
            </a:extLst>
          </p:cNvPr>
          <p:cNvSpPr/>
          <p:nvPr/>
        </p:nvSpPr>
        <p:spPr bwMode="auto">
          <a:xfrm>
            <a:off x="8002502" y="1338726"/>
            <a:ext cx="1036398" cy="419228"/>
          </a:xfrm>
          <a:prstGeom prst="wedgeRectCallout">
            <a:avLst>
              <a:gd name="adj1" fmla="val -62622"/>
              <a:gd name="adj2" fmla="val 76482"/>
            </a:avLst>
          </a:prstGeom>
          <a:solidFill>
            <a:schemeClr val="accent5">
              <a:alpha val="46000"/>
            </a:schemeClr>
          </a:solidFill>
          <a:ln>
            <a:noFill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LLBP storage</a:t>
            </a:r>
          </a:p>
          <a:p>
            <a:pPr algn="ctr"/>
            <a:r>
              <a:rPr lang="en-GB" sz="11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16 x 14k </a:t>
            </a:r>
          </a:p>
        </p:txBody>
      </p:sp>
    </p:spTree>
    <p:extLst>
      <p:ext uri="{BB962C8B-B14F-4D97-AF65-F5344CB8AC3E}">
        <p14:creationId xmlns:p14="http://schemas.microsoft.com/office/powerpoint/2010/main" val="155819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5" grpId="0" animBg="1"/>
      <p:bldP spid="16" grpId="0" animBg="1"/>
      <p:bldP spid="17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80D96-E1AB-E248-7C3C-5C367FCD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A8E9F-DEFF-CF4D-0A16-75B0F31E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Understanding LLBP’s Bottlenecks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6C07F-3E4A-BDAD-FB81-CD8FD4533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460" y="969856"/>
            <a:ext cx="8641080" cy="1982000"/>
          </a:xfrm>
        </p:spPr>
        <p:txBody>
          <a:bodyPr/>
          <a:lstStyle/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r>
              <a:rPr lang="en-GB" b="1" noProof="0" dirty="0"/>
              <a:t>Problem 2: </a:t>
            </a:r>
            <a:r>
              <a:rPr lang="en-GB" noProof="0" dirty="0"/>
              <a:t>Pattern duplication due to contextualization</a:t>
            </a:r>
          </a:p>
          <a:p>
            <a:pPr marL="266700" indent="-176213">
              <a:lnSpc>
                <a:spcPct val="10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LLBP uses a fixed context depth </a:t>
            </a:r>
          </a:p>
          <a:p>
            <a:pPr marL="444500" lvl="1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/>
              <a:t>Number of unconditional branches to create the context ID</a:t>
            </a:r>
          </a:p>
          <a:p>
            <a:pPr marL="266700" indent="-176213" defTabSz="534988">
              <a:lnSpc>
                <a:spcPct val="100000"/>
              </a:lnSpc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noProof="0" dirty="0"/>
              <a:t>Context </a:t>
            </a:r>
            <a:r>
              <a:rPr lang="en-GB" sz="1600" dirty="0"/>
              <a:t>t</a:t>
            </a:r>
            <a:r>
              <a:rPr lang="en-GB" sz="1600" noProof="0" dirty="0" err="1"/>
              <a:t>oo</a:t>
            </a:r>
            <a:r>
              <a:rPr lang="en-GB" sz="1600" noProof="0" dirty="0"/>
              <a:t> deep for patterns with short history</a:t>
            </a:r>
          </a:p>
          <a:p>
            <a:pPr marL="444500" lvl="1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>
                <a:sym typeface="Wingdings" panose="05000000000000000000" pitchFamily="2" charset="2"/>
              </a:rPr>
              <a:t>The same pattern must be replicated in multiple pattern sets</a:t>
            </a:r>
          </a:p>
          <a:p>
            <a:pPr marL="444500" lvl="1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>
                <a:sym typeface="Wingdings" panose="05000000000000000000" pitchFamily="2" charset="2"/>
              </a:rPr>
              <a:t>Wastes capacity and increases training time</a:t>
            </a:r>
            <a:endParaRPr lang="en-GB" sz="14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89F95-0866-57C7-D65E-DB2D80CDE7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13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BA581-EC92-CE13-1A71-D3C1E4FD20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/>
              <a:t>HPCA'26: The Last-Level Branch Predictor Revisited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058C626-D209-5EED-EA9F-5AAEE2668185}"/>
              </a:ext>
            </a:extLst>
          </p:cNvPr>
          <p:cNvSpPr txBox="1">
            <a:spLocks/>
          </p:cNvSpPr>
          <p:nvPr/>
        </p:nvSpPr>
        <p:spPr>
          <a:xfrm>
            <a:off x="251460" y="4419600"/>
            <a:ext cx="8641080" cy="49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ndara"/>
              <a:buNone/>
              <a:defRPr sz="1800" b="0" i="0" u="none" strike="noStrike" cap="none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r>
              <a:rPr lang="en-GB" sz="2000" noProof="0" dirty="0"/>
              <a:t>Deep context depth requires duplication of short history patterns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5FF9D-C6CF-F32C-A16E-463E056053B3}"/>
              </a:ext>
            </a:extLst>
          </p:cNvPr>
          <p:cNvSpPr/>
          <p:nvPr/>
        </p:nvSpPr>
        <p:spPr bwMode="auto">
          <a:xfrm>
            <a:off x="7464873" y="2842014"/>
            <a:ext cx="333375" cy="265364"/>
          </a:xfrm>
          <a:prstGeom prst="rect">
            <a:avLst/>
          </a:prstGeom>
          <a:solidFill>
            <a:srgbClr val="C0000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br</a:t>
            </a:r>
            <a:endParaRPr kumimoji="0" lang="en-GB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823705AF-F33B-5C32-2C7B-EE5C61408A2F}"/>
              </a:ext>
            </a:extLst>
          </p:cNvPr>
          <p:cNvCxnSpPr>
            <a:cxnSpLocks/>
            <a:endCxn id="6" idx="0"/>
          </p:cNvCxnSpPr>
          <p:nvPr/>
        </p:nvCxnSpPr>
        <p:spPr bwMode="auto">
          <a:xfrm rot="5400000">
            <a:off x="7521298" y="2731749"/>
            <a:ext cx="220529" cy="1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2AD5D86-3B02-901C-2A5E-DC9427341FDD}"/>
              </a:ext>
            </a:extLst>
          </p:cNvPr>
          <p:cNvCxnSpPr>
            <a:cxnSpLocks/>
            <a:stCxn id="11" idx="2"/>
            <a:endCxn id="21" idx="3"/>
          </p:cNvCxnSpPr>
          <p:nvPr/>
        </p:nvCxnSpPr>
        <p:spPr bwMode="auto">
          <a:xfrm rot="5400000">
            <a:off x="8046175" y="1286123"/>
            <a:ext cx="431483" cy="814138"/>
          </a:xfrm>
          <a:prstGeom prst="curved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AB1438C-C354-A283-B25F-D1DC72A323D1}"/>
              </a:ext>
            </a:extLst>
          </p:cNvPr>
          <p:cNvSpPr/>
          <p:nvPr/>
        </p:nvSpPr>
        <p:spPr bwMode="auto">
          <a:xfrm>
            <a:off x="8445429" y="1161384"/>
            <a:ext cx="447111" cy="316067"/>
          </a:xfrm>
          <a:prstGeom prst="rect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fnD</a:t>
            </a:r>
            <a:endParaRPr lang="en-GB" sz="1800" noProof="0">
              <a:latin typeface="Times" charset="0"/>
              <a:ea typeface="ＭＳ Ｐゴシック" charset="0"/>
            </a:endParaRP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ACA8C9BC-44AD-7213-C3F6-2BBE60F2811D}"/>
              </a:ext>
            </a:extLst>
          </p:cNvPr>
          <p:cNvCxnSpPr>
            <a:cxnSpLocks/>
            <a:stCxn id="21" idx="3"/>
            <a:endCxn id="23" idx="3"/>
          </p:cNvCxnSpPr>
          <p:nvPr/>
        </p:nvCxnSpPr>
        <p:spPr bwMode="auto">
          <a:xfrm>
            <a:off x="7854847" y="1908934"/>
            <a:ext cx="12700" cy="56091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5251AE46-E931-CC1A-88E2-A292DC1E0098}"/>
              </a:ext>
            </a:extLst>
          </p:cNvPr>
          <p:cNvCxnSpPr>
            <a:cxnSpLocks/>
            <a:stCxn id="19" idx="3"/>
            <a:endCxn id="21" idx="3"/>
          </p:cNvCxnSpPr>
          <p:nvPr/>
        </p:nvCxnSpPr>
        <p:spPr bwMode="auto">
          <a:xfrm>
            <a:off x="7854847" y="1358149"/>
            <a:ext cx="12700" cy="55078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86F2FAF-9E83-0452-C0EE-9FD274EBE58A}"/>
              </a:ext>
            </a:extLst>
          </p:cNvPr>
          <p:cNvSpPr/>
          <p:nvPr/>
        </p:nvSpPr>
        <p:spPr bwMode="auto">
          <a:xfrm>
            <a:off x="7407896" y="1206517"/>
            <a:ext cx="446951" cy="30326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fnA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914021-D5B4-247E-6615-216D8A8817C1}"/>
              </a:ext>
            </a:extLst>
          </p:cNvPr>
          <p:cNvSpPr/>
          <p:nvPr/>
        </p:nvSpPr>
        <p:spPr bwMode="auto">
          <a:xfrm>
            <a:off x="6761201" y="911478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A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948BCB-BDDF-2CAA-E149-4060C2E61635}"/>
              </a:ext>
            </a:extLst>
          </p:cNvPr>
          <p:cNvSpPr/>
          <p:nvPr/>
        </p:nvSpPr>
        <p:spPr bwMode="auto">
          <a:xfrm>
            <a:off x="7407896" y="1757302"/>
            <a:ext cx="446951" cy="303263"/>
          </a:xfrm>
          <a:prstGeom prst="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fnB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1E00E4-2CCA-F0CD-AE97-B270F5D9158D}"/>
              </a:ext>
            </a:extLst>
          </p:cNvPr>
          <p:cNvSpPr/>
          <p:nvPr/>
        </p:nvSpPr>
        <p:spPr bwMode="auto">
          <a:xfrm>
            <a:off x="6761201" y="1512956"/>
            <a:ext cx="638189" cy="3032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latin typeface="Times" charset="0"/>
                <a:ea typeface="ＭＳ Ｐゴシック" charset="0"/>
              </a:rPr>
              <a:t>B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347E98-54B9-FD66-3842-F893648DF829}"/>
              </a:ext>
            </a:extLst>
          </p:cNvPr>
          <p:cNvSpPr/>
          <p:nvPr/>
        </p:nvSpPr>
        <p:spPr bwMode="auto">
          <a:xfrm>
            <a:off x="7407896" y="2318221"/>
            <a:ext cx="446951" cy="30326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fnC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924895-4B1D-074D-BCB0-649B81201888}"/>
              </a:ext>
            </a:extLst>
          </p:cNvPr>
          <p:cNvSpPr/>
          <p:nvPr/>
        </p:nvSpPr>
        <p:spPr bwMode="auto">
          <a:xfrm>
            <a:off x="6791747" y="2001878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5BE05A67-C438-2B75-5A00-056D07CB5ABE}"/>
              </a:ext>
            </a:extLst>
          </p:cNvPr>
          <p:cNvCxnSpPr>
            <a:cxnSpLocks/>
            <a:stCxn id="23" idx="2"/>
          </p:cNvCxnSpPr>
          <p:nvPr/>
        </p:nvCxnSpPr>
        <p:spPr bwMode="auto">
          <a:xfrm rot="16200000" flipH="1">
            <a:off x="7521201" y="2731654"/>
            <a:ext cx="220530" cy="189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F55E8B2-5A1A-1AB2-0BF9-2A6393BF3970}"/>
              </a:ext>
            </a:extLst>
          </p:cNvPr>
          <p:cNvSpPr/>
          <p:nvPr/>
        </p:nvSpPr>
        <p:spPr bwMode="auto">
          <a:xfrm>
            <a:off x="4823390" y="3914553"/>
            <a:ext cx="1646074" cy="433341"/>
          </a:xfrm>
          <a:prstGeom prst="rect">
            <a:avLst/>
          </a:prstGeom>
          <a:gradFill>
            <a:gsLst>
              <a:gs pos="4000">
                <a:schemeClr val="accent1">
                  <a:lumMod val="75000"/>
                </a:schemeClr>
              </a:gs>
              <a:gs pos="57760">
                <a:srgbClr val="92D050"/>
              </a:gs>
              <a:gs pos="100000">
                <a:schemeClr val="accent4"/>
              </a:gs>
            </a:gsLst>
            <a:lin ang="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75600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61EE20-B6D9-12B8-6864-93E112D24914}"/>
              </a:ext>
            </a:extLst>
          </p:cNvPr>
          <p:cNvSpPr/>
          <p:nvPr/>
        </p:nvSpPr>
        <p:spPr bwMode="auto">
          <a:xfrm>
            <a:off x="6882023" y="3908319"/>
            <a:ext cx="1646074" cy="439575"/>
          </a:xfrm>
          <a:prstGeom prst="rect">
            <a:avLst/>
          </a:prstGeom>
          <a:gradFill>
            <a:gsLst>
              <a:gs pos="4000">
                <a:srgbClr val="7030A0"/>
              </a:gs>
              <a:gs pos="57760">
                <a:srgbClr val="92D050"/>
              </a:gs>
              <a:gs pos="100000">
                <a:schemeClr val="accent4"/>
              </a:gs>
            </a:gsLst>
            <a:lin ang="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75600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E5A5B9-A9C0-214D-E72F-D8DF79EACB18}"/>
              </a:ext>
            </a:extLst>
          </p:cNvPr>
          <p:cNvSpPr txBox="1"/>
          <p:nvPr/>
        </p:nvSpPr>
        <p:spPr>
          <a:xfrm>
            <a:off x="5407529" y="3946724"/>
            <a:ext cx="477795" cy="2154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spAutoFit/>
          </a:bodyPr>
          <a:lstStyle/>
          <a:p>
            <a:r>
              <a:rPr lang="en-GB" noProof="0" dirty="0"/>
              <a:t>ABC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BD277F-D61F-BBC7-A7AA-766EA111EE90}"/>
              </a:ext>
            </a:extLst>
          </p:cNvPr>
          <p:cNvSpPr txBox="1"/>
          <p:nvPr/>
        </p:nvSpPr>
        <p:spPr>
          <a:xfrm>
            <a:off x="7440362" y="3946724"/>
            <a:ext cx="477795" cy="2154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1">
            <a:spAutoFit/>
          </a:bodyPr>
          <a:lstStyle/>
          <a:p>
            <a:r>
              <a:rPr lang="en-GB" noProof="0" dirty="0"/>
              <a:t>DBC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EB7596-2AF9-AC58-E801-CDD6CDF7D9E2}"/>
              </a:ext>
            </a:extLst>
          </p:cNvPr>
          <p:cNvSpPr/>
          <p:nvPr/>
        </p:nvSpPr>
        <p:spPr bwMode="auto">
          <a:xfrm>
            <a:off x="3314523" y="3044477"/>
            <a:ext cx="1424453" cy="360434"/>
          </a:xfrm>
          <a:prstGeom prst="rect">
            <a:avLst/>
          </a:prstGeom>
          <a:solidFill>
            <a:schemeClr val="accent4">
              <a:lumMod val="75000"/>
              <a:alpha val="7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fnC</a:t>
            </a:r>
            <a:endParaRPr kumimoji="0" lang="en-GB" sz="1200" b="0" i="0" u="none" strike="noStrike" cap="none" normalizeH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268DAB-BFE5-1E49-F7A1-6FD2A8D6D886}"/>
              </a:ext>
            </a:extLst>
          </p:cNvPr>
          <p:cNvSpPr/>
          <p:nvPr/>
        </p:nvSpPr>
        <p:spPr bwMode="auto">
          <a:xfrm>
            <a:off x="1821825" y="3043260"/>
            <a:ext cx="1494448" cy="341323"/>
          </a:xfrm>
          <a:prstGeom prst="rect">
            <a:avLst/>
          </a:prstGeom>
          <a:solidFill>
            <a:srgbClr val="92D050">
              <a:alpha val="74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fnB</a:t>
            </a:r>
            <a:endParaRPr kumimoji="0" lang="en-GB" sz="1200" b="0" i="0" u="none" strike="noStrike" cap="none" normalizeH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59EF31-33E6-6691-8048-C3167A8E8C21}"/>
              </a:ext>
            </a:extLst>
          </p:cNvPr>
          <p:cNvSpPr/>
          <p:nvPr/>
        </p:nvSpPr>
        <p:spPr bwMode="auto">
          <a:xfrm>
            <a:off x="754935" y="3010234"/>
            <a:ext cx="1072136" cy="227694"/>
          </a:xfrm>
          <a:prstGeom prst="rect">
            <a:avLst/>
          </a:prstGeom>
          <a:solidFill>
            <a:schemeClr val="accent1">
              <a:lumMod val="75000"/>
              <a:alpha val="7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fnA</a:t>
            </a:r>
            <a:endParaRPr kumimoji="0" lang="en-GB" sz="1200" b="0" i="0" u="none" strike="noStrike" cap="none" normalizeH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4EB9E10-7C75-0AD0-30FB-41F663AA2CF0}"/>
              </a:ext>
            </a:extLst>
          </p:cNvPr>
          <p:cNvSpPr/>
          <p:nvPr/>
        </p:nvSpPr>
        <p:spPr bwMode="auto">
          <a:xfrm>
            <a:off x="4231179" y="3233713"/>
            <a:ext cx="119699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72C9AE5-53F3-E91F-F926-C16F256DF05F}"/>
              </a:ext>
            </a:extLst>
          </p:cNvPr>
          <p:cNvSpPr/>
          <p:nvPr/>
        </p:nvSpPr>
        <p:spPr bwMode="auto">
          <a:xfrm>
            <a:off x="4364145" y="3233713"/>
            <a:ext cx="119699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88ED969-96DA-33BA-2838-9F2CF004A970}"/>
              </a:ext>
            </a:extLst>
          </p:cNvPr>
          <p:cNvSpPr/>
          <p:nvPr/>
        </p:nvSpPr>
        <p:spPr bwMode="auto">
          <a:xfrm>
            <a:off x="4497110" y="3233713"/>
            <a:ext cx="119699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7F0A951-96B4-029F-047F-40850C97FF46}"/>
              </a:ext>
            </a:extLst>
          </p:cNvPr>
          <p:cNvSpPr/>
          <p:nvPr/>
        </p:nvSpPr>
        <p:spPr bwMode="auto">
          <a:xfrm>
            <a:off x="4630076" y="3233713"/>
            <a:ext cx="119699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42142CF-972E-4370-334F-22BA6BBB52BB}"/>
              </a:ext>
            </a:extLst>
          </p:cNvPr>
          <p:cNvSpPr/>
          <p:nvPr/>
        </p:nvSpPr>
        <p:spPr bwMode="auto">
          <a:xfrm>
            <a:off x="4769944" y="3233404"/>
            <a:ext cx="129414" cy="212622"/>
          </a:xfrm>
          <a:prstGeom prst="rect">
            <a:avLst/>
          </a:prstGeom>
          <a:solidFill>
            <a:srgbClr val="C0000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?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0D0455-5B7B-5DBC-964A-D456D5342527}"/>
              </a:ext>
            </a:extLst>
          </p:cNvPr>
          <p:cNvSpPr/>
          <p:nvPr/>
        </p:nvSpPr>
        <p:spPr bwMode="auto">
          <a:xfrm>
            <a:off x="769957" y="3456289"/>
            <a:ext cx="1057114" cy="188481"/>
          </a:xfrm>
          <a:prstGeom prst="rect">
            <a:avLst/>
          </a:prstGeom>
          <a:solidFill>
            <a:srgbClr val="7030A0">
              <a:alpha val="74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fnD</a:t>
            </a:r>
            <a:endParaRPr kumimoji="0" lang="en-GB" sz="1200" b="0" i="0" u="none" strike="noStrike" cap="none" normalizeH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00DF96F-6A16-8358-14A5-32564BFBC833}"/>
              </a:ext>
            </a:extLst>
          </p:cNvPr>
          <p:cNvSpPr/>
          <p:nvPr/>
        </p:nvSpPr>
        <p:spPr>
          <a:xfrm>
            <a:off x="7696200" y="1363980"/>
            <a:ext cx="333375" cy="1539240"/>
          </a:xfrm>
          <a:custGeom>
            <a:avLst/>
            <a:gdLst>
              <a:gd name="csX0" fmla="*/ 121920 w 384045"/>
              <a:gd name="csY0" fmla="*/ 0 h 1539240"/>
              <a:gd name="csX1" fmla="*/ 304800 w 384045"/>
              <a:gd name="csY1" fmla="*/ 228600 h 1539240"/>
              <a:gd name="csX2" fmla="*/ 175260 w 384045"/>
              <a:gd name="csY2" fmla="*/ 533400 h 1539240"/>
              <a:gd name="csX3" fmla="*/ 182880 w 384045"/>
              <a:gd name="csY3" fmla="*/ 563880 h 1539240"/>
              <a:gd name="csX4" fmla="*/ 373380 w 384045"/>
              <a:gd name="csY4" fmla="*/ 792480 h 1539240"/>
              <a:gd name="csX5" fmla="*/ 335280 w 384045"/>
              <a:gd name="csY5" fmla="*/ 998220 h 1539240"/>
              <a:gd name="csX6" fmla="*/ 129540 w 384045"/>
              <a:gd name="csY6" fmla="*/ 1143000 h 1539240"/>
              <a:gd name="csX7" fmla="*/ 0 w 384045"/>
              <a:gd name="csY7" fmla="*/ 1539240 h 1539240"/>
              <a:gd name="csX8" fmla="*/ 0 w 384045"/>
              <a:gd name="csY8" fmla="*/ 1539240 h 1539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4045" h="1539240">
                <a:moveTo>
                  <a:pt x="121920" y="0"/>
                </a:moveTo>
                <a:cubicBezTo>
                  <a:pt x="208915" y="69850"/>
                  <a:pt x="295910" y="139700"/>
                  <a:pt x="304800" y="228600"/>
                </a:cubicBezTo>
                <a:cubicBezTo>
                  <a:pt x="313690" y="317500"/>
                  <a:pt x="195580" y="477520"/>
                  <a:pt x="175260" y="533400"/>
                </a:cubicBezTo>
                <a:cubicBezTo>
                  <a:pt x="154940" y="589280"/>
                  <a:pt x="149860" y="520700"/>
                  <a:pt x="182880" y="563880"/>
                </a:cubicBezTo>
                <a:cubicBezTo>
                  <a:pt x="215900" y="607060"/>
                  <a:pt x="347980" y="720090"/>
                  <a:pt x="373380" y="792480"/>
                </a:cubicBezTo>
                <a:cubicBezTo>
                  <a:pt x="398780" y="864870"/>
                  <a:pt x="375920" y="939800"/>
                  <a:pt x="335280" y="998220"/>
                </a:cubicBezTo>
                <a:cubicBezTo>
                  <a:pt x="294640" y="1056640"/>
                  <a:pt x="185420" y="1052830"/>
                  <a:pt x="129540" y="1143000"/>
                </a:cubicBezTo>
                <a:cubicBezTo>
                  <a:pt x="73660" y="1233170"/>
                  <a:pt x="0" y="1539240"/>
                  <a:pt x="0" y="1539240"/>
                </a:cubicBezTo>
                <a:lnTo>
                  <a:pt x="0" y="1539240"/>
                </a:lnTo>
              </a:path>
            </a:pathLst>
          </a:custGeom>
          <a:noFill/>
          <a:ln w="57150">
            <a:solidFill>
              <a:srgbClr val="C0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262055A1-6578-93FD-5875-1ECE14D03550}"/>
              </a:ext>
            </a:extLst>
          </p:cNvPr>
          <p:cNvSpPr/>
          <p:nvPr/>
        </p:nvSpPr>
        <p:spPr>
          <a:xfrm>
            <a:off x="7727902" y="1496962"/>
            <a:ext cx="922027" cy="1437968"/>
          </a:xfrm>
          <a:custGeom>
            <a:avLst/>
            <a:gdLst>
              <a:gd name="csX0" fmla="*/ 789039 w 789039"/>
              <a:gd name="csY0" fmla="*/ 0 h 405581"/>
              <a:gd name="csX1" fmla="*/ 744794 w 789039"/>
              <a:gd name="csY1" fmla="*/ 147484 h 405581"/>
              <a:gd name="csX2" fmla="*/ 626807 w 789039"/>
              <a:gd name="csY2" fmla="*/ 228600 h 405581"/>
              <a:gd name="csX3" fmla="*/ 398207 w 789039"/>
              <a:gd name="csY3" fmla="*/ 353962 h 405581"/>
              <a:gd name="csX4" fmla="*/ 0 w 789039"/>
              <a:gd name="csY4" fmla="*/ 405581 h 405581"/>
              <a:gd name="csX0" fmla="*/ 921775 w 921775"/>
              <a:gd name="csY0" fmla="*/ 0 h 1437968"/>
              <a:gd name="csX1" fmla="*/ 877530 w 921775"/>
              <a:gd name="csY1" fmla="*/ 147484 h 1437968"/>
              <a:gd name="csX2" fmla="*/ 759543 w 921775"/>
              <a:gd name="csY2" fmla="*/ 228600 h 1437968"/>
              <a:gd name="csX3" fmla="*/ 530943 w 921775"/>
              <a:gd name="csY3" fmla="*/ 353962 h 1437968"/>
              <a:gd name="csX4" fmla="*/ 0 w 921775"/>
              <a:gd name="csY4" fmla="*/ 1437968 h 1437968"/>
              <a:gd name="csX0" fmla="*/ 921883 w 921883"/>
              <a:gd name="csY0" fmla="*/ 0 h 1437968"/>
              <a:gd name="csX1" fmla="*/ 877638 w 921883"/>
              <a:gd name="csY1" fmla="*/ 147484 h 1437968"/>
              <a:gd name="csX2" fmla="*/ 759651 w 921883"/>
              <a:gd name="csY2" fmla="*/ 228600 h 1437968"/>
              <a:gd name="csX3" fmla="*/ 531051 w 921883"/>
              <a:gd name="csY3" fmla="*/ 353962 h 1437968"/>
              <a:gd name="csX4" fmla="*/ 108 w 921883"/>
              <a:gd name="csY4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280473 w 922027"/>
              <a:gd name="csY3" fmla="*/ 870155 h 1437968"/>
              <a:gd name="csX4" fmla="*/ 252 w 922027"/>
              <a:gd name="csY4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280473 w 922027"/>
              <a:gd name="csY3" fmla="*/ 870155 h 1437968"/>
              <a:gd name="csX4" fmla="*/ 252 w 922027"/>
              <a:gd name="csY4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545943 w 922027"/>
              <a:gd name="csY3" fmla="*/ 516193 h 1437968"/>
              <a:gd name="csX4" fmla="*/ 280473 w 922027"/>
              <a:gd name="csY4" fmla="*/ 870155 h 1437968"/>
              <a:gd name="csX5" fmla="*/ 252 w 922027"/>
              <a:gd name="csY5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132988 w 922027"/>
              <a:gd name="csY3" fmla="*/ 420329 h 1437968"/>
              <a:gd name="csX4" fmla="*/ 280473 w 922027"/>
              <a:gd name="csY4" fmla="*/ 870155 h 1437968"/>
              <a:gd name="csX5" fmla="*/ 252 w 922027"/>
              <a:gd name="csY5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132988 w 922027"/>
              <a:gd name="csY3" fmla="*/ 420329 h 1437968"/>
              <a:gd name="csX4" fmla="*/ 280473 w 922027"/>
              <a:gd name="csY4" fmla="*/ 870155 h 1437968"/>
              <a:gd name="csX5" fmla="*/ 252 w 922027"/>
              <a:gd name="csY5" fmla="*/ 1437968 h 1437968"/>
              <a:gd name="csX0" fmla="*/ 922027 w 922027"/>
              <a:gd name="csY0" fmla="*/ 0 h 1437968"/>
              <a:gd name="csX1" fmla="*/ 877782 w 922027"/>
              <a:gd name="csY1" fmla="*/ 147484 h 1437968"/>
              <a:gd name="csX2" fmla="*/ 759795 w 922027"/>
              <a:gd name="csY2" fmla="*/ 228600 h 1437968"/>
              <a:gd name="csX3" fmla="*/ 132988 w 922027"/>
              <a:gd name="csY3" fmla="*/ 420329 h 1437968"/>
              <a:gd name="csX4" fmla="*/ 280473 w 922027"/>
              <a:gd name="csY4" fmla="*/ 870155 h 1437968"/>
              <a:gd name="csX5" fmla="*/ 252 w 922027"/>
              <a:gd name="csY5" fmla="*/ 1437968 h 1437968"/>
              <a:gd name="csX0" fmla="*/ 922027 w 922027"/>
              <a:gd name="csY0" fmla="*/ 0 h 1437968"/>
              <a:gd name="csX1" fmla="*/ 759795 w 922027"/>
              <a:gd name="csY1" fmla="*/ 228600 h 1437968"/>
              <a:gd name="csX2" fmla="*/ 132988 w 922027"/>
              <a:gd name="csY2" fmla="*/ 420329 h 1437968"/>
              <a:gd name="csX3" fmla="*/ 280473 w 922027"/>
              <a:gd name="csY3" fmla="*/ 870155 h 1437968"/>
              <a:gd name="csX4" fmla="*/ 252 w 922027"/>
              <a:gd name="csY4" fmla="*/ 1437968 h 1437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2027" h="1437968">
                <a:moveTo>
                  <a:pt x="922027" y="0"/>
                </a:moveTo>
                <a:cubicBezTo>
                  <a:pt x="888229" y="47625"/>
                  <a:pt x="891301" y="158545"/>
                  <a:pt x="759795" y="228600"/>
                </a:cubicBezTo>
                <a:cubicBezTo>
                  <a:pt x="635663" y="274074"/>
                  <a:pt x="470972" y="394520"/>
                  <a:pt x="132988" y="420329"/>
                </a:cubicBezTo>
                <a:cubicBezTo>
                  <a:pt x="244830" y="519881"/>
                  <a:pt x="371422" y="716526"/>
                  <a:pt x="280473" y="870155"/>
                </a:cubicBezTo>
                <a:cubicBezTo>
                  <a:pt x="176005" y="899652"/>
                  <a:pt x="-7737" y="1235178"/>
                  <a:pt x="252" y="1437968"/>
                </a:cubicBezTo>
              </a:path>
            </a:pathLst>
          </a:custGeom>
          <a:noFill/>
          <a:ln w="57150">
            <a:solidFill>
              <a:srgbClr val="C0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6CB6CF-5B4F-1E81-C05F-5FD398865851}"/>
              </a:ext>
            </a:extLst>
          </p:cNvPr>
          <p:cNvSpPr/>
          <p:nvPr/>
        </p:nvSpPr>
        <p:spPr bwMode="auto">
          <a:xfrm>
            <a:off x="619393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6C5999-C194-978F-C8C1-13E691950D50}"/>
              </a:ext>
            </a:extLst>
          </p:cNvPr>
          <p:cNvSpPr/>
          <p:nvPr/>
        </p:nvSpPr>
        <p:spPr bwMode="auto">
          <a:xfrm>
            <a:off x="769957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E24FC3-3B4E-0AEB-EB7A-119C67BFEECF}"/>
              </a:ext>
            </a:extLst>
          </p:cNvPr>
          <p:cNvSpPr/>
          <p:nvPr/>
        </p:nvSpPr>
        <p:spPr bwMode="auto">
          <a:xfrm>
            <a:off x="920521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0255A2-9616-D1BF-EB9B-85026876FC48}"/>
              </a:ext>
            </a:extLst>
          </p:cNvPr>
          <p:cNvSpPr/>
          <p:nvPr/>
        </p:nvSpPr>
        <p:spPr bwMode="auto">
          <a:xfrm>
            <a:off x="1071085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BB9E8A-3224-0F37-4F90-E1BAFCDA2AAA}"/>
              </a:ext>
            </a:extLst>
          </p:cNvPr>
          <p:cNvSpPr/>
          <p:nvPr/>
        </p:nvSpPr>
        <p:spPr bwMode="auto">
          <a:xfrm>
            <a:off x="1221649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55953F-8C1A-ABED-EAB9-7E1B3D57FFA3}"/>
              </a:ext>
            </a:extLst>
          </p:cNvPr>
          <p:cNvSpPr/>
          <p:nvPr/>
        </p:nvSpPr>
        <p:spPr bwMode="auto">
          <a:xfrm>
            <a:off x="1372213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E0B036B-61B2-8C05-7AAA-A1060F430AF3}"/>
              </a:ext>
            </a:extLst>
          </p:cNvPr>
          <p:cNvSpPr/>
          <p:nvPr/>
        </p:nvSpPr>
        <p:spPr bwMode="auto">
          <a:xfrm>
            <a:off x="1522777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B77123-9E88-3C40-2EC6-ED9734306B8A}"/>
              </a:ext>
            </a:extLst>
          </p:cNvPr>
          <p:cNvSpPr/>
          <p:nvPr/>
        </p:nvSpPr>
        <p:spPr bwMode="auto">
          <a:xfrm>
            <a:off x="1673341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F976D4-EA04-C9E5-62E9-474BD5E0C454}"/>
              </a:ext>
            </a:extLst>
          </p:cNvPr>
          <p:cNvSpPr/>
          <p:nvPr/>
        </p:nvSpPr>
        <p:spPr bwMode="auto">
          <a:xfrm>
            <a:off x="1823905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5D4BD6D-FDFD-BF82-3FF9-16DD3B6A5324}"/>
              </a:ext>
            </a:extLst>
          </p:cNvPr>
          <p:cNvSpPr/>
          <p:nvPr/>
        </p:nvSpPr>
        <p:spPr bwMode="auto">
          <a:xfrm>
            <a:off x="1974469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2F49EA2-CEE0-38B5-9C94-DE0A4A5A930A}"/>
              </a:ext>
            </a:extLst>
          </p:cNvPr>
          <p:cNvSpPr/>
          <p:nvPr/>
        </p:nvSpPr>
        <p:spPr bwMode="auto">
          <a:xfrm>
            <a:off x="2125033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C918BED-326B-D880-68FE-241D39A16C15}"/>
              </a:ext>
            </a:extLst>
          </p:cNvPr>
          <p:cNvSpPr/>
          <p:nvPr/>
        </p:nvSpPr>
        <p:spPr bwMode="auto">
          <a:xfrm>
            <a:off x="2275597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053989-0532-55F2-CEDB-8FACB211BB97}"/>
              </a:ext>
            </a:extLst>
          </p:cNvPr>
          <p:cNvSpPr/>
          <p:nvPr/>
        </p:nvSpPr>
        <p:spPr bwMode="auto">
          <a:xfrm>
            <a:off x="2727289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0660196-173F-C346-0FC3-BAA38C5B8C5F}"/>
              </a:ext>
            </a:extLst>
          </p:cNvPr>
          <p:cNvSpPr/>
          <p:nvPr/>
        </p:nvSpPr>
        <p:spPr bwMode="auto">
          <a:xfrm>
            <a:off x="2576725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070E073-F72E-2445-E355-D1ECBF4E591D}"/>
              </a:ext>
            </a:extLst>
          </p:cNvPr>
          <p:cNvSpPr/>
          <p:nvPr/>
        </p:nvSpPr>
        <p:spPr bwMode="auto">
          <a:xfrm>
            <a:off x="2877853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9E40CBA-52D8-1041-5613-6B2FC9692CAC}"/>
              </a:ext>
            </a:extLst>
          </p:cNvPr>
          <p:cNvSpPr/>
          <p:nvPr/>
        </p:nvSpPr>
        <p:spPr bwMode="auto">
          <a:xfrm>
            <a:off x="2426161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E343ABD-392F-0482-2228-FE6DC968003A}"/>
              </a:ext>
            </a:extLst>
          </p:cNvPr>
          <p:cNvSpPr/>
          <p:nvPr/>
        </p:nvSpPr>
        <p:spPr bwMode="auto">
          <a:xfrm>
            <a:off x="3028417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4CFA497-C465-D63A-444A-9814CB36EDAB}"/>
              </a:ext>
            </a:extLst>
          </p:cNvPr>
          <p:cNvSpPr/>
          <p:nvPr/>
        </p:nvSpPr>
        <p:spPr bwMode="auto">
          <a:xfrm>
            <a:off x="3178981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2888602-05C2-3CC3-EB91-84568557237B}"/>
              </a:ext>
            </a:extLst>
          </p:cNvPr>
          <p:cNvSpPr/>
          <p:nvPr/>
        </p:nvSpPr>
        <p:spPr bwMode="auto">
          <a:xfrm>
            <a:off x="3329545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0089029-FED8-FDFC-55AB-1F165EF84447}"/>
              </a:ext>
            </a:extLst>
          </p:cNvPr>
          <p:cNvSpPr/>
          <p:nvPr/>
        </p:nvSpPr>
        <p:spPr bwMode="auto">
          <a:xfrm>
            <a:off x="3480109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72E7BAD-4121-C40F-AA8C-52EE5DC5AF0D}"/>
              </a:ext>
            </a:extLst>
          </p:cNvPr>
          <p:cNvSpPr/>
          <p:nvPr/>
        </p:nvSpPr>
        <p:spPr bwMode="auto">
          <a:xfrm>
            <a:off x="3630673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D1124E0-6A09-95D1-25B0-B79799F4C207}"/>
              </a:ext>
            </a:extLst>
          </p:cNvPr>
          <p:cNvSpPr/>
          <p:nvPr/>
        </p:nvSpPr>
        <p:spPr bwMode="auto">
          <a:xfrm>
            <a:off x="4082365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29D2484-3847-EF40-A4D8-8CA99ED69A14}"/>
              </a:ext>
            </a:extLst>
          </p:cNvPr>
          <p:cNvSpPr/>
          <p:nvPr/>
        </p:nvSpPr>
        <p:spPr bwMode="auto">
          <a:xfrm>
            <a:off x="3931801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EFFB1EE-85D2-94A7-F3E6-6F7727849899}"/>
              </a:ext>
            </a:extLst>
          </p:cNvPr>
          <p:cNvSpPr/>
          <p:nvPr/>
        </p:nvSpPr>
        <p:spPr bwMode="auto">
          <a:xfrm>
            <a:off x="3781237" y="3233713"/>
            <a:ext cx="135542" cy="212622"/>
          </a:xfrm>
          <a:prstGeom prst="rect">
            <a:avLst/>
          </a:prstGeom>
          <a:solidFill>
            <a:schemeClr val="bg1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AEDA0B7-F2B5-7C11-E19D-830C0A7BD6F3}"/>
              </a:ext>
            </a:extLst>
          </p:cNvPr>
          <p:cNvSpPr/>
          <p:nvPr/>
        </p:nvSpPr>
        <p:spPr bwMode="auto">
          <a:xfrm>
            <a:off x="1786891" y="2706306"/>
            <a:ext cx="1979324" cy="200443"/>
          </a:xfrm>
          <a:prstGeom prst="rect">
            <a:avLst/>
          </a:prstGeom>
          <a:ln w="19050">
            <a:noFill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Context Depth (</a:t>
            </a:r>
            <a:r>
              <a:rPr kumimoji="0" lang="en-GB" sz="1200" b="1" i="0" u="none" strike="noStrike" cap="none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latin typeface="Times" charset="0"/>
                <a:ea typeface="ＭＳ Ｐゴシック" charset="0"/>
              </a:rPr>
              <a:t>3 UBs</a:t>
            </a:r>
            <a:r>
              <a:rPr kumimoji="0" lang="en-GB" sz="12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)</a:t>
            </a:r>
            <a:endParaRPr kumimoji="0" lang="en-GB" sz="180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1433EAB-3A28-1CF2-810C-AEFE1F2E01DF}"/>
              </a:ext>
            </a:extLst>
          </p:cNvPr>
          <p:cNvCxnSpPr>
            <a:cxnSpLocks/>
          </p:cNvCxnSpPr>
          <p:nvPr/>
        </p:nvCxnSpPr>
        <p:spPr>
          <a:xfrm>
            <a:off x="754935" y="2934930"/>
            <a:ext cx="399484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D5D6CDF-A523-F394-605D-A250119F0727}"/>
              </a:ext>
            </a:extLst>
          </p:cNvPr>
          <p:cNvGrpSpPr/>
          <p:nvPr/>
        </p:nvGrpSpPr>
        <p:grpSpPr>
          <a:xfrm>
            <a:off x="3766215" y="3213386"/>
            <a:ext cx="1476257" cy="512454"/>
            <a:chOff x="3766215" y="3213386"/>
            <a:chExt cx="1476257" cy="51245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E8424C9-18D3-19B7-21CF-E1D725275242}"/>
                </a:ext>
              </a:extLst>
            </p:cNvPr>
            <p:cNvSpPr/>
            <p:nvPr/>
          </p:nvSpPr>
          <p:spPr bwMode="auto">
            <a:xfrm>
              <a:off x="4217908" y="3213386"/>
              <a:ext cx="549834" cy="249944"/>
            </a:xfrm>
            <a:prstGeom prst="rect">
              <a:avLst/>
            </a:prstGeom>
            <a:solidFill>
              <a:schemeClr val="bg1">
                <a:lumMod val="50000"/>
                <a:alpha val="48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F025E2C-9BA0-F2E9-225B-B8EF78EC51BC}"/>
                </a:ext>
              </a:extLst>
            </p:cNvPr>
            <p:cNvSpPr/>
            <p:nvPr/>
          </p:nvSpPr>
          <p:spPr bwMode="auto">
            <a:xfrm>
              <a:off x="3766215" y="3525397"/>
              <a:ext cx="1476257" cy="200443"/>
            </a:xfrm>
            <a:prstGeom prst="rect">
              <a:avLst/>
            </a:prstGeom>
            <a:ln w="19050">
              <a:noFill/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100" dirty="0">
                  <a:solidFill>
                    <a:schemeClr val="tx1"/>
                  </a:solidFill>
                  <a:latin typeface="Times" charset="0"/>
                  <a:ea typeface="ＭＳ Ｐゴシック" charset="0"/>
                </a:rPr>
                <a:t>Pattern History Length (4 Branches)</a:t>
              </a:r>
              <a:endParaRPr kumimoji="0" lang="en-GB" sz="16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5A532D36-CD43-6376-1E52-391D697D9DF5}"/>
                </a:ext>
              </a:extLst>
            </p:cNvPr>
            <p:cNvCxnSpPr>
              <a:cxnSpLocks/>
            </p:cNvCxnSpPr>
            <p:nvPr/>
          </p:nvCxnSpPr>
          <p:spPr>
            <a:xfrm>
              <a:off x="4217907" y="3538431"/>
              <a:ext cx="549834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598D2215-CD32-16AE-229D-60BC8D8CF1B9}"/>
              </a:ext>
            </a:extLst>
          </p:cNvPr>
          <p:cNvSpPr/>
          <p:nvPr/>
        </p:nvSpPr>
        <p:spPr bwMode="auto">
          <a:xfrm>
            <a:off x="765827" y="3233404"/>
            <a:ext cx="135542" cy="212622"/>
          </a:xfrm>
          <a:prstGeom prst="rect">
            <a:avLst/>
          </a:prstGeom>
          <a:solidFill>
            <a:srgbClr val="7030A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841C0F1-6A8D-4D66-87CA-4C4D06DFB975}"/>
              </a:ext>
            </a:extLst>
          </p:cNvPr>
          <p:cNvSpPr/>
          <p:nvPr/>
        </p:nvSpPr>
        <p:spPr bwMode="auto">
          <a:xfrm>
            <a:off x="1819775" y="3233404"/>
            <a:ext cx="135542" cy="212622"/>
          </a:xfrm>
          <a:prstGeom prst="rect">
            <a:avLst/>
          </a:prstGeom>
          <a:solidFill>
            <a:srgbClr val="7030A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ED1720C-0C8B-5114-B06C-F1D351D3C24B}"/>
              </a:ext>
            </a:extLst>
          </p:cNvPr>
          <p:cNvSpPr/>
          <p:nvPr/>
        </p:nvSpPr>
        <p:spPr bwMode="auto">
          <a:xfrm>
            <a:off x="3325415" y="3233404"/>
            <a:ext cx="135542" cy="212622"/>
          </a:xfrm>
          <a:prstGeom prst="rect">
            <a:avLst/>
          </a:prstGeom>
          <a:solidFill>
            <a:srgbClr val="7030A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noProof="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</a:t>
            </a:r>
            <a:endParaRPr kumimoji="0" lang="en-GB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0B2392-6E66-A150-850E-F50404275F96}"/>
              </a:ext>
            </a:extLst>
          </p:cNvPr>
          <p:cNvSpPr/>
          <p:nvPr/>
        </p:nvSpPr>
        <p:spPr bwMode="auto">
          <a:xfrm>
            <a:off x="6996862" y="2858193"/>
            <a:ext cx="333375" cy="20044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0001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289340E-10A7-4CD3-6776-83C1358B07CA}"/>
              </a:ext>
            </a:extLst>
          </p:cNvPr>
          <p:cNvSpPr/>
          <p:nvPr/>
        </p:nvSpPr>
        <p:spPr bwMode="auto">
          <a:xfrm>
            <a:off x="6998942" y="2853430"/>
            <a:ext cx="333375" cy="20044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0001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1295EBF-2C58-C140-443B-FC278E26B39B}"/>
              </a:ext>
            </a:extLst>
          </p:cNvPr>
          <p:cNvSpPr/>
          <p:nvPr/>
        </p:nvSpPr>
        <p:spPr bwMode="auto">
          <a:xfrm>
            <a:off x="5654416" y="1679652"/>
            <a:ext cx="1175598" cy="200443"/>
          </a:xfrm>
          <a:prstGeom prst="rect">
            <a:avLst/>
          </a:prstGeom>
          <a:ln w="19050">
            <a:noFill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Context Depth (</a:t>
            </a:r>
            <a:r>
              <a:rPr lang="en-GB" sz="1200" b="1" noProof="0" dirty="0">
                <a:solidFill>
                  <a:srgbClr val="7030A0"/>
                </a:solidFill>
                <a:latin typeface="Times" charset="0"/>
                <a:ea typeface="ＭＳ Ｐゴシック" charset="0"/>
              </a:rPr>
              <a:t>3</a:t>
            </a:r>
            <a:r>
              <a:rPr kumimoji="0" lang="en-GB" sz="1200" b="1" i="0" u="none" strike="noStrike" cap="none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latin typeface="Times" charset="0"/>
                <a:ea typeface="ＭＳ Ｐゴシック" charset="0"/>
              </a:rPr>
              <a:t> UBs</a:t>
            </a:r>
            <a:r>
              <a:rPr kumimoji="0" lang="en-GB" sz="12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)</a:t>
            </a:r>
            <a:endParaRPr kumimoji="0" lang="en-GB" sz="180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199B6B1-07D7-6DB3-A41E-30E46504824C}"/>
              </a:ext>
            </a:extLst>
          </p:cNvPr>
          <p:cNvCxnSpPr>
            <a:cxnSpLocks/>
          </p:cNvCxnSpPr>
          <p:nvPr/>
        </p:nvCxnSpPr>
        <p:spPr>
          <a:xfrm flipV="1">
            <a:off x="6728005" y="981636"/>
            <a:ext cx="0" cy="1680805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02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7.069E-17 L -0.07049 0.0284 C -0.08507 0.03272 -0.10521 0.04907 -0.12552 0.06852 C -0.14844 0.09043 -0.16511 0.11049 -0.175 0.13086 L -0.22448 0.22284 " pathEditMode="relative" rAng="19860000" ptsTypes="AAAAA">
                                      <p:cBhvr>
                                        <p:cTn id="83" dur="11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92" y="90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100"/>
                            </p:stCondLst>
                            <p:childTnLst>
                              <p:par>
                                <p:cTn id="8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31 L 0.04219 0.03827 C 0.05139 0.04414 0.0625 0.0608 0.07275 0.0784 C 0.08542 0.09969 0.09427 0.11852 0.09896 0.13488 L 0.12032 0.20772 " pathEditMode="relative" rAng="13440000" ptsTypes="AAAAA">
                                      <p:cBhvr>
                                        <p:cTn id="98" dur="1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84" y="9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100"/>
                            </p:stCondLst>
                            <p:childTnLst>
                              <p:par>
                                <p:cTn id="10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 animBg="1"/>
      <p:bldP spid="27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75" grpId="0" animBg="1"/>
      <p:bldP spid="7" grpId="0" animBg="1"/>
      <p:bldP spid="7" grpId="1" animBg="1"/>
      <p:bldP spid="10" grpId="0" animBg="1"/>
      <p:bldP spid="10" grpId="1" animBg="1"/>
      <p:bldP spid="59" grpId="0" animBg="1"/>
      <p:bldP spid="81" grpId="0" animBg="1"/>
      <p:bldP spid="82" grpId="0" animBg="1"/>
      <p:bldP spid="83" grpId="0" animBg="1"/>
      <p:bldP spid="28" grpId="0" animBg="1"/>
      <p:bldP spid="28" grpId="1" animBg="1"/>
      <p:bldP spid="74" grpId="0" animBg="1"/>
      <p:bldP spid="74" grpId="1" animBg="1"/>
      <p:bldP spid="8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3E02C-B425-BD0E-7549-13340DF88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A597C-F527-A465-6E35-6081D590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Addressing LLBPs Inefficiency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6E6B0-6C05-8BAA-E436-585CED405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600" noProof="0" dirty="0"/>
              <a:t>Key Problems:</a:t>
            </a:r>
          </a:p>
          <a:p>
            <a:pPr marL="342900" indent="-342900">
              <a:lnSpc>
                <a:spcPct val="100000"/>
              </a:lnSpc>
              <a:buClr>
                <a:schemeClr val="accent1">
                  <a:lumMod val="50000"/>
                </a:schemeClr>
              </a:buClr>
              <a:buAutoNum type="arabicPeriod"/>
            </a:pPr>
            <a:r>
              <a:rPr lang="en-GB" sz="1400" dirty="0"/>
              <a:t>Skewed pattern set utilization</a:t>
            </a:r>
          </a:p>
          <a:p>
            <a:pPr marL="342900" indent="-342900">
              <a:lnSpc>
                <a:spcPct val="100000"/>
              </a:lnSpc>
              <a:buClr>
                <a:schemeClr val="accent1">
                  <a:lumMod val="50000"/>
                </a:schemeClr>
              </a:buClr>
              <a:buAutoNum type="arabicPeriod"/>
            </a:pPr>
            <a:r>
              <a:rPr lang="en-GB" sz="1400" noProof="0" dirty="0"/>
              <a:t>Pattern duplication due to contextualization</a:t>
            </a:r>
            <a:endParaRPr lang="en-GB" sz="1600" noProof="0" dirty="0"/>
          </a:p>
          <a:p>
            <a:pPr marL="0" indent="0">
              <a:spcBef>
                <a:spcPts val="1200"/>
              </a:spcBef>
              <a:buNone/>
            </a:pPr>
            <a:r>
              <a:rPr lang="en-GB" noProof="0" dirty="0"/>
              <a:t>Naïve Approach: Change LLBP organization</a:t>
            </a:r>
          </a:p>
          <a:p>
            <a:pPr marL="266700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E.g., multiple types of pattern sets, chaining if overflow,…</a:t>
            </a:r>
          </a:p>
          <a:p>
            <a:pPr marL="266700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However:</a:t>
            </a:r>
          </a:p>
          <a:p>
            <a:pPr marL="450850" lvl="2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dk1"/>
                </a:solidFill>
              </a:rPr>
              <a:t>Implementation challenges</a:t>
            </a:r>
            <a:r>
              <a:rPr lang="en-GB" dirty="0">
                <a:solidFill>
                  <a:schemeClr val="dk1"/>
                </a:solidFill>
              </a:rPr>
              <a:t>, multiple LLBP lookups, or higher bandwidth </a:t>
            </a:r>
          </a:p>
          <a:p>
            <a:pPr marL="450850" lvl="2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dk1"/>
                </a:solidFill>
              </a:rPr>
              <a:t>Doesn‘t solve </a:t>
            </a:r>
            <a:r>
              <a:rPr lang="en-GB" dirty="0">
                <a:solidFill>
                  <a:schemeClr val="dk1"/>
                </a:solidFill>
              </a:rPr>
              <a:t>pattern </a:t>
            </a:r>
            <a:r>
              <a:rPr lang="en-GB" b="1" dirty="0">
                <a:solidFill>
                  <a:schemeClr val="dk1"/>
                </a:solidFill>
              </a:rPr>
              <a:t>duplication</a:t>
            </a:r>
            <a:endParaRPr lang="en-GB" dirty="0">
              <a:solidFill>
                <a:schemeClr val="dk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E4FBD-7394-1D03-7267-85268632A4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14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82E17-66C5-B281-F4D2-A409F9ACCA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 dirty="0"/>
              <a:t>HPCA'26: The Last-Level Branch Predictor Revisited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7EF457-EBD2-9EF6-7A3F-059B8A18057D}"/>
              </a:ext>
            </a:extLst>
          </p:cNvPr>
          <p:cNvSpPr txBox="1">
            <a:spLocks/>
          </p:cNvSpPr>
          <p:nvPr/>
        </p:nvSpPr>
        <p:spPr>
          <a:xfrm>
            <a:off x="1929225" y="3467677"/>
            <a:ext cx="5280264" cy="914400"/>
          </a:xfrm>
          <a:prstGeom prst="rect">
            <a:avLst/>
          </a:prstGeom>
          <a:solidFill>
            <a:srgbClr val="0072BD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ndara"/>
              <a:buNone/>
              <a:defRPr sz="1800" b="0" i="0" u="none" strike="noStrike" cap="none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r>
              <a:rPr lang="en-GB" sz="2000" b="1" noProof="0" dirty="0">
                <a:solidFill>
                  <a:schemeClr val="bg1"/>
                </a:solidFill>
              </a:rPr>
              <a:t>How </a:t>
            </a:r>
            <a:r>
              <a:rPr lang="en-GB" sz="2000" b="1" dirty="0">
                <a:solidFill>
                  <a:schemeClr val="bg1"/>
                </a:solidFill>
              </a:rPr>
              <a:t>c</a:t>
            </a:r>
            <a:r>
              <a:rPr lang="en-GB" sz="2000" b="1" noProof="0" dirty="0">
                <a:solidFill>
                  <a:schemeClr val="bg1"/>
                </a:solidFill>
              </a:rPr>
              <a:t>an we overcome both limitations without changing the </a:t>
            </a:r>
            <a:r>
              <a:rPr lang="en-GB" sz="2000" b="1" dirty="0">
                <a:solidFill>
                  <a:schemeClr val="bg1"/>
                </a:solidFill>
              </a:rPr>
              <a:t>pattern set</a:t>
            </a:r>
            <a:r>
              <a:rPr lang="en-GB" sz="2000" b="1" noProof="0" dirty="0">
                <a:solidFill>
                  <a:schemeClr val="bg1"/>
                </a:solidFill>
              </a:rPr>
              <a:t> organization?</a:t>
            </a:r>
          </a:p>
        </p:txBody>
      </p:sp>
    </p:spTree>
    <p:extLst>
      <p:ext uri="{BB962C8B-B14F-4D97-AF65-F5344CB8AC3E}">
        <p14:creationId xmlns:p14="http://schemas.microsoft.com/office/powerpoint/2010/main" val="383666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781B9-876B-1865-177D-141C86919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DC32C-F326-595B-9E6B-7ADE280A4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460" y="802475"/>
            <a:ext cx="8641080" cy="2948455"/>
          </a:xfrm>
        </p:spPr>
        <p:txBody>
          <a:bodyPr/>
          <a:lstStyle/>
          <a:p>
            <a:pPr marL="0" indent="0">
              <a:buNone/>
            </a:pPr>
            <a:r>
              <a:rPr lang="en-GB" sz="1600" noProof="0" dirty="0"/>
              <a:t>Key Problems:</a:t>
            </a:r>
          </a:p>
          <a:p>
            <a:pPr marL="342900" indent="-342900">
              <a:lnSpc>
                <a:spcPct val="100000"/>
              </a:lnSpc>
              <a:buClr>
                <a:schemeClr val="accent1">
                  <a:lumMod val="50000"/>
                </a:schemeClr>
              </a:buClr>
              <a:buFont typeface="Candara"/>
              <a:buAutoNum type="arabicPeriod"/>
            </a:pPr>
            <a:r>
              <a:rPr lang="en-GB" sz="1400" dirty="0"/>
              <a:t>Skewed pattern set utilization</a:t>
            </a:r>
          </a:p>
          <a:p>
            <a:pPr marL="342900" indent="-342900">
              <a:lnSpc>
                <a:spcPct val="100000"/>
              </a:lnSpc>
              <a:buClr>
                <a:schemeClr val="accent1">
                  <a:lumMod val="50000"/>
                </a:schemeClr>
              </a:buClr>
              <a:buFont typeface="Candara"/>
              <a:buAutoNum type="arabicPeriod"/>
            </a:pPr>
            <a:r>
              <a:rPr lang="en-GB" sz="1400" dirty="0"/>
              <a:t>Pattern duplication due to contextualization</a:t>
            </a:r>
            <a:endParaRPr lang="en-GB" sz="1600" noProof="0" dirty="0"/>
          </a:p>
          <a:p>
            <a:pPr marL="0" indent="0">
              <a:spcBef>
                <a:spcPts val="1200"/>
              </a:spcBef>
              <a:buNone/>
            </a:pPr>
            <a:r>
              <a:rPr lang="en-GB" noProof="0" dirty="0"/>
              <a:t>Our Idea: Dynamic context depth</a:t>
            </a:r>
          </a:p>
          <a:p>
            <a:pPr marL="266700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Use shallow context depth by default</a:t>
            </a:r>
          </a:p>
          <a:p>
            <a:pPr marL="539750" lvl="1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b="1" dirty="0"/>
              <a:t>Coarse-grained</a:t>
            </a:r>
            <a:r>
              <a:rPr lang="en-GB" sz="1400" dirty="0"/>
              <a:t> contextualization</a:t>
            </a:r>
          </a:p>
          <a:p>
            <a:pPr marL="539750" lvl="1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b="1" dirty="0"/>
              <a:t>Increase utilization</a:t>
            </a:r>
            <a:r>
              <a:rPr lang="en-GB" sz="1400" dirty="0"/>
              <a:t> of underutilized sets</a:t>
            </a:r>
          </a:p>
          <a:p>
            <a:pPr marL="539750" lvl="1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b="1" dirty="0"/>
              <a:t>Reduces</a:t>
            </a:r>
            <a:r>
              <a:rPr lang="en-GB" sz="1400" dirty="0"/>
              <a:t> pattern </a:t>
            </a:r>
            <a:r>
              <a:rPr lang="en-GB" sz="1400" b="1" dirty="0"/>
              <a:t>duplication</a:t>
            </a:r>
            <a:endParaRPr lang="en-GB" sz="1400" dirty="0"/>
          </a:p>
          <a:p>
            <a:pPr marL="266700" indent="-176213" defTabSz="534988">
              <a:lnSpc>
                <a:spcPct val="100000"/>
              </a:lnSpc>
              <a:spcBef>
                <a:spcPts val="400"/>
              </a:spcBef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Increase depth when pattern set becomes full</a:t>
            </a:r>
          </a:p>
          <a:p>
            <a:pPr marL="539750" lvl="1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b="1" dirty="0"/>
              <a:t>Fine-grained </a:t>
            </a:r>
            <a:r>
              <a:rPr lang="en-GB" sz="1400" dirty="0"/>
              <a:t>contextualization</a:t>
            </a:r>
          </a:p>
          <a:p>
            <a:pPr marL="539750" lvl="1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b="1" dirty="0"/>
              <a:t>Splits overutilized pattern sets </a:t>
            </a:r>
            <a:r>
              <a:rPr lang="en-GB" sz="1400" dirty="0"/>
              <a:t>into multiple sets</a:t>
            </a:r>
          </a:p>
          <a:p>
            <a:pPr marL="90487" indent="0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None/>
            </a:pPr>
            <a:endParaRPr lang="en-GB" sz="1600" dirty="0"/>
          </a:p>
          <a:p>
            <a:pPr marL="0" indent="0">
              <a:buNone/>
            </a:pPr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0B4CF-D779-890A-E097-6C0446F5E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Addressing LLBPs Inefficiency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D574C-0917-2406-2A7B-AC21F8E97E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15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96233-94E6-A12E-B1EE-70517E2D50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/>
              <a:t>HPCA'26: The Last-Level Branch Predictor Revisited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ECE88C-839F-B538-7224-93C49C3F9E54}"/>
              </a:ext>
            </a:extLst>
          </p:cNvPr>
          <p:cNvSpPr/>
          <p:nvPr/>
        </p:nvSpPr>
        <p:spPr bwMode="auto">
          <a:xfrm>
            <a:off x="7464873" y="2842014"/>
            <a:ext cx="333375" cy="265364"/>
          </a:xfrm>
          <a:prstGeom prst="rect">
            <a:avLst/>
          </a:prstGeom>
          <a:solidFill>
            <a:srgbClr val="C00000"/>
          </a:solidFill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0" i="0" u="none" strike="noStrike" cap="none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br</a:t>
            </a:r>
            <a:endParaRPr kumimoji="0" lang="en-GB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ＭＳ Ｐゴシック" charset="0"/>
            </a:endParaRP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2AB3EAB5-1512-635B-8EFF-24BC98776EB8}"/>
              </a:ext>
            </a:extLst>
          </p:cNvPr>
          <p:cNvCxnSpPr>
            <a:cxnSpLocks/>
            <a:endCxn id="7" idx="0"/>
          </p:cNvCxnSpPr>
          <p:nvPr/>
        </p:nvCxnSpPr>
        <p:spPr bwMode="auto">
          <a:xfrm rot="5400000">
            <a:off x="7521298" y="2731749"/>
            <a:ext cx="220529" cy="1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0F1B739-A255-B9B8-79DC-C070C3AE2888}"/>
              </a:ext>
            </a:extLst>
          </p:cNvPr>
          <p:cNvCxnSpPr>
            <a:cxnSpLocks/>
            <a:stCxn id="10" idx="2"/>
            <a:endCxn id="15" idx="3"/>
          </p:cNvCxnSpPr>
          <p:nvPr/>
        </p:nvCxnSpPr>
        <p:spPr bwMode="auto">
          <a:xfrm rot="5400000">
            <a:off x="8046175" y="1286123"/>
            <a:ext cx="431483" cy="814138"/>
          </a:xfrm>
          <a:prstGeom prst="curved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45DC3C1-00AF-6337-1A1B-1B1F64E0FF83}"/>
              </a:ext>
            </a:extLst>
          </p:cNvPr>
          <p:cNvSpPr/>
          <p:nvPr/>
        </p:nvSpPr>
        <p:spPr bwMode="auto">
          <a:xfrm>
            <a:off x="8445429" y="1161384"/>
            <a:ext cx="447111" cy="316067"/>
          </a:xfrm>
          <a:prstGeom prst="rect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fnD</a:t>
            </a:r>
            <a:endParaRPr lang="en-GB" sz="1800" noProof="0">
              <a:latin typeface="Times" charset="0"/>
              <a:ea typeface="ＭＳ Ｐゴシック" charset="0"/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3455AA32-3F90-BED3-EFE3-EAEBAA7EFE63}"/>
              </a:ext>
            </a:extLst>
          </p:cNvPr>
          <p:cNvCxnSpPr>
            <a:cxnSpLocks/>
            <a:stCxn id="15" idx="3"/>
            <a:endCxn id="17" idx="3"/>
          </p:cNvCxnSpPr>
          <p:nvPr/>
        </p:nvCxnSpPr>
        <p:spPr bwMode="auto">
          <a:xfrm>
            <a:off x="7854847" y="1908934"/>
            <a:ext cx="12700" cy="560919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70D4A7A2-2166-3C59-0484-7241A2297A68}"/>
              </a:ext>
            </a:extLst>
          </p:cNvPr>
          <p:cNvCxnSpPr>
            <a:cxnSpLocks/>
            <a:stCxn id="13" idx="3"/>
            <a:endCxn id="15" idx="3"/>
          </p:cNvCxnSpPr>
          <p:nvPr/>
        </p:nvCxnSpPr>
        <p:spPr bwMode="auto">
          <a:xfrm>
            <a:off x="7854847" y="1358149"/>
            <a:ext cx="12700" cy="550785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150456-8111-D765-34E0-12B6C3F288E1}"/>
              </a:ext>
            </a:extLst>
          </p:cNvPr>
          <p:cNvSpPr/>
          <p:nvPr/>
        </p:nvSpPr>
        <p:spPr bwMode="auto">
          <a:xfrm>
            <a:off x="7407896" y="1206517"/>
            <a:ext cx="446951" cy="30326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fnA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769DDF-AAF2-480A-9C0E-0619982C1A94}"/>
              </a:ext>
            </a:extLst>
          </p:cNvPr>
          <p:cNvSpPr/>
          <p:nvPr/>
        </p:nvSpPr>
        <p:spPr bwMode="auto">
          <a:xfrm>
            <a:off x="7407896" y="1757302"/>
            <a:ext cx="446951" cy="303263"/>
          </a:xfrm>
          <a:prstGeom prst="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fnB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367F52-90F7-CFD7-2649-B2CE0BDAB100}"/>
              </a:ext>
            </a:extLst>
          </p:cNvPr>
          <p:cNvSpPr/>
          <p:nvPr/>
        </p:nvSpPr>
        <p:spPr bwMode="auto">
          <a:xfrm>
            <a:off x="6761201" y="1512956"/>
            <a:ext cx="638189" cy="3032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latin typeface="Times" charset="0"/>
                <a:ea typeface="ＭＳ Ｐゴシック" charset="0"/>
              </a:rPr>
              <a:t>B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66589D-4FDE-8B36-7130-27D9C3AD82B4}"/>
              </a:ext>
            </a:extLst>
          </p:cNvPr>
          <p:cNvSpPr/>
          <p:nvPr/>
        </p:nvSpPr>
        <p:spPr bwMode="auto">
          <a:xfrm>
            <a:off x="7407896" y="2318221"/>
            <a:ext cx="446951" cy="30326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latin typeface="Times" charset="0"/>
                <a:ea typeface="ＭＳ Ｐゴシック" charset="0"/>
              </a:rPr>
              <a:t>fnC</a:t>
            </a:r>
            <a:endParaRPr lang="en-GB" sz="1600" noProof="0">
              <a:latin typeface="Times" charset="0"/>
              <a:ea typeface="ＭＳ Ｐゴシック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0017EA-4348-2257-84EB-E0AF785D9F62}"/>
              </a:ext>
            </a:extLst>
          </p:cNvPr>
          <p:cNvSpPr/>
          <p:nvPr/>
        </p:nvSpPr>
        <p:spPr bwMode="auto">
          <a:xfrm>
            <a:off x="6791747" y="2001878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149E0038-B504-4F67-B88B-8FEBB1ABC3C0}"/>
              </a:ext>
            </a:extLst>
          </p:cNvPr>
          <p:cNvCxnSpPr>
            <a:cxnSpLocks/>
            <a:stCxn id="17" idx="2"/>
          </p:cNvCxnSpPr>
          <p:nvPr/>
        </p:nvCxnSpPr>
        <p:spPr bwMode="auto">
          <a:xfrm rot="16200000" flipH="1">
            <a:off x="7521201" y="2731654"/>
            <a:ext cx="220530" cy="189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15DA05F-7491-3A31-48CB-C7794AFE6152}"/>
              </a:ext>
            </a:extLst>
          </p:cNvPr>
          <p:cNvGrpSpPr/>
          <p:nvPr/>
        </p:nvGrpSpPr>
        <p:grpSpPr>
          <a:xfrm>
            <a:off x="4849980" y="3864020"/>
            <a:ext cx="1646074" cy="433341"/>
            <a:chOff x="2450183" y="3914553"/>
            <a:chExt cx="1646074" cy="433341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F959F43-F9DD-704F-3BF4-D786C77761C1}"/>
                </a:ext>
              </a:extLst>
            </p:cNvPr>
            <p:cNvSpPr/>
            <p:nvPr/>
          </p:nvSpPr>
          <p:spPr bwMode="auto">
            <a:xfrm>
              <a:off x="2450183" y="3914553"/>
              <a:ext cx="1646074" cy="433341"/>
            </a:xfrm>
            <a:prstGeom prst="rect">
              <a:avLst/>
            </a:prstGeom>
            <a:gradFill>
              <a:gsLst>
                <a:gs pos="4000">
                  <a:schemeClr val="accent1">
                    <a:lumMod val="75000"/>
                  </a:schemeClr>
                </a:gs>
                <a:gs pos="57760">
                  <a:srgbClr val="92D050"/>
                </a:gs>
                <a:gs pos="100000">
                  <a:schemeClr val="accent4"/>
                </a:gs>
              </a:gsLst>
              <a:lin ang="0" scaled="0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0" tIns="108000" rIns="0" bIns="756000" numCol="1" rtlCol="0" anchor="t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B6D72EB-671C-5D04-5932-49946F70BB90}"/>
                </a:ext>
              </a:extLst>
            </p:cNvPr>
            <p:cNvSpPr txBox="1"/>
            <p:nvPr/>
          </p:nvSpPr>
          <p:spPr>
            <a:xfrm>
              <a:off x="3034322" y="3946724"/>
              <a:ext cx="477795" cy="2154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spAutoFit/>
            </a:bodyPr>
            <a:lstStyle/>
            <a:p>
              <a:r>
                <a:rPr lang="en-GB" noProof="0"/>
                <a:t>ABC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31317E-36F9-4132-D49D-3A47214AD423}"/>
              </a:ext>
            </a:extLst>
          </p:cNvPr>
          <p:cNvGrpSpPr/>
          <p:nvPr/>
        </p:nvGrpSpPr>
        <p:grpSpPr>
          <a:xfrm>
            <a:off x="6799355" y="3866935"/>
            <a:ext cx="1646074" cy="439575"/>
            <a:chOff x="4979234" y="3908319"/>
            <a:chExt cx="1646074" cy="43957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8B51942-1264-99B5-4AE6-2596CE8B9CF2}"/>
                </a:ext>
              </a:extLst>
            </p:cNvPr>
            <p:cNvSpPr/>
            <p:nvPr/>
          </p:nvSpPr>
          <p:spPr bwMode="auto">
            <a:xfrm>
              <a:off x="4979234" y="3908319"/>
              <a:ext cx="1646074" cy="439575"/>
            </a:xfrm>
            <a:prstGeom prst="rect">
              <a:avLst/>
            </a:prstGeom>
            <a:gradFill>
              <a:gsLst>
                <a:gs pos="4000">
                  <a:srgbClr val="7030A0"/>
                </a:gs>
                <a:gs pos="57760">
                  <a:srgbClr val="92D050"/>
                </a:gs>
                <a:gs pos="100000">
                  <a:schemeClr val="accent4"/>
                </a:gs>
              </a:gsLst>
              <a:lin ang="0" scaled="0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0" tIns="108000" rIns="0" bIns="756000" numCol="1" rtlCol="0" anchor="t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43B24E0-8A4C-C18B-F2F7-4EF47F9B5E25}"/>
                </a:ext>
              </a:extLst>
            </p:cNvPr>
            <p:cNvSpPr txBox="1"/>
            <p:nvPr/>
          </p:nvSpPr>
          <p:spPr>
            <a:xfrm>
              <a:off x="5537573" y="3946724"/>
              <a:ext cx="477795" cy="2154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spAutoFit/>
            </a:bodyPr>
            <a:lstStyle/>
            <a:p>
              <a:r>
                <a:rPr lang="en-GB" noProof="0"/>
                <a:t>DBC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EA0E7D1-066C-3CAA-F9C3-408B50B2238A}"/>
              </a:ext>
            </a:extLst>
          </p:cNvPr>
          <p:cNvGrpSpPr/>
          <p:nvPr/>
        </p:nvGrpSpPr>
        <p:grpSpPr>
          <a:xfrm>
            <a:off x="5824668" y="3855915"/>
            <a:ext cx="1646074" cy="433341"/>
            <a:chOff x="3714709" y="3905404"/>
            <a:chExt cx="1646074" cy="43334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8C0DC1A-CD47-EB0C-8CE2-BBC9BC846F05}"/>
                </a:ext>
              </a:extLst>
            </p:cNvPr>
            <p:cNvSpPr/>
            <p:nvPr/>
          </p:nvSpPr>
          <p:spPr bwMode="auto">
            <a:xfrm>
              <a:off x="3714709" y="3905404"/>
              <a:ext cx="1646074" cy="433341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0" tIns="108000" rIns="0" bIns="756000" numCol="1" rtlCol="0" anchor="t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B5A8F7E-A3BF-952C-22D0-E41028599CB4}"/>
                </a:ext>
              </a:extLst>
            </p:cNvPr>
            <p:cNvSpPr txBox="1"/>
            <p:nvPr/>
          </p:nvSpPr>
          <p:spPr>
            <a:xfrm>
              <a:off x="4298848" y="3937575"/>
              <a:ext cx="477795" cy="2154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ctr" anchorCtr="1">
              <a:spAutoFit/>
            </a:bodyPr>
            <a:lstStyle/>
            <a:p>
              <a:r>
                <a:rPr lang="en-GB" noProof="0"/>
                <a:t>C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439C2086-4A17-0659-8DB3-690C0F360E4C}"/>
              </a:ext>
            </a:extLst>
          </p:cNvPr>
          <p:cNvSpPr/>
          <p:nvPr/>
        </p:nvSpPr>
        <p:spPr bwMode="auto">
          <a:xfrm>
            <a:off x="6761201" y="911478"/>
            <a:ext cx="638189" cy="3651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1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Call</a:t>
            </a:r>
            <a:r>
              <a:rPr lang="en-GB" sz="1600" baseline="-30000" noProof="0" err="1">
                <a:solidFill>
                  <a:schemeClr val="tx1"/>
                </a:solidFill>
                <a:latin typeface="Times" charset="0"/>
                <a:ea typeface="ＭＳ Ｐゴシック" charset="0"/>
              </a:rPr>
              <a:t>A</a:t>
            </a:r>
            <a:endParaRPr lang="en-GB" sz="1600" baseline="-30000" noProof="0">
              <a:solidFill>
                <a:schemeClr val="tx1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A555ED2-B4AB-5709-2A44-435CF321B489}"/>
              </a:ext>
            </a:extLst>
          </p:cNvPr>
          <p:cNvSpPr/>
          <p:nvPr/>
        </p:nvSpPr>
        <p:spPr>
          <a:xfrm>
            <a:off x="6708774" y="935971"/>
            <a:ext cx="2242644" cy="1226037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DEFC20-D407-4CAF-06F9-BDAA8AA39B55}"/>
              </a:ext>
            </a:extLst>
          </p:cNvPr>
          <p:cNvSpPr/>
          <p:nvPr/>
        </p:nvSpPr>
        <p:spPr bwMode="auto">
          <a:xfrm>
            <a:off x="6217450" y="4092140"/>
            <a:ext cx="333375" cy="20044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0101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402BF3-8DE2-D13A-61A5-AFF711737F2F}"/>
              </a:ext>
            </a:extLst>
          </p:cNvPr>
          <p:cNvSpPr/>
          <p:nvPr/>
        </p:nvSpPr>
        <p:spPr bwMode="auto">
          <a:xfrm>
            <a:off x="6830728" y="4092140"/>
            <a:ext cx="333375" cy="20044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11</a:t>
            </a:r>
            <a:r>
              <a:rPr kumimoji="0" lang="en-GB" sz="10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3C9FC4-1CCA-CD94-DFBB-11B06AD50CA2}"/>
              </a:ext>
            </a:extLst>
          </p:cNvPr>
          <p:cNvSpPr/>
          <p:nvPr/>
        </p:nvSpPr>
        <p:spPr bwMode="auto">
          <a:xfrm>
            <a:off x="6929769" y="3866321"/>
            <a:ext cx="333375" cy="20044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0011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F0948A-4ADF-EE79-07F1-28E1616A09BF}"/>
              </a:ext>
            </a:extLst>
          </p:cNvPr>
          <p:cNvSpPr/>
          <p:nvPr/>
        </p:nvSpPr>
        <p:spPr bwMode="auto">
          <a:xfrm>
            <a:off x="6998942" y="2853430"/>
            <a:ext cx="333375" cy="20044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0001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863274-B5DF-0101-8DF1-2E256B8A4AD1}"/>
              </a:ext>
            </a:extLst>
          </p:cNvPr>
          <p:cNvSpPr/>
          <p:nvPr/>
        </p:nvSpPr>
        <p:spPr bwMode="auto">
          <a:xfrm>
            <a:off x="7028381" y="2871886"/>
            <a:ext cx="333375" cy="20044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0101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9D50CA-10CF-CB31-7363-0D1DB760B6D1}"/>
              </a:ext>
            </a:extLst>
          </p:cNvPr>
          <p:cNvSpPr/>
          <p:nvPr/>
        </p:nvSpPr>
        <p:spPr bwMode="auto">
          <a:xfrm>
            <a:off x="7093744" y="3005830"/>
            <a:ext cx="390973" cy="200442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dirty="0">
                <a:solidFill>
                  <a:schemeClr val="tx1"/>
                </a:solidFill>
                <a:latin typeface="Consolas" panose="020B0609020204030204" pitchFamily="49" charset="0"/>
                <a:ea typeface="ＭＳ Ｐゴシック" charset="0"/>
              </a:rPr>
              <a:t>10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ＭＳ Ｐゴシック" charset="0"/>
              </a:rPr>
              <a:t>011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1DD1951D-F36A-56B1-ED41-26BD1B86205D}"/>
              </a:ext>
            </a:extLst>
          </p:cNvPr>
          <p:cNvSpPr txBox="1">
            <a:spLocks/>
          </p:cNvSpPr>
          <p:nvPr/>
        </p:nvSpPr>
        <p:spPr>
          <a:xfrm>
            <a:off x="251460" y="4419600"/>
            <a:ext cx="8641080" cy="49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ndara"/>
              <a:buNone/>
              <a:defRPr sz="1800" b="0" i="0" u="none" strike="noStrike" cap="none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r>
              <a:rPr lang="en-GB" sz="2000" noProof="0" dirty="0"/>
              <a:t>One solution to overcome both limitations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296222-630F-6D0F-B969-055AC79C5A8F}"/>
              </a:ext>
            </a:extLst>
          </p:cNvPr>
          <p:cNvSpPr/>
          <p:nvPr/>
        </p:nvSpPr>
        <p:spPr bwMode="auto">
          <a:xfrm>
            <a:off x="5555058" y="2251558"/>
            <a:ext cx="1175598" cy="200443"/>
          </a:xfrm>
          <a:prstGeom prst="rect">
            <a:avLst/>
          </a:prstGeom>
          <a:ln w="19050">
            <a:noFill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Context Depth (</a:t>
            </a:r>
            <a:r>
              <a:rPr lang="en-GB" sz="1200" b="1" dirty="0">
                <a:solidFill>
                  <a:srgbClr val="7030A0"/>
                </a:solidFill>
                <a:latin typeface="Times" charset="0"/>
                <a:ea typeface="ＭＳ Ｐゴシック" charset="0"/>
              </a:rPr>
              <a:t>1</a:t>
            </a:r>
            <a:r>
              <a:rPr kumimoji="0" lang="en-GB" sz="1200" b="1" i="0" u="none" strike="noStrike" cap="none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latin typeface="Times" charset="0"/>
                <a:ea typeface="ＭＳ Ｐゴシック" charset="0"/>
              </a:rPr>
              <a:t> UB</a:t>
            </a:r>
            <a:r>
              <a:rPr kumimoji="0" lang="en-GB" sz="12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)</a:t>
            </a:r>
            <a:endParaRPr kumimoji="0" lang="en-GB" sz="180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2D203B2-5EC8-99F9-48D9-AF9BE4DB531C}"/>
              </a:ext>
            </a:extLst>
          </p:cNvPr>
          <p:cNvCxnSpPr>
            <a:cxnSpLocks/>
          </p:cNvCxnSpPr>
          <p:nvPr/>
        </p:nvCxnSpPr>
        <p:spPr>
          <a:xfrm flipV="1">
            <a:off x="6761201" y="2318221"/>
            <a:ext cx="0" cy="451407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6645791-05DB-A2E8-5164-2F2054E9FD5F}"/>
              </a:ext>
            </a:extLst>
          </p:cNvPr>
          <p:cNvSpPr/>
          <p:nvPr/>
        </p:nvSpPr>
        <p:spPr bwMode="auto">
          <a:xfrm>
            <a:off x="5561408" y="2251558"/>
            <a:ext cx="1175598" cy="200443"/>
          </a:xfrm>
          <a:prstGeom prst="rect">
            <a:avLst/>
          </a:prstGeom>
          <a:ln w="19050">
            <a:noFill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Context Depth (</a:t>
            </a:r>
            <a:r>
              <a:rPr lang="en-GB" sz="1200" b="1" noProof="0" dirty="0">
                <a:solidFill>
                  <a:srgbClr val="7030A0"/>
                </a:solidFill>
                <a:latin typeface="Times" charset="0"/>
                <a:ea typeface="ＭＳ Ｐゴシック" charset="0"/>
              </a:rPr>
              <a:t>3</a:t>
            </a:r>
            <a:r>
              <a:rPr kumimoji="0" lang="en-GB" sz="1200" b="1" i="0" u="none" strike="noStrike" cap="none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latin typeface="Times" charset="0"/>
                <a:ea typeface="ＭＳ Ｐゴシック" charset="0"/>
              </a:rPr>
              <a:t> UBs</a:t>
            </a:r>
            <a:r>
              <a:rPr kumimoji="0" lang="en-GB" sz="12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rPr>
              <a:t>)</a:t>
            </a:r>
            <a:endParaRPr kumimoji="0" lang="en-GB" sz="180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9CB8F9E-A13E-9F39-21EF-188D593EB1CD}"/>
              </a:ext>
            </a:extLst>
          </p:cNvPr>
          <p:cNvCxnSpPr>
            <a:cxnSpLocks/>
          </p:cNvCxnSpPr>
          <p:nvPr/>
        </p:nvCxnSpPr>
        <p:spPr>
          <a:xfrm flipV="1">
            <a:off x="6767551" y="1088823"/>
            <a:ext cx="0" cy="1680805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Tick with solid fill">
            <a:extLst>
              <a:ext uri="{FF2B5EF4-FFF2-40B4-BE49-F238E27FC236}">
                <a16:creationId xmlns:a16="http://schemas.microsoft.com/office/drawing/2014/main" id="{5E2F2C56-7023-252C-2474-49D363B53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0231" y="1334039"/>
            <a:ext cx="286822" cy="286822"/>
          </a:xfrm>
          <a:prstGeom prst="rect">
            <a:avLst/>
          </a:prstGeom>
        </p:spPr>
      </p:pic>
      <p:pic>
        <p:nvPicPr>
          <p:cNvPr id="51" name="Graphic 50" descr="Tick with solid fill">
            <a:extLst>
              <a:ext uri="{FF2B5EF4-FFF2-40B4-BE49-F238E27FC236}">
                <a16:creationId xmlns:a16="http://schemas.microsoft.com/office/drawing/2014/main" id="{254C8E2A-8ABC-E87B-C70A-E6631B3B7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0496" y="1094773"/>
            <a:ext cx="286822" cy="28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3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1.35802E-6 L -0.04271 0.04352 C -0.05139 0.05185 -0.06302 0.07006 -0.07326 0.08951 C -0.08628 0.1108 -0.09479 0.13056 -0.09896 0.14722 L -0.12048 0.22222 " pathEditMode="relative" rAng="18840000" ptsTypes="AAAAA">
                                      <p:cBhvr>
                                        <p:cTn id="33" dur="1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84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6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37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2.22222E-6 L -0.06528 0.04166 C -0.07865 0.04907 -0.09862 0.06697 -0.11806 0.08457 C -0.14167 0.10555 -0.15851 0.12469 -0.16997 0.14012 L -0.22327 0.21296 " pathEditMode="relative" rAng="19920000" ptsTypes="AAAAA">
                                      <p:cBhvr>
                                        <p:cTn id="108" dur="1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76" y="95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1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28 -0.02592 L 0.02031 0.02315 C 0.02691 0.03118 0.03698 0.05 0.0467 0.06976 C 0.05747 0.09074 0.0658 0.10988 0.06979 0.12408 L 0.0915 0.1926 " pathEditMode="relative" rAng="2940000" ptsTypes="AAAAA">
                                      <p:cBhvr>
                                        <p:cTn id="114" dur="1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102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23" grpId="0" animBg="1"/>
      <p:bldP spid="23" grpId="1" animBg="1"/>
      <p:bldP spid="25" grpId="0" animBg="1"/>
      <p:bldP spid="25" grpId="1" animBg="1"/>
      <p:bldP spid="26" grpId="0" animBg="1"/>
      <p:bldP spid="26" grpId="1" animBg="1"/>
      <p:bldP spid="40" grpId="0" animBg="1"/>
      <p:bldP spid="40" grpId="1" animBg="1"/>
      <p:bldP spid="40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9" grpId="0"/>
      <p:bldP spid="32" grpId="0" animBg="1"/>
      <p:bldP spid="32" grpId="1" animBg="1"/>
      <p:bldP spid="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1F06B528-7890-C468-63DC-61DE1001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E8D329B5-F764-DBF7-0D59-CF4B1E85E4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771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LLBP-X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F31C9720-7590-A5EA-B5BC-4C9BA1E378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7522" y="849600"/>
            <a:ext cx="4673510" cy="3697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 dirty="0"/>
              <a:t>Dynamic context depth adoption</a:t>
            </a:r>
            <a:endParaRPr lang="en-GB" sz="1600" noProof="0" dirty="0"/>
          </a:p>
          <a:p>
            <a:pPr marL="266700" lvl="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b="1" noProof="0" dirty="0"/>
              <a:t>Context tracking table (CTT) </a:t>
            </a:r>
            <a:r>
              <a:rPr lang="en-GB" sz="1400" noProof="0" dirty="0"/>
              <a:t>monitors highly contended pattern sets</a:t>
            </a:r>
            <a:endParaRPr lang="en-GB" sz="1400" u="sng" noProof="0" dirty="0"/>
          </a:p>
          <a:p>
            <a:pPr marL="266700" lvl="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noProof="0" dirty="0"/>
              <a:t>Upon exceeding a threshold, CTT switches to use a deep context </a:t>
            </a:r>
          </a:p>
          <a:p>
            <a:pPr marL="446088" lvl="1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200" noProof="0" dirty="0"/>
              <a:t>Effectively spreads patterns across more pattern sets</a:t>
            </a:r>
            <a:endParaRPr lang="en-GB" sz="1200" u="sng" noProof="0" dirty="0"/>
          </a:p>
          <a:p>
            <a:pPr marL="266700" indent="-176213" defTabSz="446088">
              <a:spcBef>
                <a:spcPts val="600"/>
              </a:spcBef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b="1" dirty="0"/>
              <a:t>NO change </a:t>
            </a:r>
            <a:r>
              <a:rPr lang="en-GB" sz="1400" dirty="0"/>
              <a:t>to LLBPs’ storage organization needed</a:t>
            </a:r>
          </a:p>
          <a:p>
            <a:pPr marL="266700" indent="-176213" defTabSz="446088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b="1" dirty="0"/>
              <a:t>Unified solution </a:t>
            </a:r>
            <a:r>
              <a:rPr lang="en-GB" sz="1400" dirty="0"/>
              <a:t>for both limitations</a:t>
            </a:r>
          </a:p>
          <a:p>
            <a:pPr marL="266700" indent="-176213" defTabSz="446088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400" dirty="0"/>
              <a:t>CTT increases LLBPs’ storage and energy by less than 2%</a:t>
            </a:r>
          </a:p>
          <a:p>
            <a:pPr marL="266700" lvl="0" indent="-176213"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endParaRPr lang="en-GB" sz="1400" noProof="0" dirty="0"/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BE602B8D-267E-C2E9-C2DD-0ECE89C3EB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16</a:t>
            </a:fld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91B07A-6406-B3DC-288A-F400DB48C58C}"/>
              </a:ext>
            </a:extLst>
          </p:cNvPr>
          <p:cNvSpPr/>
          <p:nvPr/>
        </p:nvSpPr>
        <p:spPr bwMode="auto">
          <a:xfrm>
            <a:off x="5222562" y="1303482"/>
            <a:ext cx="3345438" cy="1819732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>
            <a:solidFill>
              <a:schemeClr val="accent1">
                <a:alpha val="46000"/>
              </a:schemeClr>
            </a:solidFill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noProof="0">
                <a:solidFill>
                  <a:schemeClr val="accent5">
                    <a:lumMod val="50000"/>
                  </a:schemeClr>
                </a:solidFill>
                <a:latin typeface="Times" charset="0"/>
                <a:ea typeface="ＭＳ Ｐゴシック" charset="0"/>
              </a:rPr>
              <a:t>Core Front-end</a:t>
            </a:r>
            <a:endParaRPr kumimoji="0" lang="en-GB" b="0" i="0" u="none" strike="noStrike" cap="none" normalizeH="0" baseline="0" noProof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2857A8-CE11-E97A-6A2A-25FED52BFED4}"/>
              </a:ext>
            </a:extLst>
          </p:cNvPr>
          <p:cNvSpPr/>
          <p:nvPr/>
        </p:nvSpPr>
        <p:spPr bwMode="auto">
          <a:xfrm>
            <a:off x="6600913" y="2320304"/>
            <a:ext cx="876341" cy="179306"/>
          </a:xfrm>
          <a:prstGeom prst="rect">
            <a:avLst/>
          </a:prstGeom>
          <a:ln w="127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9E64D-6ED1-8874-CCA1-8363B368898C}"/>
              </a:ext>
            </a:extLst>
          </p:cNvPr>
          <p:cNvSpPr txBox="1"/>
          <p:nvPr/>
        </p:nvSpPr>
        <p:spPr>
          <a:xfrm>
            <a:off x="6563474" y="2002213"/>
            <a:ext cx="1197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Buffer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5D89EA2F-8D17-7A27-198D-0DF747BEABBF}"/>
              </a:ext>
            </a:extLst>
          </p:cNvPr>
          <p:cNvCxnSpPr>
            <a:cxnSpLocks/>
            <a:stCxn id="4" idx="2"/>
            <a:endCxn id="11" idx="1"/>
          </p:cNvCxnSpPr>
          <p:nvPr/>
        </p:nvCxnSpPr>
        <p:spPr bwMode="auto">
          <a:xfrm rot="16200000" flipH="1">
            <a:off x="7125426" y="2413268"/>
            <a:ext cx="289812" cy="462496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78DC72-0AEB-A4FE-8945-8A4AE4425F24}"/>
              </a:ext>
            </a:extLst>
          </p:cNvPr>
          <p:cNvSpPr txBox="1"/>
          <p:nvPr/>
        </p:nvSpPr>
        <p:spPr>
          <a:xfrm>
            <a:off x="7199211" y="3113719"/>
            <a:ext cx="940196" cy="182360"/>
          </a:xfrm>
          <a:prstGeom prst="rect">
            <a:avLst/>
          </a:prstGeom>
          <a:noFill/>
        </p:spPr>
        <p:txBody>
          <a:bodyPr wrap="none" tIns="0" rtlCol="0">
            <a:noAutofit/>
          </a:bodyPr>
          <a:lstStyle/>
          <a:p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9A5E20B-D1A3-3904-EFBB-030BAC56F27A}"/>
              </a:ext>
            </a:extLst>
          </p:cNvPr>
          <p:cNvCxnSpPr>
            <a:cxnSpLocks/>
            <a:stCxn id="15" idx="2"/>
            <a:endCxn id="11" idx="3"/>
          </p:cNvCxnSpPr>
          <p:nvPr/>
        </p:nvCxnSpPr>
        <p:spPr bwMode="auto">
          <a:xfrm rot="5400000">
            <a:off x="7733559" y="2533935"/>
            <a:ext cx="352616" cy="158358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Flowchart: Manual Operation 10">
            <a:extLst>
              <a:ext uri="{FF2B5EF4-FFF2-40B4-BE49-F238E27FC236}">
                <a16:creationId xmlns:a16="http://schemas.microsoft.com/office/drawing/2014/main" id="{42F262B1-C39A-6AE4-5C8F-ECAEECDC8A5F}"/>
              </a:ext>
            </a:extLst>
          </p:cNvPr>
          <p:cNvSpPr/>
          <p:nvPr/>
        </p:nvSpPr>
        <p:spPr bwMode="auto">
          <a:xfrm>
            <a:off x="7460442" y="2725021"/>
            <a:ext cx="411384" cy="128802"/>
          </a:xfrm>
          <a:prstGeom prst="flowChartManualOperation">
            <a:avLst/>
          </a:prstGeom>
          <a:ln w="127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07D76C1-7627-9DBA-5CD2-17045F6881E4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 bwMode="auto">
          <a:xfrm rot="16200000" flipH="1">
            <a:off x="7537773" y="2982183"/>
            <a:ext cx="259896" cy="317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" name="Google Shape;202;p24">
            <a:extLst>
              <a:ext uri="{FF2B5EF4-FFF2-40B4-BE49-F238E27FC236}">
                <a16:creationId xmlns:a16="http://schemas.microsoft.com/office/drawing/2014/main" id="{E34939E0-1616-6507-2B80-CAE2D94EB1B6}"/>
              </a:ext>
            </a:extLst>
          </p:cNvPr>
          <p:cNvSpPr/>
          <p:nvPr/>
        </p:nvSpPr>
        <p:spPr>
          <a:xfrm>
            <a:off x="5222561" y="3503736"/>
            <a:ext cx="3345439" cy="61181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0" tIns="0" rIns="324000" bIns="0" anchor="ctr" anchorCtr="0">
            <a:noAutofit/>
          </a:bodyPr>
          <a:lstStyle/>
          <a:p>
            <a:pPr algn="r"/>
            <a:r>
              <a:rPr lang="en-GB" noProof="0" dirty="0">
                <a:latin typeface="Times" panose="02020603050405020304" pitchFamily="18" charset="0"/>
                <a:cs typeface="Times" panose="02020603050405020304" pitchFamily="18" charset="0"/>
              </a:rPr>
              <a:t>LLBP     </a:t>
            </a:r>
            <a:r>
              <a:rPr lang="en-GB" sz="900" noProof="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r>
              <a:rPr lang="en-GB" noProof="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algn="r"/>
            <a:r>
              <a:rPr lang="en-GB" noProof="0" dirty="0">
                <a:latin typeface="Times" panose="02020603050405020304" pitchFamily="18" charset="0"/>
                <a:cs typeface="Times" panose="02020603050405020304" pitchFamily="18" charset="0"/>
              </a:rPr>
              <a:t>(Pattern Store)</a:t>
            </a:r>
          </a:p>
        </p:txBody>
      </p:sp>
      <p:sp>
        <p:nvSpPr>
          <p:cNvPr id="15" name="Google Shape;202;p24">
            <a:extLst>
              <a:ext uri="{FF2B5EF4-FFF2-40B4-BE49-F238E27FC236}">
                <a16:creationId xmlns:a16="http://schemas.microsoft.com/office/drawing/2014/main" id="{E985E948-1383-EA91-465A-237D43D7AB7C}"/>
              </a:ext>
            </a:extLst>
          </p:cNvPr>
          <p:cNvSpPr/>
          <p:nvPr/>
        </p:nvSpPr>
        <p:spPr>
          <a:xfrm>
            <a:off x="7653321" y="1984176"/>
            <a:ext cx="671450" cy="4526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1600" noProof="0" dirty="0">
                <a:latin typeface="Times" panose="02020603050405020304" pitchFamily="18" charset="0"/>
                <a:cs typeface="Times" panose="02020603050405020304" pitchFamily="18" charset="0"/>
              </a:rPr>
              <a:t>TAGE</a:t>
            </a:r>
          </a:p>
        </p:txBody>
      </p:sp>
      <p:sp>
        <p:nvSpPr>
          <p:cNvPr id="17" name="Google Shape;206;p24">
            <a:extLst>
              <a:ext uri="{FF2B5EF4-FFF2-40B4-BE49-F238E27FC236}">
                <a16:creationId xmlns:a16="http://schemas.microsoft.com/office/drawing/2014/main" id="{B95AF8CA-F0B0-A769-589C-080402F1A69F}"/>
              </a:ext>
            </a:extLst>
          </p:cNvPr>
          <p:cNvSpPr/>
          <p:nvPr/>
        </p:nvSpPr>
        <p:spPr>
          <a:xfrm rot="16200000">
            <a:off x="6253987" y="2905120"/>
            <a:ext cx="864724" cy="245747"/>
          </a:xfrm>
          <a:prstGeom prst="leftRightArrow">
            <a:avLst>
              <a:gd name="adj1" fmla="val 29941"/>
              <a:gd name="adj2" fmla="val 43478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A2BC893C-FD1F-D6D1-A527-E866F36586EB}"/>
              </a:ext>
            </a:extLst>
          </p:cNvPr>
          <p:cNvSpPr txBox="1">
            <a:spLocks/>
          </p:cNvSpPr>
          <p:nvPr/>
        </p:nvSpPr>
        <p:spPr>
          <a:xfrm>
            <a:off x="251460" y="4419600"/>
            <a:ext cx="8641080" cy="49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ndara"/>
              <a:buNone/>
              <a:defRPr sz="1800" b="0" i="0" u="none" strike="noStrike" cap="none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●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○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Char char="■"/>
              <a:defRPr sz="1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r>
              <a:rPr lang="en-GB" sz="2000" noProof="0" dirty="0"/>
              <a:t>LLBP-X is a simple and lightweight enhancement to LLBP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B598C0-60CB-D81A-FFB9-0434490ABAB0}"/>
              </a:ext>
            </a:extLst>
          </p:cNvPr>
          <p:cNvSpPr/>
          <p:nvPr/>
        </p:nvSpPr>
        <p:spPr bwMode="auto">
          <a:xfrm>
            <a:off x="5407111" y="2597009"/>
            <a:ext cx="855236" cy="407100"/>
          </a:xfrm>
          <a:prstGeom prst="rect">
            <a:avLst/>
          </a:prstGeom>
          <a:ln w="127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Context Directory</a:t>
            </a:r>
          </a:p>
        </p:txBody>
      </p:sp>
      <p:cxnSp>
        <p:nvCxnSpPr>
          <p:cNvPr id="13" name="Connector: Elbow 29">
            <a:extLst>
              <a:ext uri="{FF2B5EF4-FFF2-40B4-BE49-F238E27FC236}">
                <a16:creationId xmlns:a16="http://schemas.microsoft.com/office/drawing/2014/main" id="{1285DE9C-0447-F728-F712-9AC061549134}"/>
              </a:ext>
            </a:extLst>
          </p:cNvPr>
          <p:cNvCxnSpPr>
            <a:cxnSpLocks/>
            <a:endCxn id="8" idx="0"/>
          </p:cNvCxnSpPr>
          <p:nvPr/>
        </p:nvCxnSpPr>
        <p:spPr bwMode="auto">
          <a:xfrm>
            <a:off x="5834729" y="2352453"/>
            <a:ext cx="0" cy="24455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2" name="Connector: Elbow 29">
            <a:extLst>
              <a:ext uri="{FF2B5EF4-FFF2-40B4-BE49-F238E27FC236}">
                <a16:creationId xmlns:a16="http://schemas.microsoft.com/office/drawing/2014/main" id="{8BAACA18-6271-B876-1667-5352D609FD4C}"/>
              </a:ext>
            </a:extLst>
          </p:cNvPr>
          <p:cNvCxnSpPr>
            <a:cxnSpLocks/>
            <a:stCxn id="8" idx="2"/>
          </p:cNvCxnSpPr>
          <p:nvPr/>
        </p:nvCxnSpPr>
        <p:spPr bwMode="auto">
          <a:xfrm>
            <a:off x="5834729" y="3004109"/>
            <a:ext cx="0" cy="49962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392D3694-1699-1EB1-20A1-4E59360CD9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 dirty="0"/>
              <a:t>HPCA'26: The Last-Level Branch Predictor Revisited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2839828-15ED-8501-C456-53CBBEC1963D}"/>
              </a:ext>
            </a:extLst>
          </p:cNvPr>
          <p:cNvGrpSpPr/>
          <p:nvPr/>
        </p:nvGrpSpPr>
        <p:grpSpPr>
          <a:xfrm>
            <a:off x="5292435" y="3673183"/>
            <a:ext cx="1746439" cy="369332"/>
            <a:chOff x="5746943" y="2738449"/>
            <a:chExt cx="1746439" cy="3693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CDC0272-31EB-1D9D-D07A-DC3A660E0CFB}"/>
                </a:ext>
              </a:extLst>
            </p:cNvPr>
            <p:cNvSpPr/>
            <p:nvPr/>
          </p:nvSpPr>
          <p:spPr bwMode="auto">
            <a:xfrm>
              <a:off x="5746943" y="2848309"/>
              <a:ext cx="1746439" cy="25947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0" tIns="0" rIns="0" bIns="756000" numCol="1" rtlCol="0" anchor="t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1323D10-C5D5-DC34-F13E-47AC4B95536B}"/>
                </a:ext>
              </a:extLst>
            </p:cNvPr>
            <p:cNvSpPr/>
            <p:nvPr/>
          </p:nvSpPr>
          <p:spPr bwMode="auto">
            <a:xfrm>
              <a:off x="5805076" y="2901490"/>
              <a:ext cx="357982" cy="159544"/>
            </a:xfrm>
            <a:prstGeom prst="rect">
              <a:avLst/>
            </a:prstGeom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756000" numCol="1" rtlCol="0" anchor="t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68C5D0-F840-27FB-3B15-7689E1B1B395}"/>
                </a:ext>
              </a:extLst>
            </p:cNvPr>
            <p:cNvSpPr/>
            <p:nvPr/>
          </p:nvSpPr>
          <p:spPr bwMode="auto">
            <a:xfrm>
              <a:off x="6221191" y="2901490"/>
              <a:ext cx="357982" cy="159544"/>
            </a:xfrm>
            <a:prstGeom prst="rect">
              <a:avLst/>
            </a:prstGeom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756000" numCol="1" rtlCol="0" anchor="t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9D62D6-4BD4-8F8C-2F41-CE2CD4F2CD0B}"/>
                </a:ext>
              </a:extLst>
            </p:cNvPr>
            <p:cNvSpPr/>
            <p:nvPr/>
          </p:nvSpPr>
          <p:spPr bwMode="auto">
            <a:xfrm>
              <a:off x="7057216" y="2901490"/>
              <a:ext cx="357982" cy="159544"/>
            </a:xfrm>
            <a:prstGeom prst="rect">
              <a:avLst/>
            </a:prstGeom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756000" numCol="1" rtlCol="0" anchor="t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785F44-CC33-8FE3-ED68-58B813AC4A5B}"/>
                </a:ext>
              </a:extLst>
            </p:cNvPr>
            <p:cNvSpPr txBox="1"/>
            <p:nvPr/>
          </p:nvSpPr>
          <p:spPr>
            <a:xfrm>
              <a:off x="6617201" y="273844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noProof="0"/>
                <a:t>…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FC8ED899-1AD8-EBA7-7D5B-C3F670FDC9D5}"/>
              </a:ext>
            </a:extLst>
          </p:cNvPr>
          <p:cNvSpPr/>
          <p:nvPr/>
        </p:nvSpPr>
        <p:spPr bwMode="auto">
          <a:xfrm>
            <a:off x="5407111" y="1945353"/>
            <a:ext cx="855236" cy="382888"/>
          </a:xfrm>
          <a:prstGeom prst="rect">
            <a:avLst/>
          </a:prstGeom>
          <a:solidFill>
            <a:srgbClr val="92D050"/>
          </a:solidFill>
          <a:ln w="127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CTT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B1B261-9C6F-1A82-1B66-1C78A3C1E682}"/>
              </a:ext>
            </a:extLst>
          </p:cNvPr>
          <p:cNvSpPr txBox="1"/>
          <p:nvPr/>
        </p:nvSpPr>
        <p:spPr>
          <a:xfrm>
            <a:off x="5196968" y="1329302"/>
            <a:ext cx="76202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Shallow</a:t>
            </a:r>
          </a:p>
          <a:p>
            <a:pPr algn="ctr"/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CID</a:t>
            </a:r>
            <a:endParaRPr lang="en-GB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049597-BDED-FB78-EE02-D771ED0B679A}"/>
              </a:ext>
            </a:extLst>
          </p:cNvPr>
          <p:cNvSpPr txBox="1"/>
          <p:nvPr/>
        </p:nvSpPr>
        <p:spPr>
          <a:xfrm>
            <a:off x="5689808" y="1329302"/>
            <a:ext cx="76202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</a:p>
          <a:p>
            <a:pPr algn="ctr"/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CID</a:t>
            </a:r>
            <a:endParaRPr lang="en-GB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Connector: Elbow 29">
            <a:extLst>
              <a:ext uri="{FF2B5EF4-FFF2-40B4-BE49-F238E27FC236}">
                <a16:creationId xmlns:a16="http://schemas.microsoft.com/office/drawing/2014/main" id="{C0369759-2538-0214-5DF3-59C06DEC21C4}"/>
              </a:ext>
            </a:extLst>
          </p:cNvPr>
          <p:cNvCxnSpPr>
            <a:cxnSpLocks/>
            <a:stCxn id="39" idx="2"/>
          </p:cNvCxnSpPr>
          <p:nvPr/>
        </p:nvCxnSpPr>
        <p:spPr bwMode="auto">
          <a:xfrm>
            <a:off x="5577978" y="1698634"/>
            <a:ext cx="0" cy="24671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8" name="Connector: Elbow 29">
            <a:extLst>
              <a:ext uri="{FF2B5EF4-FFF2-40B4-BE49-F238E27FC236}">
                <a16:creationId xmlns:a16="http://schemas.microsoft.com/office/drawing/2014/main" id="{B4BE555F-00A6-485A-20A7-6B2F5EB0474F}"/>
              </a:ext>
            </a:extLst>
          </p:cNvPr>
          <p:cNvCxnSpPr>
            <a:cxnSpLocks/>
          </p:cNvCxnSpPr>
          <p:nvPr/>
        </p:nvCxnSpPr>
        <p:spPr bwMode="auto">
          <a:xfrm>
            <a:off x="6070818" y="1698634"/>
            <a:ext cx="0" cy="24671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33604D0-9069-E02A-7F06-FBBA9FDD7DFE}"/>
              </a:ext>
            </a:extLst>
          </p:cNvPr>
          <p:cNvCxnSpPr/>
          <p:nvPr/>
        </p:nvCxnSpPr>
        <p:spPr>
          <a:xfrm>
            <a:off x="5577978" y="1945353"/>
            <a:ext cx="256751" cy="3828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3F9B8A1-E07C-3A97-1F81-67105D3FEF0F}"/>
              </a:ext>
            </a:extLst>
          </p:cNvPr>
          <p:cNvCxnSpPr>
            <a:cxnSpLocks/>
          </p:cNvCxnSpPr>
          <p:nvPr/>
        </p:nvCxnSpPr>
        <p:spPr>
          <a:xfrm flipH="1">
            <a:off x="5834729" y="1943190"/>
            <a:ext cx="236089" cy="4071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99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4" grpId="0" animBg="1"/>
      <p:bldP spid="39" grpId="0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262A5-2235-0E30-DC6C-3815E6D7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D30C-570F-4471-1E56-66187EA7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411B9-A0E7-87BA-83D0-6EF7696BE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460" y="2784473"/>
            <a:ext cx="8641080" cy="1603794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LLBP-X’s lightweight adaptation mechanism significantly improves efficiency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700" b="1" noProof="0" dirty="0"/>
              <a:t>12.1% </a:t>
            </a:r>
            <a:r>
              <a:rPr lang="en-GB" sz="1700" b="1" dirty="0"/>
              <a:t>misprediction </a:t>
            </a:r>
            <a:r>
              <a:rPr lang="en-GB" sz="1700" b="1" noProof="0" dirty="0"/>
              <a:t>reduction </a:t>
            </a:r>
            <a:r>
              <a:rPr lang="en-GB" sz="1700" noProof="0" dirty="0"/>
              <a:t>over 64K TSL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700" dirty="0"/>
              <a:t>27% more effective than LLBP</a:t>
            </a:r>
          </a:p>
          <a:p>
            <a:pPr marL="627063" lvl="1" indent="-176213" defTabSz="62706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500" dirty="0"/>
              <a:t>With less than 2% storage and energy overhead over LLBP</a:t>
            </a:r>
          </a:p>
          <a:p>
            <a:pPr marL="266700" indent="-176213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700" dirty="0"/>
              <a:t>Achieves 45% of the accuracy increase compared to</a:t>
            </a:r>
            <a:r>
              <a:rPr lang="en-GB" sz="1700" noProof="0" dirty="0"/>
              <a:t> ideal 512K TSL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20D5C-3A9D-0695-5018-79B500E7F4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17</a:t>
            </a:fld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9796F-8105-FB8B-2F61-AD5139CD69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4C8413-8617-2A64-1B2E-0BA561830A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sz="1900" noProof="0" dirty="0"/>
              <a:t>LLBP-X is simple and effective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2920814-124D-9D4D-F253-939E416996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GB" noProof="0" dirty="0"/>
              <a:t>HPCA'26: The Last-Level Branch Predictor Revisited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064E7B-B5F9-2E07-63D0-F217B86F9364}"/>
              </a:ext>
            </a:extLst>
          </p:cNvPr>
          <p:cNvSpPr txBox="1"/>
          <p:nvPr/>
        </p:nvSpPr>
        <p:spPr>
          <a:xfrm rot="16200000">
            <a:off x="7859860" y="1429216"/>
            <a:ext cx="11844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noProof="0" dirty="0"/>
              <a:t>Higher is better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C9E951-A51E-09C8-C946-E09A2ECDCA98}"/>
              </a:ext>
            </a:extLst>
          </p:cNvPr>
          <p:cNvCxnSpPr>
            <a:cxnSpLocks/>
          </p:cNvCxnSpPr>
          <p:nvPr/>
        </p:nvCxnSpPr>
        <p:spPr bwMode="auto">
          <a:xfrm>
            <a:off x="8310266" y="1045778"/>
            <a:ext cx="0" cy="1045384"/>
          </a:xfrm>
          <a:prstGeom prst="straightConnector1">
            <a:avLst/>
          </a:prstGeom>
          <a:ln w="2857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" name="Picture 1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8A476263-2167-8C50-36CD-5259DE9A7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26" y="6021108"/>
            <a:ext cx="7977174" cy="1742014"/>
          </a:xfrm>
          <a:prstGeom prst="rect">
            <a:avLst/>
          </a:prstGeom>
        </p:spPr>
      </p:pic>
      <p:pic>
        <p:nvPicPr>
          <p:cNvPr id="23" name="Picture 22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7CBAF1B7-71D8-7B8A-66BF-675468B95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00" y="967796"/>
            <a:ext cx="7718398" cy="1685504"/>
          </a:xfrm>
          <a:prstGeom prst="rect">
            <a:avLst/>
          </a:prstGeom>
        </p:spPr>
      </p:pic>
      <p:pic>
        <p:nvPicPr>
          <p:cNvPr id="21" name="Picture 20" descr="A graph of different types of growth&#10;&#10;AI-generated content may be incorrect.">
            <a:extLst>
              <a:ext uri="{FF2B5EF4-FFF2-40B4-BE49-F238E27FC236}">
                <a16:creationId xmlns:a16="http://schemas.microsoft.com/office/drawing/2014/main" id="{5FA6F83D-6567-27AA-276F-39F402D4F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88" y="967796"/>
            <a:ext cx="7718398" cy="168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00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9395-8459-7326-BAC5-E02CC8A64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3FB35-0070-B271-DFD3-EC131F085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Branch predictions </a:t>
            </a:r>
            <a:r>
              <a:rPr lang="en-GB" dirty="0"/>
              <a:t>remains a key performance limiter for modern CPU’s</a:t>
            </a:r>
          </a:p>
          <a:p>
            <a:pPr marL="266700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Larger predictors significantly reduce mispredictions</a:t>
            </a:r>
          </a:p>
          <a:p>
            <a:pPr marL="266700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But predictor latency impedes larger predictors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b="1" dirty="0"/>
              <a:t>LLBP </a:t>
            </a:r>
            <a:r>
              <a:rPr lang="en-GB" dirty="0"/>
              <a:t>addresses the capacity-latency trade-off with hierarchical design</a:t>
            </a:r>
          </a:p>
          <a:p>
            <a:pPr marL="266700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However, falls far behind equally sized (but impractical) 512K TSL</a:t>
            </a:r>
          </a:p>
          <a:p>
            <a:pPr marL="90487" indent="0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None/>
            </a:pPr>
            <a:endParaRPr lang="en-GB" sz="1200" dirty="0"/>
          </a:p>
          <a:p>
            <a:pPr marL="0" indent="0" defTabSz="534988">
              <a:buNone/>
            </a:pPr>
            <a:r>
              <a:rPr lang="en-GB" dirty="0"/>
              <a:t>Detailed root-cause </a:t>
            </a:r>
            <a:r>
              <a:rPr lang="en-GB" b="1" dirty="0"/>
              <a:t>analysis revealed key inefficiencies </a:t>
            </a:r>
            <a:r>
              <a:rPr lang="en-GB" dirty="0"/>
              <a:t>of LLBP</a:t>
            </a:r>
          </a:p>
          <a:p>
            <a:pPr marL="266700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b="1" dirty="0"/>
              <a:t>Skewed </a:t>
            </a:r>
            <a:r>
              <a:rPr lang="en-GB" sz="1600" dirty="0"/>
              <a:t>pattern sets </a:t>
            </a:r>
            <a:r>
              <a:rPr lang="en-GB" sz="1600" b="1" dirty="0"/>
              <a:t>utilization</a:t>
            </a:r>
            <a:endParaRPr lang="en-GB" sz="1600" dirty="0"/>
          </a:p>
          <a:p>
            <a:pPr marL="266700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b="1" dirty="0"/>
              <a:t>Pattern duplication </a:t>
            </a:r>
            <a:r>
              <a:rPr lang="en-GB" sz="1600" dirty="0"/>
              <a:t>due to contextualization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b="1" dirty="0"/>
              <a:t>LLBP-X: </a:t>
            </a:r>
            <a:r>
              <a:rPr lang="en-GB" dirty="0"/>
              <a:t>Dynamic context depth adaptation</a:t>
            </a:r>
          </a:p>
          <a:p>
            <a:pPr marL="266700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Simple and lightweight enhancement of original design</a:t>
            </a:r>
          </a:p>
          <a:p>
            <a:pPr marL="266700" indent="-176213" defTabSz="534988">
              <a:lnSpc>
                <a:spcPct val="100000"/>
              </a:lnSpc>
              <a:buClr>
                <a:schemeClr val="accent1">
                  <a:lumMod val="50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/>
              <a:t>Improves effectiveness of LLBP by 27%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3124B-3099-5283-1949-10351BD740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mtClean="0"/>
              <a:t>18</a:t>
            </a:fld>
            <a:endParaRPr lang="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89BBC-1B86-1F76-0C06-DC72DBC7B2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0B577BC-3B68-744A-380B-4ACE1A4C2AD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HPCA'26: The Last-Level Branch Predictor Revisited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311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7863382F-ADB2-5323-7419-760D2C5E2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419535"/>
            <a:ext cx="8520600" cy="7926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>
                    <a:lumMod val="50000"/>
                  </a:schemeClr>
                </a:solidFill>
              </a:rP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140BD-CEEA-F155-FD77-DC841E5282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 smtClean="0"/>
              <a:t>19</a:t>
            </a:fld>
            <a:endParaRPr lang="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54D7D4-0337-B710-1E56-D2B0381FF5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47" b="3347"/>
          <a:stretch/>
        </p:blipFill>
        <p:spPr>
          <a:xfrm>
            <a:off x="536362" y="1220004"/>
            <a:ext cx="3890789" cy="21642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5E1FFF5-2445-B6DB-C1A8-AA17731DF779}"/>
              </a:ext>
            </a:extLst>
          </p:cNvPr>
          <p:cNvSpPr txBox="1">
            <a:spLocks/>
          </p:cNvSpPr>
          <p:nvPr/>
        </p:nvSpPr>
        <p:spPr>
          <a:xfrm>
            <a:off x="962752" y="2571750"/>
            <a:ext cx="3038007" cy="1250625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180975" indent="-180975" algn="l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CF103A"/>
              </a:buClr>
              <a:buFont typeface="Arial" panose="020B0604020202020204" pitchFamily="34" charset="0"/>
              <a:buChar char="•"/>
              <a:defRPr sz="2700">
                <a:solidFill>
                  <a:srgbClr val="002244"/>
                </a:solidFill>
                <a:latin typeface="+mn-lt"/>
                <a:ea typeface="+mn-ea"/>
                <a:cs typeface="+mn-cs"/>
              </a:defRPr>
            </a:lvl1pPr>
            <a:lvl2pPr marL="355600" indent="-177800" algn="l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CF103A"/>
              </a:buClr>
              <a:buFont typeface="Arial" panose="020B0604020202020204" pitchFamily="34" charset="0"/>
              <a:buChar char="•"/>
              <a:defRPr sz="2300">
                <a:solidFill>
                  <a:srgbClr val="002244"/>
                </a:solidFill>
                <a:latin typeface="+mn-lt"/>
                <a:ea typeface="+mn-ea"/>
              </a:defRPr>
            </a:lvl2pPr>
            <a:lvl3pPr marL="534988" indent="-173038" algn="l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 sz="2000">
                <a:solidFill>
                  <a:srgbClr val="002244"/>
                </a:solidFill>
                <a:latin typeface="+mn-lt"/>
                <a:ea typeface="+mn-ea"/>
              </a:defRPr>
            </a:lvl3pPr>
            <a:lvl4pPr marL="720725" indent="-177800" algn="l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CF103A"/>
              </a:buClr>
              <a:buFont typeface="Arial" panose="020B0604020202020204" pitchFamily="34" charset="0"/>
              <a:buChar char="•"/>
              <a:defRPr sz="2000">
                <a:solidFill>
                  <a:srgbClr val="002244"/>
                </a:solidFill>
                <a:latin typeface="+mn-lt"/>
                <a:ea typeface="+mn-ea"/>
              </a:defRPr>
            </a:lvl4pPr>
            <a:lvl5pPr marL="896938" indent="-180975" algn="l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 sz="2000">
                <a:solidFill>
                  <a:srgbClr val="002244"/>
                </a:solidFill>
                <a:latin typeface="+mn-lt"/>
                <a:ea typeface="+mn-ea"/>
              </a:defRPr>
            </a:lvl5pPr>
            <a:lvl6pPr marL="2166877" indent="-185457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>
                <a:solidFill>
                  <a:srgbClr val="002244"/>
                </a:solidFill>
                <a:latin typeface="+mn-lt"/>
                <a:ea typeface="+mn-ea"/>
              </a:defRPr>
            </a:lvl6pPr>
            <a:lvl7pPr marL="2623389" indent="-185457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>
                <a:solidFill>
                  <a:srgbClr val="002244"/>
                </a:solidFill>
                <a:latin typeface="+mn-lt"/>
                <a:ea typeface="+mn-ea"/>
              </a:defRPr>
            </a:lvl7pPr>
            <a:lvl8pPr marL="3079909" indent="-185457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>
                <a:solidFill>
                  <a:srgbClr val="002244"/>
                </a:solidFill>
                <a:latin typeface="+mn-lt"/>
                <a:ea typeface="+mn-ea"/>
              </a:defRPr>
            </a:lvl8pPr>
            <a:lvl9pPr marL="3536428" indent="-185457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>
                <a:solidFill>
                  <a:srgbClr val="002244"/>
                </a:solidFill>
                <a:latin typeface="+mn-lt"/>
                <a:ea typeface="+mn-ea"/>
              </a:defRPr>
            </a:lvl9pPr>
          </a:lstStyle>
          <a:p>
            <a:pPr marL="0" indent="0" algn="ctr" defTabSz="914400">
              <a:buNone/>
            </a:pPr>
            <a:r>
              <a:rPr lang="de-DE" sz="2000" kern="0" dirty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Extensive characteri</a:t>
            </a:r>
            <a:r>
              <a:rPr lang="en-GB" sz="2000" kern="0" dirty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z</a:t>
            </a:r>
            <a:r>
              <a:rPr lang="de-DE" sz="2000" kern="0" dirty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ation</a:t>
            </a:r>
          </a:p>
          <a:p>
            <a:pPr marL="0" indent="0" algn="ctr" defTabSz="914400">
              <a:buNone/>
            </a:pPr>
            <a:r>
              <a:rPr lang="de-DE" sz="2000" kern="0" dirty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Design details</a:t>
            </a:r>
          </a:p>
          <a:p>
            <a:pPr marL="0" indent="0" algn="ctr" defTabSz="914400">
              <a:buNone/>
            </a:pPr>
            <a:r>
              <a:rPr lang="de-DE" sz="2000" kern="0" dirty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rPr>
              <a:t>Sensitivity studies</a:t>
            </a:r>
            <a:endParaRPr lang="en-GB" sz="2000" kern="0" dirty="0">
              <a:solidFill>
                <a:schemeClr val="accent1">
                  <a:lumMod val="50000"/>
                </a:schemeClr>
              </a:solidFill>
              <a:latin typeface="Gill Sans MT" panose="020B0502020104020203" pitchFamily="34" charset="0"/>
            </a:endParaRPr>
          </a:p>
          <a:p>
            <a:pPr marL="0" indent="0" algn="ctr" defTabSz="914400">
              <a:buNone/>
            </a:pPr>
            <a:endParaRPr lang="en-GB" sz="1000" kern="0" dirty="0">
              <a:solidFill>
                <a:schemeClr val="accent6">
                  <a:lumMod val="50000"/>
                </a:schemeClr>
              </a:solidFill>
              <a:latin typeface="Gill Sans MT" panose="020B0502020104020203" pitchFamily="34" charset="0"/>
            </a:endParaRPr>
          </a:p>
          <a:p>
            <a:pPr marL="0" indent="0" algn="ctr" defTabSz="914400">
              <a:buNone/>
            </a:pPr>
            <a:br>
              <a:rPr lang="en-US" sz="2000" u="sng" kern="0" dirty="0">
                <a:solidFill>
                  <a:srgbClr val="002060"/>
                </a:solidFill>
                <a:latin typeface="Gill Sans MT" panose="020B0502020104020203" pitchFamily="34" charset="0"/>
              </a:rPr>
            </a:br>
            <a:endParaRPr lang="en-US" sz="2800" b="1" kern="0" dirty="0">
              <a:latin typeface="+mj-lt"/>
            </a:endParaRPr>
          </a:p>
          <a:p>
            <a:pPr algn="ctr" defTabSz="914400"/>
            <a:endParaRPr lang="en-GB" sz="2800" kern="0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3E628C-2AD8-A51E-B945-12F7F477E2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972"/>
          <a:stretch>
            <a:fillRect/>
          </a:stretch>
        </p:blipFill>
        <p:spPr>
          <a:xfrm>
            <a:off x="4716849" y="1212135"/>
            <a:ext cx="3890789" cy="2164228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9033259-87A6-EE73-728D-7E8CA02BF606}"/>
              </a:ext>
            </a:extLst>
          </p:cNvPr>
          <p:cNvSpPr txBox="1">
            <a:spLocks/>
          </p:cNvSpPr>
          <p:nvPr/>
        </p:nvSpPr>
        <p:spPr>
          <a:xfrm>
            <a:off x="4908657" y="2571749"/>
            <a:ext cx="3574836" cy="1250625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 defTabSz="91440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CF103A"/>
              </a:buClr>
              <a:buFont typeface="Arial" panose="020B0604020202020204" pitchFamily="34" charset="0"/>
              <a:buNone/>
              <a:defRPr sz="2400" kern="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0"/>
              </a:defRPr>
            </a:lvl1pPr>
            <a:lvl2pPr marL="355600" indent="-17780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CF103A"/>
              </a:buClr>
              <a:buFont typeface="Arial" panose="020B0604020202020204" pitchFamily="34" charset="0"/>
              <a:buChar char="•"/>
              <a:defRPr sz="2300">
                <a:solidFill>
                  <a:srgbClr val="002244"/>
                </a:solidFill>
              </a:defRPr>
            </a:lvl2pPr>
            <a:lvl3pPr marL="534988" indent="-173038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 sz="2000">
                <a:solidFill>
                  <a:srgbClr val="002244"/>
                </a:solidFill>
              </a:defRPr>
            </a:lvl3pPr>
            <a:lvl4pPr marL="720725" indent="-17780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CF103A"/>
              </a:buClr>
              <a:buFont typeface="Arial" panose="020B0604020202020204" pitchFamily="34" charset="0"/>
              <a:buChar char="•"/>
              <a:defRPr sz="2000">
                <a:solidFill>
                  <a:srgbClr val="002244"/>
                </a:solidFill>
              </a:defRPr>
            </a:lvl4pPr>
            <a:lvl5pPr marL="896938" indent="-180975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 sz="2000">
                <a:solidFill>
                  <a:srgbClr val="002244"/>
                </a:solidFill>
              </a:defRPr>
            </a:lvl5pPr>
            <a:lvl6pPr marL="2166877" indent="-185457" eaLnBrk="1" fontAlgn="base" hangingPunct="1">
              <a:spcBef>
                <a:spcPct val="400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>
                <a:solidFill>
                  <a:srgbClr val="002244"/>
                </a:solidFill>
              </a:defRPr>
            </a:lvl6pPr>
            <a:lvl7pPr marL="2623389" indent="-185457" eaLnBrk="1" fontAlgn="base" hangingPunct="1">
              <a:spcBef>
                <a:spcPct val="400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>
                <a:solidFill>
                  <a:srgbClr val="002244"/>
                </a:solidFill>
              </a:defRPr>
            </a:lvl7pPr>
            <a:lvl8pPr marL="3079909" indent="-185457" eaLnBrk="1" fontAlgn="base" hangingPunct="1">
              <a:spcBef>
                <a:spcPct val="400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>
                <a:solidFill>
                  <a:srgbClr val="002244"/>
                </a:solidFill>
              </a:defRPr>
            </a:lvl8pPr>
            <a:lvl9pPr marL="3536428" indent="-185457" eaLnBrk="1" fontAlgn="base" hangingPunct="1">
              <a:spcBef>
                <a:spcPct val="40000"/>
              </a:spcBef>
              <a:spcAft>
                <a:spcPct val="0"/>
              </a:spcAft>
              <a:buClr>
                <a:srgbClr val="CF103A"/>
              </a:buClr>
              <a:buFont typeface="Times" charset="0"/>
              <a:buChar char="•"/>
              <a:defRPr>
                <a:solidFill>
                  <a:srgbClr val="002244"/>
                </a:solidFill>
              </a:defRPr>
            </a:lvl9pPr>
          </a:lstStyle>
          <a:p>
            <a:r>
              <a:rPr lang="en-GB" sz="1800" dirty="0"/>
              <a:t>LLBP-X implementation</a:t>
            </a:r>
          </a:p>
          <a:p>
            <a:r>
              <a:rPr lang="en-GB" sz="1800" dirty="0"/>
              <a:t>(CBP &amp; gem5)</a:t>
            </a:r>
          </a:p>
          <a:p>
            <a:r>
              <a:rPr lang="en-US" sz="1800" dirty="0">
                <a:hlinkClick r:id="rId5"/>
              </a:rPr>
              <a:t>https://github.com/dhschall/LLBP-X/</a:t>
            </a:r>
            <a:endParaRPr lang="en-GB" sz="1800" dirty="0"/>
          </a:p>
          <a:p>
            <a:br>
              <a:rPr lang="en-US" sz="1800" dirty="0"/>
            </a:br>
            <a:endParaRPr lang="en-US" sz="1800" dirty="0"/>
          </a:p>
          <a:p>
            <a:br>
              <a:rPr lang="en-US" sz="1800" dirty="0"/>
            </a:br>
            <a:endParaRPr lang="en-US" sz="1800" dirty="0"/>
          </a:p>
          <a:p>
            <a:endParaRPr lang="en-GB" sz="1800" dirty="0"/>
          </a:p>
        </p:txBody>
      </p:sp>
      <p:pic>
        <p:nvPicPr>
          <p:cNvPr id="15" name="Google Shape;59;p13">
            <a:extLst>
              <a:ext uri="{FF2B5EF4-FFF2-40B4-BE49-F238E27FC236}">
                <a16:creationId xmlns:a16="http://schemas.microsoft.com/office/drawing/2014/main" id="{FC1A93B0-6CDD-72F5-0374-DCB4942B5D3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7868" y="3710080"/>
            <a:ext cx="1381069" cy="1379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A logo on a black background&#10;&#10;Description automatically generated">
            <a:extLst>
              <a:ext uri="{FF2B5EF4-FFF2-40B4-BE49-F238E27FC236}">
                <a16:creationId xmlns:a16="http://schemas.microsoft.com/office/drawing/2014/main" id="{3655092D-4D42-722B-489A-B08896A2F0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2" t="36085" r="70063" b="35911"/>
          <a:stretch/>
        </p:blipFill>
        <p:spPr>
          <a:xfrm>
            <a:off x="4990151" y="3970408"/>
            <a:ext cx="950992" cy="83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6272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Microsoft Office PowerPoint</Application>
  <PresentationFormat>On-screen Show (16:9)</PresentationFormat>
  <Paragraphs>572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Wingdings</vt:lpstr>
      <vt:lpstr>Gill Sans MT</vt:lpstr>
      <vt:lpstr>Times New Roman</vt:lpstr>
      <vt:lpstr>Consolas</vt:lpstr>
      <vt:lpstr>Candara</vt:lpstr>
      <vt:lpstr>Times</vt:lpstr>
      <vt:lpstr>Simple Light</vt:lpstr>
      <vt:lpstr>PowerPoint Presentation</vt:lpstr>
      <vt:lpstr>Branch Prediction</vt:lpstr>
      <vt:lpstr>The TAGE Branch Predictor</vt:lpstr>
      <vt:lpstr>The Capacity-Latency Trade-off</vt:lpstr>
      <vt:lpstr>The Last-Level Branch Predictor (LLBP) [MICRO ‘24]</vt:lpstr>
      <vt:lpstr>Enabling Hierarchical Branch Predictors via Contexts</vt:lpstr>
      <vt:lpstr>Enabling Hierarchical Branch Predictors via Contexts</vt:lpstr>
      <vt:lpstr>Enabling Hierarchical Branch Predictors via Contexts</vt:lpstr>
      <vt:lpstr>Enabling Hierarchical Branch Predictors via Contexts</vt:lpstr>
      <vt:lpstr>LLBP Effectiveness</vt:lpstr>
      <vt:lpstr>Outline</vt:lpstr>
      <vt:lpstr>Understanding LLBP’s Bottlenecks</vt:lpstr>
      <vt:lpstr>Understanding LLBP’s Bottlenecks</vt:lpstr>
      <vt:lpstr>Addressing LLBPs Inefficiency</vt:lpstr>
      <vt:lpstr>Addressing LLBPs Inefficiency</vt:lpstr>
      <vt:lpstr>LLBP-X</vt:lpstr>
      <vt:lpstr>Results</vt:lpstr>
      <vt:lpstr>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Schall</cp:lastModifiedBy>
  <cp:revision>3</cp:revision>
  <dcterms:modified xsi:type="dcterms:W3CDTF">2026-02-02T04:11:25Z</dcterms:modified>
</cp:coreProperties>
</file>